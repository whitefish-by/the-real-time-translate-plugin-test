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24faaed5a94d49" /><Relationship Type="http://schemas.openxmlformats.org/officeDocument/2006/relationships/extended-properties" Target="/docProps/app.xml" Id="R571557f4add644f2" /><Relationship Type="http://schemas.openxmlformats.org/officeDocument/2006/relationships/officeDocument" Target="/ppt/presentation.xml" Id="R416aa66c28f7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c690666434ac8"/>
  </p:sldMasterIdLst>
  <p:notesMasterIdLst>
    <p:notesMasterId xmlns:r="http://schemas.openxmlformats.org/officeDocument/2006/relationships" r:id="Rebee2eda44164d2d"/>
  </p:notesMasterIdLst>
  <p:sldIdLst>
    <p:sldId xmlns:r="http://schemas.openxmlformats.org/officeDocument/2006/relationships" id="256" r:id="R9874aa49ace94586"/>
    <p:sldId xmlns:r="http://schemas.openxmlformats.org/officeDocument/2006/relationships" id="257" r:id="Rcae396d64b3941e8"/>
    <p:sldId xmlns:r="http://schemas.openxmlformats.org/officeDocument/2006/relationships" id="258" r:id="Rc652dc818e624151"/>
    <p:sldId xmlns:r="http://schemas.openxmlformats.org/officeDocument/2006/relationships" id="259" r:id="R1aed75bbf3cf440b"/>
    <p:sldId xmlns:r="http://schemas.openxmlformats.org/officeDocument/2006/relationships" id="260" r:id="Rb76a612a46b943c2"/>
    <p:sldId xmlns:r="http://schemas.openxmlformats.org/officeDocument/2006/relationships" id="261" r:id="Rcc2b4447a5e14e8e"/>
    <p:sldId xmlns:r="http://schemas.openxmlformats.org/officeDocument/2006/relationships" id="262" r:id="Rf4191cc75624422f"/>
    <p:sldId xmlns:r="http://schemas.openxmlformats.org/officeDocument/2006/relationships" id="263" r:id="R377fb56c3f5c4aa4"/>
    <p:sldId xmlns:r="http://schemas.openxmlformats.org/officeDocument/2006/relationships" id="264" r:id="Rcb18a48c90d54b9c"/>
    <p:sldId xmlns:r="http://schemas.openxmlformats.org/officeDocument/2006/relationships" id="265" r:id="Re475427c36d64548"/>
    <p:sldId xmlns:r="http://schemas.openxmlformats.org/officeDocument/2006/relationships" id="266" r:id="R9ce29a83e06247b3"/>
    <p:sldId xmlns:r="http://schemas.openxmlformats.org/officeDocument/2006/relationships" id="267" r:id="R537d5440876a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d3f350b0cd43d6" /><Relationship Type="http://schemas.openxmlformats.org/officeDocument/2006/relationships/slideMaster" Target="/ppt/slideMasters/slideMaster1.xml" Id="R797c690666434ac8" /><Relationship Type="http://schemas.openxmlformats.org/officeDocument/2006/relationships/notesMaster" Target="/ppt/notesMasters/notesMaster1.xml" Id="Rebee2eda44164d2d" /><Relationship Type="http://schemas.openxmlformats.org/officeDocument/2006/relationships/presProps" Target="/ppt/presProps.xml" Id="R708cc821819e4378" /><Relationship Type="http://schemas.openxmlformats.org/officeDocument/2006/relationships/tableStyles" Target="/ppt/tableStyles.xml" Id="Rdad419ad0d78433e" /><Relationship Type="http://schemas.openxmlformats.org/officeDocument/2006/relationships/slide" Target="/ppt/slides/slide1.xml" Id="R9874aa49ace94586" /><Relationship Type="http://schemas.openxmlformats.org/officeDocument/2006/relationships/slide" Target="/ppt/slides/slide2.xml" Id="Rcae396d64b3941e8" /><Relationship Type="http://schemas.openxmlformats.org/officeDocument/2006/relationships/slide" Target="/ppt/slides/slide3.xml" Id="Rc652dc818e624151" /><Relationship Type="http://schemas.openxmlformats.org/officeDocument/2006/relationships/slide" Target="/ppt/slides/slide4.xml" Id="R1aed75bbf3cf440b" /><Relationship Type="http://schemas.openxmlformats.org/officeDocument/2006/relationships/slide" Target="/ppt/slides/slide5.xml" Id="Rb76a612a46b943c2" /><Relationship Type="http://schemas.openxmlformats.org/officeDocument/2006/relationships/slide" Target="/ppt/slides/slide6.xml" Id="Rcc2b4447a5e14e8e" /><Relationship Type="http://schemas.openxmlformats.org/officeDocument/2006/relationships/slide" Target="/ppt/slides/slide7.xml" Id="Rf4191cc75624422f" /><Relationship Type="http://schemas.openxmlformats.org/officeDocument/2006/relationships/slide" Target="/ppt/slides/slide8.xml" Id="R377fb56c3f5c4aa4" /><Relationship Type="http://schemas.openxmlformats.org/officeDocument/2006/relationships/slide" Target="/ppt/slides/slide9.xml" Id="Rcb18a48c90d54b9c" /><Relationship Type="http://schemas.openxmlformats.org/officeDocument/2006/relationships/slide" Target="/ppt/slides/slide10.xml" Id="Re475427c36d64548" /><Relationship Type="http://schemas.openxmlformats.org/officeDocument/2006/relationships/slide" Target="/ppt/slides/slide11.xml" Id="R9ce29a83e06247b3" /><Relationship Type="http://schemas.openxmlformats.org/officeDocument/2006/relationships/slide" Target="/ppt/slides/slide12.xml" Id="R537d5440876a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94ed9bcd08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6b14d45d0649ea" /><Relationship Type="http://schemas.openxmlformats.org/officeDocument/2006/relationships/notesMaster" Target="/ppt/notesMasters/notesMaster1.xml" Id="Rc5f5cdfcc771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b38f7570d4b0b" /><Relationship Type="http://schemas.openxmlformats.org/officeDocument/2006/relationships/notesMaster" Target="/ppt/notesMasters/notesMaster1.xml" Id="Rfdf95b8b9aa641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07cd70f6b4c59" /><Relationship Type="http://schemas.openxmlformats.org/officeDocument/2006/relationships/notesMaster" Target="/ppt/notesMasters/notesMaster1.xml" Id="Rba3fab606e1e4a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ba6b32184546b9" /><Relationship Type="http://schemas.openxmlformats.org/officeDocument/2006/relationships/notesMaster" Target="/ppt/notesMasters/notesMaster1.xml" Id="Rbf76328b0540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43eadef89d4a67" /><Relationship Type="http://schemas.openxmlformats.org/officeDocument/2006/relationships/notesMaster" Target="/ppt/notesMasters/notesMaster1.xml" Id="Ree9831ad1ea6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003fca73734e8f" /><Relationship Type="http://schemas.openxmlformats.org/officeDocument/2006/relationships/notesMaster" Target="/ppt/notesMasters/notesMaster1.xml" Id="Raa0d2c8315f1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5515561c274b86" /><Relationship Type="http://schemas.openxmlformats.org/officeDocument/2006/relationships/notesMaster" Target="/ppt/notesMasters/notesMaster1.xml" Id="R3908340e1bda49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b18b90777f4964" /><Relationship Type="http://schemas.openxmlformats.org/officeDocument/2006/relationships/notesMaster" Target="/ppt/notesMasters/notesMaster1.xml" Id="R9e24adf9565e4b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6b469df4e64be2" /><Relationship Type="http://schemas.openxmlformats.org/officeDocument/2006/relationships/notesMaster" Target="/ppt/notesMasters/notesMaster1.xml" Id="R4ee8160a04dc40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950bbcd7974239" /><Relationship Type="http://schemas.openxmlformats.org/officeDocument/2006/relationships/notesMaster" Target="/ppt/notesMasters/notesMaster1.xml" Id="R3f06dcbc6b414f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7089edf08b4a1d" /><Relationship Type="http://schemas.openxmlformats.org/officeDocument/2006/relationships/notesMaster" Target="/ppt/notesMasters/notesMaster1.xml" Id="R3450d31589b24b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b981f1b4f24ced" /><Relationship Type="http://schemas.openxmlformats.org/officeDocument/2006/relationships/notesMaster" Target="/ppt/notesMasters/notesMaster1.xml" Id="R5a53ec497b1242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来源：deliverables/module2/evidence/summary.json</a:t>
            </a:r>
          </a:p>
          <a:p xmlns:a="http://schemas.openxmlformats.org/drawingml/2006/main">
            <a:r>
              <a:t>展示口径：24条模块二用例与2项有效缺陷。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系统架构依据：source_code/Real-time-translation-plugin-main/README.md</a:t>
            </a:r>
          </a:p>
          <a:p xmlns:a="http://schemas.openxmlformats.org/drawingml/2006/main">
            <a:r>
              <a:t>测试边界依据：tests/module2-ai/README.md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完整记录：deliverables/module2/AI实践记录.md</a:t>
            </a:r>
          </a:p>
          <a:p xmlns:a="http://schemas.openxmlformats.org/drawingml/2006/main">
            <a:r>
              <a:t>候选数28条，人工剔除4条，最终24条。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数据来源：tests/module2-ai/cases.json</a:t>
            </a:r>
          </a:p>
          <a:p xmlns:a="http://schemas.openxmlformats.org/drawingml/2006/main">
            <a:r>
              <a:t>统计：边界值15、等价类4、场景法5；功能范围8/4/6/6。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图片来源：deliverables/module2/evidence/AI关键对话摘录.png</a:t>
            </a:r>
          </a:p>
          <a:p xmlns:a="http://schemas.openxmlformats.org/drawingml/2006/main">
            <a:r>
              <a:t>该图是AI实践记录的标注化摘录，不是Codex界面截图。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实现位置：source_code/Real-time-translation-plugin-main/tests/module2-ai</a:t>
            </a:r>
          </a:p>
          <a:p xmlns:a="http://schemas.openxmlformats.org/drawingml/2006/main">
            <a:r>
              <a:t>运行说明：tests/module2-ai/README.md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数据来源：deliverables/module2/evidence/summary.json</a:t>
            </a:r>
          </a:p>
          <a:p xmlns:a="http://schemas.openxmlformats.org/drawingml/2006/main">
            <a:r>
              <a:t>完整回归：deliverables/module2/evidence/regression.log</a:t>
            </a:r>
          </a:p>
          <a:p xmlns:a="http://schemas.openxmlformats.org/drawingml/2006/main">
            <a:r>
              <a:t>真实音频捕获用例为现有预设跳过，不计为通过。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修复位置：apps/extension/src/content.ts</a:t>
            </a:r>
          </a:p>
          <a:p xmlns:a="http://schemas.openxmlformats.org/drawingml/2006/main">
            <a:r>
              <a:t>复现证据：deliverables/module2/evidence/reproduction.log</a:t>
            </a:r>
          </a:p>
          <a:p xmlns:a="http://schemas.openxmlformats.org/drawingml/2006/main">
            <a:r>
              <a:t>修复补丁：deliverables/module2/evidence/repair.patch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修复位置：apps/gateway/src/providers/gummy.ts</a:t>
            </a:r>
          </a:p>
          <a:p xmlns:a="http://schemas.openxmlformats.org/drawingml/2006/main">
            <a:r>
              <a:t>复现证据：deliverables/module2/evidence/reproduction.log</a:t>
            </a:r>
          </a:p>
          <a:p xmlns:a="http://schemas.openxmlformats.org/drawingml/2006/main">
            <a:r>
              <a:t>修复补丁：deliverables/module2/evidence/repair.patch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回归命令：npm run test:regression:module2</a:t>
            </a:r>
          </a:p>
          <a:p xmlns:a="http://schemas.openxmlformats.org/drawingml/2006/main">
            <a:r>
              <a:t>结果来源：deliverables/module2/evidence/regression.log</a:t>
            </a:r>
          </a:p>
          <a:p xmlns:a="http://schemas.openxmlformats.org/drawingml/2006/main">
            <a:r>
              <a:t>M1-058一次时序性失败单独重跑通过，不计为产品缺陷，不纳入模块二结果。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反思依据：deliverables/module2/AI实践记录.md</a:t>
            </a:r>
          </a:p>
          <a:p xmlns:a="http://schemas.openxmlformats.org/drawingml/2006/main">
            <a:r>
              <a:t>人工修正记录包括需求依据不足、与模块一重复、真实云依赖和超出协作边界。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执行说明：deliverables/module2/自动化测试执行说明.docx</a:t>
            </a:r>
          </a:p>
          <a:p xmlns:a="http://schemas.openxmlformats.org/drawingml/2006/main">
            <a:r>
              <a:t>贡献度为计划假设，提交前由成员据实复核。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4d3f553594d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b7d3fc4714af1" /><Relationship Type="http://schemas.openxmlformats.org/officeDocument/2006/relationships/slideLayout" Target="/ppt/slideLayouts/slideLayout1.xml" Id="R2fa810741f29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810741f29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0a27397c24e31" /><Relationship Type="http://schemas.openxmlformats.org/officeDocument/2006/relationships/notesSlide" Target="/ppt/notesSlides/notesSlide1.xml" Id="R4e32693d05bb45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d4860f437469b" /><Relationship Type="http://schemas.openxmlformats.org/officeDocument/2006/relationships/notesSlide" Target="/ppt/notesSlides/notesSlide2.xml" Id="R53c4aff560394a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f509a834f4108" /><Relationship Type="http://schemas.openxmlformats.org/officeDocument/2006/relationships/notesSlide" Target="/ppt/notesSlides/notesSlide3.xml" Id="R1d4bad56b60e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7dcb211f44e1f" /><Relationship Type="http://schemas.openxmlformats.org/officeDocument/2006/relationships/chart" Target="/ppt/slides/charts/chart1.xml" Id="R3115244e198147ce" /><Relationship Type="http://schemas.openxmlformats.org/officeDocument/2006/relationships/chart" Target="/ppt/slides/charts/chart2.xml" Id="Rfcc080b0a41a455a" /><Relationship Type="http://schemas.openxmlformats.org/officeDocument/2006/relationships/notesSlide" Target="/ppt/notesSlides/notesSlide4.xml" Id="R31d533500caf45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206d0e80451d" /><Relationship Type="http://schemas.openxmlformats.org/officeDocument/2006/relationships/image" Target="/ppt/media/image.png" Id="R47489168a1fb48a5" /><Relationship Type="http://schemas.openxmlformats.org/officeDocument/2006/relationships/notesSlide" Target="/ppt/notesSlides/notesSlide5.xml" Id="R69c8364c7ffb48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bfb47787d4383" /><Relationship Type="http://schemas.openxmlformats.org/officeDocument/2006/relationships/notesSlide" Target="/ppt/notesSlides/notesSlide6.xml" Id="R32117d704bfc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0a03d91ba4e75" /><Relationship Type="http://schemas.openxmlformats.org/officeDocument/2006/relationships/chart" Target="/ppt/slides/charts/chart3.xml" Id="R42cbd422a8b649d4" /><Relationship Type="http://schemas.openxmlformats.org/officeDocument/2006/relationships/notesSlide" Target="/ppt/notesSlides/notesSlide7.xml" Id="R43db3c09fca344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8dc3799a747a9" /><Relationship Type="http://schemas.openxmlformats.org/officeDocument/2006/relationships/notesSlide" Target="/ppt/notesSlides/notesSlide8.xml" Id="R4f83efd69a834a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02f5220f4097" /><Relationship Type="http://schemas.openxmlformats.org/officeDocument/2006/relationships/notesSlide" Target="/ppt/notesSlides/notesSlide9.xml" Id="Rf6fc59e54dc447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d44b08944ae6" /><Relationship Type="http://schemas.openxmlformats.org/officeDocument/2006/relationships/notesSlide" Target="/ppt/notesSlides/notesSlide10.xml" Id="Rd1518feb84974a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805a0258e4104" /><Relationship Type="http://schemas.openxmlformats.org/officeDocument/2006/relationships/notesSlide" Target="/ppt/notesSlides/notesSlide11.xml" Id="R14d7743a2cb54d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69204251a413a" /><Relationship Type="http://schemas.openxmlformats.org/officeDocument/2006/relationships/notesSlide" Target="/ppt/notesSlides/notesSlide12.xml" Id="R127166c2466c456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用例数</c:v>
          </c:tx>
          <c:dPt>
            <c:idx val="0"/>
            <c:spPr>
              <a:solidFill xmlns:a="http://schemas.openxmlformats.org/drawingml/2006/main">
                <a:srgbClr val="18A6A6"/>
              </a:solidFill>
            </c:spPr>
          </c:dPt>
          <c:dPt>
            <c:idx val="1"/>
            <c:spPr>
              <a:solidFill xmlns:a="http://schemas.openxmlformats.org/drawingml/2006/main">
                <a:srgbClr val="1D4565"/>
              </a:solidFill>
            </c:spPr>
          </c:dPt>
          <c:dPt>
            <c:idx val="2"/>
            <c:spPr>
              <a:solidFill xmlns:a="http://schemas.openxmlformats.org/drawingml/2006/main">
                <a:srgbClr val="D77C2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边界值</c:v>
                </c:pt>
                <c:pt idx="1">
                  <c:v>等价类</c:v>
                </c:pt>
                <c:pt idx="2">
                  <c:v>场景法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B3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holeSize val="62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575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用例数</c:v>
          </c:tx>
          <c:spPr>
            <a:solidFill xmlns:a="http://schemas.openxmlformats.org/drawingml/2006/main">
              <a:srgbClr val="18A6A6"/>
            </a:solidFill>
          </c:spPr>
          <c:cat>
            <c:strRef>
              <c:f>'Chart Data'!$A$2:$A$5</c:f>
              <c:strCache>
                <c:ptCount val="4"/>
                <c:pt idx="0">
                  <c:v>网关配置</c:v>
                </c:pt>
                <c:pt idx="1">
                  <c:v>共享协议</c:v>
                </c:pt>
                <c:pt idx="2">
                  <c:v>Gummy Provider</c:v>
                </c:pt>
                <c:pt idx="3">
                  <c:v>Chrome 交互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</c:v>
                </c:pt>
                <c:pt idx="1">
                  <c:v>4</c:v>
                </c:pt>
                <c:pt idx="2">
                  <c:v>6</c:v>
                </c:pt>
                <c:pt idx="3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2304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</c:v>
          </c:tx>
          <c:spPr>
            <a:solidFill xmlns:a="http://schemas.openxmlformats.org/drawingml/2006/main">
              <a:srgbClr val="18A6A6"/>
            </a:solidFill>
          </c:spPr>
          <c:cat>
            <c:strRef>
              <c:f>'Chart Data'!$A$2:$A$4</c:f>
              <c:strCache>
                <c:ptCount val="3"/>
                <c:pt idx="0">
                  <c:v>模块二</c:v>
                </c:pt>
                <c:pt idx="1">
                  <c:v>产品单元</c:v>
                </c:pt>
                <c:pt idx="2">
                  <c:v>扩展 E2E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2304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DDF5E-BDD9-4BB5-9F1A-EC41F7C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094D5-FBC3-4FA5-8C34-E146D22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2F1E8-1032-4A76-9632-BC2D252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9A601-6682-4F99-81C6-39741B9C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9E23F-7931-439C-8B04-D7087C0E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525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949CC-5007-40F9-BE46-5E97D441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57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A0F9B-E598-4DE3-87E4-6698E52E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814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AUDIO  →  TEXT  →  TRANSLATION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217E9-82AD-479A-BA7C-70DD0DE2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847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55147-E226-439C-9DD7-D46F6F70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软件测试与实践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B4196-0660-45DC-9534-79D805B0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实时双语字幕插件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8CAF9-F103-4927-AF99-D25B508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模块二 AI 融合实践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0CDB-38E9-46C8-BA99-A01E8F5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方案2·AI测  /  Vitest + Playwright + 本地 WebSocket 模拟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14E2D-E3DD-44B5-B5FE-3E920331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0E9E7-1207-44AC-9BEC-089303C7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BDB73-5A0F-48E1-A131-A7415B1A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独立自动化用例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FF8BF-643A-4D9C-9B9B-57DAF86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671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200A7-FDAC-404F-93FF-BB4773D9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95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3C2C4-AA2A-4407-84C6-44DD46FA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有效缺陷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B3F91-E1AF-497C-89E1-2292C810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1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3DE79-053C-4BF4-9A7C-91C0DD72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195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57128-E3A3-4511-A2B8-6D29954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修复后通过率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7F527-1BC0-4180-A4CE-4A046BD2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组员：白宇、李承远  ·  贡献度50% / 50%</a:t>
            </a:r>
          </a:p>
        </p:txBody>
      </p:sp>
    </p:spTree>
    <p:extLst>
      <p:ext uri="{BB962C8B-B14F-4D97-AF65-F5344CB8AC3E}">
        <p14:creationId xmlns:p14="http://schemas.microsoft.com/office/powerpoint/2010/main" val="451493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837CF6-48E6-4808-B411-FA891E7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B816B-B05F-4846-B8CA-F6764A1E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78E8F-FDC9-4085-B58E-42242E3D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被测系统与模块二边界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C605C-B694-444D-A572-D5C20FF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C7A1-4CF1-4AE7-BF23-639ABE26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B82A9-44D5-49F2-B029-242194D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0D873-3886-4170-8BC5-CEAF591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49D07-20C4-4623-B7E2-67BB4CE5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69599-ABA9-4D1C-AA64-9E1CEAB3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浏览器音频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6A53-478E-4E42-ACA3-029C7E5A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Chrome Tab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7D592-6C85-4486-9E99-63588A8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601F6-9812-4DF4-B379-CDFF41C0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52E54-F1D1-4B3F-9793-D74201BA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8DEA6-1773-4798-9F9C-382F712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B274C-542E-444A-A3C6-B6866E32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扩展与字幕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5EA8D-4705-44DE-B362-2F333063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MV3 / Content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26F1A-2F64-4E60-92C6-3ED6663E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ED68C-5B80-40F2-831D-8961B3B2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6E55C-0DA6-4895-9E40-F41D51FA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1A669-DD46-46DF-B921-085F0CDF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8CBC0-C85C-4780-B0B0-EB6AA96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WebSocket 网关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89E60-DD2F-45FB-A883-BF9B6B56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配置·协议·会话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FCD42-DC7E-4A02-A6A9-88E3284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C8869-6880-46B9-B87A-D40062AA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6DD56-B552-4176-9BE7-4F6B9EC5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122B8-DF10-4EEE-AFC7-FB06ACD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3D3C9-BB5F-437A-9E20-E033A46F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Gummy Provider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6B720-5DCB-440C-B88E-7FA23AB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本地模拟结果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18122-8B4B-4253-BB41-B836408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E93B16-85A3-43E3-A17E-9240F798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F3A662-3702-4718-9A96-95B1F00C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61BD08-1F60-4D42-B340-85D7E709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637C32-DE0B-40BD-8F6F-BB8BBF6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双语字幕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A3ADF-7A71-4677-903A-7A31F0D4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位置·恢复·超时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231EEC-6DFC-44B0-BAAB-830DFB9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EBE231-6702-414E-8D3B-F543CD91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本次覆盖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1DD97-F36E-4183-9FF3-A070D855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E6381D-7308-4FC1-B7BB-A96C0FB2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网关配置与共享协议边界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FDE8C0-D838-480A-AA3E-5A11A325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D2F6B-CFD2-4FFF-8E79-1EA656A6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Gummy 结果处理与错误分类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6317EA-91EA-4F54-9EDB-4A78A598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6053A-CE78-4234-90DC-ED37430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Chrome 字幕拖拽与恢复场景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C9841-E66B-41D9-98DC-328B2035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181DCA-1111-493B-A5CC-09C2E4CB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明确不声称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17B5E9-6520-4B6E-964D-CEEBF25E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C26"/>
          </a:solidFill>
          <a:ln xmlns:a="http://schemas.openxmlformats.org/drawingml/2006/main" w="0">
            <a:solidFill>
              <a:srgbClr val="D77C2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B69A02-3011-442C-B74C-D8881EB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真实阿里云鉴权与计费链路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309CEC-9854-4529-8A2E-E91E8D86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C26"/>
          </a:solidFill>
          <a:ln xmlns:a="http://schemas.openxmlformats.org/drawingml/2006/main" w="0">
            <a:solidFill>
              <a:srgbClr val="D77C2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E19FE6-2384-467B-AF70-2679052E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语音识别准确率与真实网络延迟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748B39-3BBE-4006-9FAF-857B4751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C26"/>
          </a:solidFill>
          <a:ln xmlns:a="http://schemas.openxmlformats.org/drawingml/2006/main" w="0">
            <a:solidFill>
              <a:srgbClr val="D77C2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056CC-3998-4BFC-B841-983A69A9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054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Safari 原生宿主端到端能力</a:t>
            </a:r>
          </a:p>
        </p:txBody>
      </p:sp>
    </p:spTree>
    <p:extLst>
      <p:ext uri="{BB962C8B-B14F-4D97-AF65-F5344CB8AC3E}">
        <p14:creationId xmlns:p14="http://schemas.microsoft.com/office/powerpoint/2010/main" val="438192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D7FFFB-999A-4745-9E29-8D37A262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972B-BF7F-4741-928E-2AB1D96D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7C316-E2B5-47CE-8B2A-1911A21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融合过程：生成、筛选、实现、验证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2A92C-DB68-4DE7-9FFE-24345272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A030C-50AE-44FC-8978-17C7430F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6303C-CEF4-419E-95FE-BC0CC60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7C683-84F1-4826-B7B9-C5E7B4A1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467E3-0D08-4D0C-B68C-DCBAC167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64750-B393-48F3-95A3-4E1D8884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9606D-36F1-42C5-B1F3-41D33725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输入约束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A20E-D665-4DEB-9F07-9763D7BF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作业要求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README / 源码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FBCB4-F6E0-4CE6-8D1A-B4A2841A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DDE62-ED34-4764-8BA7-44543F6F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8E3D1-16CD-4480-9F78-A6F1AE1E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B0545-6CD3-45B1-8D4D-76F6CD9B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扩展候选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988DE-20B3-4A77-ACD6-81C3BBE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28 条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边界+异常+场景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0AEF9-7DB9-4C01-A51A-C26F8F1C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A99B8-E8C9-4515-AEDC-3990B1A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1DCFB-CBC7-49B9-B308-28517E63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872ED-B98A-4A9F-9302-FD2FAF47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人工筛选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F17CB-8C86-4259-A5B3-ED9660A3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剔除 4 条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保留 24 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B66BC-D494-4660-BE1A-94B0720B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A676A-D88F-4A63-A03B-5BE877BF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25B1F-FCAC-4280-9B74-FF3B045D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F4DAA-9C3F-4E83-9600-4FA7E495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自动化落地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156AF-778A-4C64-97AA-D06669C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Vitest 18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Playwright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37BF0-4AAA-48E9-8E05-C3C2FDFB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A87BC-D101-4B11-820D-11B987D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29743-D662-48E3-AA36-4F24D6E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84CEA-F258-4DEC-9A90-8B7813D6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缺陷闭环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078788-1D4B-485F-B93C-71BBD00A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修复前复现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根因与修复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8BE43-E391-48E7-88D7-A07F115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D304ED-C096-456F-BEAB-793DC8C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51B4B-5801-4F04-825C-3BA6C809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证据驱动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6E8865-2494-4C31-9966-B44F2A6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summary.json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文档一致性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A168A8-9878-4D36-89C1-39B9FF31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5537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4F912D-CFA1-45A1-AEE0-7B62225D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人工决策点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A8B34-DBEE-4550-8034-64FF2517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33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E9D3A8-2868-4D7F-A136-8D1736BD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需求可追溯：每条用例都能回到源码或文档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62AA15-B332-4E2F-8F35-E113E5A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33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C1B02A-DF8C-41CB-8827-075B721B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4820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可重复：不依赖真实密钥、账户额度或网络波动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998582-C906-4DE7-AF4C-FBECCB10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FF0D20-7F77-41A9-9E69-F5C2F139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4825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课程边界：不与模块一 62 条用例合并</a:t>
            </a:r>
          </a:p>
        </p:txBody>
      </p:sp>
    </p:spTree>
    <p:extLst>
      <p:ext uri="{BB962C8B-B14F-4D97-AF65-F5344CB8AC3E}">
        <p14:creationId xmlns:p14="http://schemas.microsoft.com/office/powerpoint/2010/main" val="1403862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41D15-1962-4741-90E2-5FF798B7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A44E9-2DE9-42CC-8333-462E69D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D17AE-E241-429E-92DC-25A667B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24 条用例：方法覆盖与功能分布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D3F03-08BF-44ED-B32E-2689281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BE5DF-EE72-47C4-A7B9-FA4C5A28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39E84-5B3B-4D74-A752-6757C5A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A8816-D1E2-48BA-9BC4-4D41A17B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095875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35ECB-23CB-475A-A474-5FD48FD1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用例设计方法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1066800" y="2038350"/>
          <a:ext xmlns:a="http://schemas.openxmlformats.org/drawingml/2006/main" cx="2857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15244e198147c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FC966-7EDB-4B18-9A8F-27C3880E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78314-83C3-4E03-9424-ABB7BAD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86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合计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90FE8-5A50-4055-8A34-F9FA6D64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476875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C47F1-0C96-458D-BED4-7A6235DC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功能范围分布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515100" y="2114550"/>
          <a:ext xmlns:a="http://schemas.openxmlformats.org/drawingml/2006/main" cx="4476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c080b0a41a455a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67429-2DB6-49DC-9EAB-BAFFC51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076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64E25-81F8-4095-8674-ADA07209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387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编号 M2-001 至 M2-024</a:t>
            </a:r>
          </a:p>
        </p:txBody>
      </p:sp>
    </p:spTree>
    <p:extLst>
      <p:ext uri="{BB962C8B-B14F-4D97-AF65-F5344CB8AC3E}">
        <p14:creationId xmlns:p14="http://schemas.microsoft.com/office/powerpoint/2010/main" val="307557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CEB51-7400-4D80-BD8F-D507643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7CB1A-BBF3-4CF4-BC9D-E3C68D9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C380B-F1AA-4D32-9C7A-A18A76A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初稿不直接等于测试用例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F89B-3B88-4905-81E4-E0447BEB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C92C8-A95F-4EDC-A36D-888FBA3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60D68-4177-4DF5-9671-6730599B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7A58E-B782-4E1C-82CE-85A0655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661035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89168a1fb48a5"/>
          <a:stretch xmlns:a="http://schemas.openxmlformats.org/drawingml/2006/main"/>
        </p:blipFill>
        <p:spPr>
          <a:xfrm xmlns:a="http://schemas.openxmlformats.org/drawingml/2006/main">
            <a:off x="800100" y="1599520"/>
            <a:ext cx="6343650" cy="4078061"/>
          </a:xfrm>
          <a:prstGeom xmlns:a="http://schemas.openxmlformats.org/drawingml/2006/main" prst="roundRect">
            <a:avLst>
              <a:gd name="adj" fmla="val 180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C605F-477F-461B-AF61-CC8C825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71600"/>
            <a:ext cx="39624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78F53-9139-4532-84F7-358EA58B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人工剔除 4 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1A2F9-E901-4152-A6A3-7476E168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2FD82-5E12-41EA-A477-D1573B25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需求依据不足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002F3-BA75-42B3-B5E1-759D938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037AE-8658-4B39-97A7-D16C07B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与模块一重复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FA9C4-20AF-46A7-AC7B-55C85ABF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90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762BE-A6F3-4DC1-A959-568A12B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依赖真实云服务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2202A-2CF2-43EA-B962-B1239CF0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852BB-B328-4625-9E29-18CBB4E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超出协作与作业边界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14CDA-8A8B-4576-BD43-7E169017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9624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CBD72-E993-4E74-A6DA-58B9078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人工补足 4 类判断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04CA3-2B13-4C44-9DF9-3AE1395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E0457-F556-4BBF-83CA-6614D4EC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检查 README 与源码语义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E86E0-E244-4323-ABA7-539D936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0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5D0E3-1541-47B3-B7AC-72DBEF84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24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锁定可重复的本地模拟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1EB14-AC7F-4067-ACF2-B206C535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3B5B8-247E-44D8-987B-0C6F0AA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建立 M2 编号与缺陷追溯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F77DC4-F1C8-4DD3-B9BC-FF5BE1D2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57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316C5-D596-4CAD-9C01-AA0B9091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721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以 summary.json 统一文档数字</a:t>
            </a:r>
          </a:p>
        </p:txBody>
      </p:sp>
    </p:spTree>
    <p:extLst>
      <p:ext uri="{BB962C8B-B14F-4D97-AF65-F5344CB8AC3E}">
        <p14:creationId xmlns:p14="http://schemas.microsoft.com/office/powerpoint/2010/main" val="2128805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A9A41-F1A2-47B6-B98E-4B24350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1C79A-2603-42A4-A1C8-387999E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03846-DBE4-4288-8377-FE65D43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独立自动化工程：一键运行、离线可复现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D50EF-F115-45F8-98A2-C887AC8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50CC3-8D55-4787-A675-C911A3BA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C4B20-7746-49E6-B4B7-019FF82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57661-2606-4683-9DB9-9BB53939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B36C7-1D9A-4147-90EA-6CFC9DFE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6F404-AA83-4A17-853E-FF87F49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Vitest 配置/协议/Provider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18721-FF1D-47C8-AD4E-BBDCE725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29019-95B9-4482-9F4C-A634C40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456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D4565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93F02-2628-4BB5-859B-977E631B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Playwright Chrome 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56A63-918F-4C1A-BED0-797BCAC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CE1F5-7D59-40D1-9ED6-7FE8482C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6A9A4-23EA-484A-9D06-CDD2C05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真实阿里云请求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40469-8598-41EF-A092-577FD32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09700"/>
            <a:ext cx="3448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480AA-9CC9-4E31-A4CC-6B1BE0E3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summary.json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3D80-A0C8-41DC-B377-5F18A48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唯一结果汇总源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0D580-5F99-4990-B4FF-43F8128E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BA1E1-8641-4A84-92D1-E6754B3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用例元数据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3C5E4-40FF-4363-BD3A-F0DA37B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cases.json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M2-001 … M2-024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36D1A-FAB2-4768-AB81-93677D7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8C0CE-F7B9-45BE-9B5B-D1A4880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8A9B0-EC74-4864-BB24-9F3EFD5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D3251-563E-4142-B6F6-496E2251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FC9C2-22DE-4392-9684-D9FCC85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run.mjs</a:t>
            </a:r>
          </a:p>
          <a:p xmlns:a="http://schemas.openxmlformats.org/drawingml/2006/main">
            <a:pPr algn="ctr">
              <a:def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编号完整性检查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39FFB-C55C-4A30-81CD-79994D23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645D0-A8FB-4D8B-AE22-1D14075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762B99-A682-4CC9-A33C-9618E62C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CC465-3D62-48C5-8A96-617670F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测试层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E8DA1-BDA7-4D8B-A7B4-260F426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Vitest + Playwright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本地 WebSocket 模拟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86117-E3C2-4FF8-8FCD-D86B756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4A14F-09EA-4729-BAEA-67DD833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93A1-D56F-4B1E-9CAB-E93707F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A3F89-57A9-4188-ACFD-3DB55A2E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证据层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06792F-B2DD-40D2-B19F-B0ECAB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JSON / 日志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截图 / 补丁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9D4B63-2D3F-47F5-8D89-92AAFE6D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038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B75044-E0F0-4EEC-9A35-6A9AC81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530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npm run test:module2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C44D0F-E4F7-4AF0-853E-3AA730CA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625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自动构建 Chrome 扩展 → 18 条 Vitest → 6 条 Playwright → 结果校验</a:t>
            </a:r>
          </a:p>
        </p:txBody>
      </p:sp>
    </p:spTree>
    <p:extLst>
      <p:ext uri="{BB962C8B-B14F-4D97-AF65-F5344CB8AC3E}">
        <p14:creationId xmlns:p14="http://schemas.microsoft.com/office/powerpoint/2010/main" val="565449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742A1-1A08-4008-9C86-B7E5D2AA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AED2-E1B7-4A0F-BDDA-DADEFD19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35AB6-5603-4F9D-8408-5955834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修复后结果：24 / 24 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3ADA3-1C2F-4174-AAB6-928DABF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244B7-6197-43F4-B7C0-0027B150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4B85-F93D-4BD2-A30A-E5E06258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D4FA-FBDE-44ED-9E27-75459765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887B0-9A7A-421B-9820-07EF745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31FCF-72EA-4708-B8AD-F892464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模块二通过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4E0DB-EA75-4A99-A550-42F84AB3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C5E9C-83B7-4EDA-95BB-1FB1C04E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734E-25AD-49F6-AA94-EBB0C2E1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失败 / 跳过 / 未执行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A2682-D02E-4D68-8720-3B94DB5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40822-8643-47E8-B38A-653F5A00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36 / 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20D05-1143-48C2-B912-C15035F8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产品单元回归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0B364-70F4-4DCC-A704-BFD3E4E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3162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4A340-CFBE-4E74-AE11-B15F7FF6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049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3 + 1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889-1DFE-408F-BE18-991FBFD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扩展 E2E：3通过 + 1预设跳过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57937-1594-4DF1-91B4-C84FDE80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1150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127E6-C08E-4C19-9F6A-632A7333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自动化通过数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1009650" y="3333750"/>
          <a:ext xmlns:a="http://schemas.openxmlformats.org/drawingml/2006/main" cx="5429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cbd422a8b649d4"/>
          </a:graphicData>
        </a:graphic>
      </p:graphicFrame>
      <p:graphicFrame>
        <p:nvGraphicFramePr>
          <p:cNvPr id="44" name=""/>
          <p:cNvGraphicFramePr/>
          <p:nvPr/>
        </p:nvGraphicFramePr>
        <p:xfrm>
          <a:off xmlns:a="http://schemas.openxmlformats.org/drawingml/2006/main" x="7086600" y="2724150"/>
          <a:ext xmlns:a="http://schemas.openxmlformats.org/drawingml/2006/main" cx="44196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81100"/>
                <a:gridCol w="1238250"/>
              </a:tblGrid>
              <a:tr h="617220">
                <a:tc>
                  <a:txBody>
                    <a:bodyPr/>
                    <a:lstStyle/>
                    <a:p>
                      <a:r>
                        <a:t>验收项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 marL="91440" marR="91440" marT="45720" marB="45720"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TypeScript 类型检查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错误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Chrome / Gateway 构建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Safari 资源构建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真实音频捕获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 跳过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D77C2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单独披露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624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24341-FBA2-47A9-A6CB-FFC5BC20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46F8D-C251-4362-96B0-BD4101A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DEFECT 01  /  CHROME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04852-DC18-40B6-828C-5D19F47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BUG-M2-001  字幕拖拽状态与设置校验不一致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78300-85AF-4ACE-A38A-88269D85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A7EFA-C88B-483B-8B62-27354D4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8858-A3AC-41BA-BE56-179EE740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511A6-63FA-4480-A32D-1080661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solidFill>
              <a:srgbClr val="FFF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3072-C780-4421-937C-5F90A99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严重程度：中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AE5F2-8127-4EE7-8B0C-8039127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5255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D1E83-ADE5-434A-92B8-830AEB2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关联：M2-019 / 022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17C-6015-4C82-B5E6-8AEDC8A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25EA4-8F57-4B3D-8E19-04384EC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修复前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55381-92CA-4416-9ED9-0C9EE60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7165C-4490-4019-9A5F-CB85C6F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拖拽计算产生小数偏移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C82AE-1272-419B-A5BD-8EC57C4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EFA05-CEC0-46C1-9651-DB4E4C0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设置校验只接受整数，拒绝保存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9C5CC-988D-483C-AC1F-599C8A2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85124-90E5-4F67-AF8C-B86A7B37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pointercancel 后拖动状态残留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A9253-8B8A-4C63-B4B8-EBBB0B0D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33700"/>
            <a:ext cx="533400" cy="685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0477C-D620-4377-88F5-5FC539F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95606-223B-48A1-A6B4-754C41FC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修复后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832A0-183E-45DF-AFA7-3718E63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8C0DB-9A32-42E6-BCCB-0A1AEDA3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先钳制，再 Math.round 取整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8E041-8B30-44EA-BB48-96C61C1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6CDCC-6B57-4907-A0CC-92BA122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pointerup 正常结束时保存合法整数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47B20-E1E5-45C1-A75A-A28862C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38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B7E57-5AB7-4AF8-9D57-BFB3B49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pointercancel / 捕获丢失只清理状态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55EBA-EF60-4139-8C66-4B17195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3D40A-7BF3-4E43-B4EF-BDE1DF9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复现结果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97EA3-604B-4C93-9E08-D84944A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62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修复前 M2-019、M2-022 失败  →  修复后两条均通过，且上下界钳制保持正常</a:t>
            </a:r>
          </a:p>
        </p:txBody>
      </p:sp>
    </p:spTree>
    <p:extLst>
      <p:ext uri="{BB962C8B-B14F-4D97-AF65-F5344CB8AC3E}">
        <p14:creationId xmlns:p14="http://schemas.microsoft.com/office/powerpoint/2010/main" val="1007737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07DD2-266D-49A3-9806-DC65C449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1CCD7-A7E9-412A-9717-C137BBC3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DEFECT 02  /  GUMMY 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FBA4B-83AE-4EAE-BF0B-23B1CF6D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BUG-M2-002  未知翻译语言码导致结果处理异常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AA376-21E8-4839-B0A3-39A7836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021AB-8E39-47C3-BD9F-0FC7ABB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ABE8E-9929-4A33-BAAB-ABA305ED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79D48-EB0C-4EA6-B5AA-AD600FD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DD915-2ECB-412E-AAE8-AE4CC1B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严重程度：高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50410-F264-4268-8A86-C175AB0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52550"/>
            <a:ext cx="1352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96C51-A2B3-479B-9D66-0F7B141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关联：M2-016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49A51-F1AA-41F4-9673-3EC0526F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1C058-867F-4951-8046-CDB5E33C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9002E-B4A2-4352-A438-E92663A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result-generated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3D2FE-3B00-4C6C-A512-A1FE824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translation.lang = xx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ACBA4-7DA9-457A-ACD4-79F96A44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BEAF6-C869-401F-B88E-97713482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860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ED0A2-743F-4FE3-B7BE-BF687E13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A2273-00E7-4D94-9845-2F5D7800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4950C-AAC0-473A-BF25-6C941791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未知语言码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C0FC7-EDEA-4A58-ABC6-D8FD8D8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转换函数抛出异常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38D1C-3D29-4904-ACE3-18DB152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5D1B6-24A4-459D-9C64-3EE22E85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860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340E3-325A-4757-85BF-61B9987C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50FB4-04A2-4C4D-8228-DBC9135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5A0D5-E8D7-4828-BE46-0FC3DCE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修复前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035A0-E27E-4CB4-A4FF-3F9129F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未捕获，会话/进程受影响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C4EA1A-BF24-47DA-9E6B-9960F3D6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769F3-C207-4D12-8AC0-F02FA220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860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A5E41-56CF-4542-B393-EDB2F82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236E8-638E-4E58-B221-94C9CC14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1C6D5-BFB8-45C8-95F4-6A93F19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修复后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7AB365-FBFE-46C6-937F-9EBEB45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单一 Provider 错误</a:t>
            </a:r>
          </a:p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安全终止连接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98FAE4-83C3-4CF7-9FF0-5BF94D7A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98488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46B47-6609-49CE-B040-83F9367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内部错误码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29E41-78C5-4B30-B397-25BDC61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81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gummy_result_processing_failed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755E8F-52D0-4CDA-935B-24775AB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不改变 WebSocket 消息结构、设置字段或用户可见 API；错误码仅用于 Provider 状态追踪。</a:t>
            </a:r>
          </a:p>
        </p:txBody>
      </p:sp>
    </p:spTree>
    <p:extLst>
      <p:ext uri="{BB962C8B-B14F-4D97-AF65-F5344CB8AC3E}">
        <p14:creationId xmlns:p14="http://schemas.microsoft.com/office/powerpoint/2010/main" val="765385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CC714-4737-4476-BDF8-9CEE42E5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7D347-9ADC-40CB-8264-F51EC79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6C9DE-BE37-418F-BE0A-8A6B53D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修复与回归：从失败证据到完整验收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61C17-76B3-406F-BB82-8665CE4D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D775A-7154-420E-B6FA-A284584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B2760-4556-467E-9A2E-DA90859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762250"/>
                <a:gridCol w="2762250"/>
                <a:gridCol w="2914650"/>
              </a:tblGrid>
              <a:tr h="541564">
                <a:tc>
                  <a:txBody>
                    <a:bodyPr/>
                    <a:lstStyle/>
                    <a:p>
                      <a:r>
                        <a:t>验证层次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修复前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修复后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证据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缺陷定向复现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45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条预期失败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修复已命中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reproduction.log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模块二用例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45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M2-016/019/022 失败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 / 24 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summary.json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产品单元测试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基线 36 / 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 / 36 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regression.log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类型检查与构建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已确认基线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全部通过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regression.log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扩展 E2E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M1-058 偶发时序波动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通过 + 1 预设跳过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regression.log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文档一致性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人工统计有风险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summary.json 驱动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Excel / Word / PPT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B0DCF-7861-4DAD-A003-8A89B17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ADE10-889F-46EF-9AB6-F60B9F59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030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验收原则：缺失/重复 M2 编号、测试失败或构建失败，runner 必须返回非零。</a:t>
            </a:r>
          </a:p>
        </p:txBody>
      </p:sp>
    </p:spTree>
    <p:extLst>
      <p:ext uri="{BB962C8B-B14F-4D97-AF65-F5344CB8AC3E}">
        <p14:creationId xmlns:p14="http://schemas.microsoft.com/office/powerpoint/2010/main" val="21407753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16FB27-E9C9-4172-89A8-5F89680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96381-03D3-4574-842A-9A32646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479D-2926-4E4D-B180-EE709AD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反思：提升广度，不代替测试判断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959FA-4808-4675-8394-A2C7AA8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ACAF4-0805-42FA-95BD-DEB4852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CF452-15F7-4BDF-B993-4B9A9C8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103D0-E99A-4309-BC96-C70D91DE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06D49-153A-476B-8738-1D1A585E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0702-1B56-4531-A271-81AC832E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擅长的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4FB11-CBE2-4E80-97D8-0940C64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F2309-EE83-4D99-838E-298C593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快速枚举边界与异常路径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D8B47-109E-414D-9D4B-68CDE0A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4775B-85D3-4B08-98F0-6998119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将用例转换为测试骨架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0A4F4-B173-4B84-9A10-5272EFD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BDC4D-2BBF-4FDF-B7AA-48344F3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关联代码、缺陷与证据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38736-0F52-4E6D-9478-CCF7E89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A373D-3F33-458B-9C04-BC58A819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1F08-436D-439A-8039-8CC3CE37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容易失真的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D6177-745C-4368-85F3-993D3C1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6D918-86F4-40F7-B5D9-4CE60B4F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补出并不存在的需求依据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750CA-CB10-4362-854A-F8E010F2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46EBF-FFF8-4736-9A6A-CBACB9AF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重复已有用例或依赖真实云服务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B4E48-46EC-4C62-8923-4D5E34F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3906D-2BEC-4521-975B-C1A9DED1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忽略课程边界与团队分工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C7890-FD3A-4781-BB8C-0FB348F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0E593-32AE-4728-948E-8FC028E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5D9FB-BE9A-4B78-815B-3B93535F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人工必须做的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4D32C-2908-4F09-8EFB-7195740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1B90B8-98CF-4B75-821B-F600115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回读 README、源码和作业要求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59914-3C11-47F6-A98C-17FCC28C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109AF-66E7-4A08-BCDE-19C3920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确保每条用例可重复、可断言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5D44EC-E24B-4390-AFAA-DE8E2D3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A6F99-930B-4E07-8944-E87D6FB3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核对数字、分类和结论是否一致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38B8E-6DD3-40D7-8DD8-DDDC2853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515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D9CB4-CC3A-4512-AF85-01D506F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3402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本次定位：AI 负责“提案与加速”，人工负责“依据、边界、风险与结论”。</a:t>
            </a:r>
          </a:p>
        </p:txBody>
      </p:sp>
    </p:spTree>
    <p:extLst>
      <p:ext uri="{BB962C8B-B14F-4D97-AF65-F5344CB8AC3E}">
        <p14:creationId xmlns:p14="http://schemas.microsoft.com/office/powerpoint/2010/main" val="628655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6BCD1-21A1-4B79-A661-60AE2FAD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18F75-F046-41C7-9820-978D7EC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D681E-579C-4C56-8CAC-37DAC1C5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结论与现场演示路径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D96CA-DE9F-49F9-A1C4-1BA79D76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AE27D-7B11-45E9-A2CB-9AF7C5DB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BDB51-9038-49DD-82D9-AD9B359D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28281-23DB-4F2D-856F-18F4A34E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87D7E-D3FF-4F08-8AF5-73308460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E6C4C-0384-44CC-8B29-36F9219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模块二用例通过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C6672-9DE9-4A1B-ADC6-AF288CF5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5296C-7A68-49E5-97B0-B9279A3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5A092-8A3E-4699-950B-F842B97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缺陷完成修复验证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E3416-7222-4925-B24B-230B081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CC949-D0D7-4336-8FC4-760DE00C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456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D4565"/>
                </a:solidFill>
                <a:latin typeface="PingFang SC"/>
                <a:ea typeface="PingFang SC"/>
                <a:cs typeface="PingFang SC"/>
              </a:rPr>
              <a:t>1 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2BC3D-1ADC-4741-9ECF-FEB83498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全部用例可复现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C5191-DB78-46AC-BCE1-C7D5A4B8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3162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3125B-F67D-4F25-813C-06BBBF5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049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0 云请求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6FE4A-3D34-43DD-A1AF-4F78F47D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无密钥、无额外费用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CEE07-A4EB-497E-989D-EC04D163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4845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426E3-AF1F-4C23-A71B-843A5D7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现场演示（5–7分钟）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1B41C-FC76-4049-88C9-6B1950F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960E8-45CA-4485-88E7-757A601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6487C-E33C-4175-8C2B-97619223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48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npm run test:module2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57D8A-E132-4FA6-8C9A-B0F3B120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展示 24 / 24 与 summary.json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67BECC-2874-4343-AFFA-D1B7C29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CF726-C2A0-4C06-B2F1-CDCED6F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04883-DF59-4B4C-AD98-8167144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npm run test:module2:reproduce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9C613-990E-484C-BDB5-99E7FBA8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展示 3 条预期失败映射到2项缺陷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9907F-D9BE-4250-8724-8C1BE3F1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B241D-A314-4525-A252-AFEB4FC6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C9D66-CB7E-4ED6-A848-CE242FB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91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npm run test:regression:module2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8ADB2-1B39-4090-85D5-8287B3A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展示产品回归与构建结果</a:t>
            </a:r>
          </a:p>
        </p:txBody>
      </p:sp>
      <p:graphicFrame>
        <p:nvGraphicFramePr>
          <p:cNvPr id="69" name=""/>
          <p:cNvGraphicFramePr/>
          <p:nvPr/>
        </p:nvGraphicFramePr>
        <p:xfrm>
          <a:off xmlns:a="http://schemas.openxmlformats.org/drawingml/2006/main" x="7620000" y="2781300"/>
          <a:ext xmlns:a="http://schemas.openxmlformats.org/drawingml/2006/main" cx="38862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</a:tblGrid>
              <a:tr h="596900">
                <a:tc>
                  <a:txBody>
                    <a:bodyPr/>
                    <a:lstStyle/>
                    <a:p>
                      <a:r>
                        <a:t>成员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主要工作线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贡献度</a:t>
                      </a:r>
                    </a:p>
                  </a:txBody>
                  <a:tcPr marL="91440" marR="91440" marT="45720" marB="45720"/>
                </a:tc>
              </a:tr>
              <a:tr h="596900">
                <a:tc>
                  <a:txBody>
                    <a:bodyPr/>
                    <a:lstStyle/>
                    <a:p>
                      <a:r>
                        <a:t>白宇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Chrome 交互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A6A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EAF8F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t>李承远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Gummy 协议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A6A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EAF8F7"/>
                    </a:solidFill>
                  </a:tcPr>
                </a:tc>
              </a:tr>
            </a:tbl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CE602-DA60-4EC4-98A3-8567B8C7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3886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EFCE6-AA04-46FC-BE5E-D2774CE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交付物已建立 M2 编号、缺陷、脚本、日志和文档间的双向追溯。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87B88A-A140-473A-981D-A816CCA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说明：分工和贡献度由两位成员在提交前据实复核。</a:t>
            </a:r>
          </a:p>
        </p:txBody>
      </p:sp>
    </p:spTree>
    <p:extLst>
      <p:ext uri="{BB962C8B-B14F-4D97-AF65-F5344CB8AC3E}">
        <p14:creationId xmlns:p14="http://schemas.microsoft.com/office/powerpoint/2010/main" val="816936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2026-09-21T08:36:16.9690000Z</dcterms:created>
  <dcterms:modified xsi:type="dcterms:W3CDTF">2026-09-21T08:36:16.9690000Z</dcterms:modified>
</coreProperties>
</file>