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b49c389c8754e93" /><Relationship Type="http://schemas.openxmlformats.org/officeDocument/2006/relationships/extended-properties" Target="/docProps/app.xml" Id="R1bdaf6514f5b42b1" /><Relationship Type="http://schemas.openxmlformats.org/officeDocument/2006/relationships/officeDocument" Target="/ppt/presentation.xml" Id="R6bbe6124bc19495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9c9bc5e413466b"/>
  </p:sldMasterIdLst>
  <p:notesMasterIdLst>
    <p:notesMasterId xmlns:r="http://schemas.openxmlformats.org/officeDocument/2006/relationships" r:id="R0731a4080ca44ce3"/>
  </p:notesMasterIdLst>
  <p:sldIdLst>
    <p:sldId xmlns:r="http://schemas.openxmlformats.org/officeDocument/2006/relationships" id="256" r:id="R785aa58e6bd84e20"/>
    <p:sldId xmlns:r="http://schemas.openxmlformats.org/officeDocument/2006/relationships" id="257" r:id="R860eb7d5a32b4ba9"/>
    <p:sldId xmlns:r="http://schemas.openxmlformats.org/officeDocument/2006/relationships" id="258" r:id="R8575afe774214b11"/>
    <p:sldId xmlns:r="http://schemas.openxmlformats.org/officeDocument/2006/relationships" id="259" r:id="Rb12e25b4d7504dc1"/>
    <p:sldId xmlns:r="http://schemas.openxmlformats.org/officeDocument/2006/relationships" id="260" r:id="R5f6f6d1660ce4c16"/>
    <p:sldId xmlns:r="http://schemas.openxmlformats.org/officeDocument/2006/relationships" id="261" r:id="R8e9cb19ab8624ac9"/>
    <p:sldId xmlns:r="http://schemas.openxmlformats.org/officeDocument/2006/relationships" id="262" r:id="R154a44de5485476f"/>
    <p:sldId xmlns:r="http://schemas.openxmlformats.org/officeDocument/2006/relationships" id="263" r:id="Ree0a78dab42d4277"/>
    <p:sldId xmlns:r="http://schemas.openxmlformats.org/officeDocument/2006/relationships" id="264" r:id="R267028a6e4f24d6f"/>
    <p:sldId xmlns:r="http://schemas.openxmlformats.org/officeDocument/2006/relationships" id="265" r:id="Rbca97e271f0349ad"/>
    <p:sldId xmlns:r="http://schemas.openxmlformats.org/officeDocument/2006/relationships" id="266" r:id="R130881f2c82d42f7"/>
    <p:sldId xmlns:r="http://schemas.openxmlformats.org/officeDocument/2006/relationships" id="267" r:id="Rc5c86831fd294b4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1a113ae03024bf9" /><Relationship Type="http://schemas.openxmlformats.org/officeDocument/2006/relationships/slideMaster" Target="/ppt/slideMasters/slideMaster1.xml" Id="R1c9c9bc5e413466b" /><Relationship Type="http://schemas.openxmlformats.org/officeDocument/2006/relationships/notesMaster" Target="/ppt/notesMasters/notesMaster1.xml" Id="R0731a4080ca44ce3" /><Relationship Type="http://schemas.openxmlformats.org/officeDocument/2006/relationships/presProps" Target="/ppt/presProps.xml" Id="Rd32c7a529c5c4678" /><Relationship Type="http://schemas.openxmlformats.org/officeDocument/2006/relationships/tableStyles" Target="/ppt/tableStyles.xml" Id="R718736301c7f44eb" /><Relationship Type="http://schemas.openxmlformats.org/officeDocument/2006/relationships/slide" Target="/ppt/slides/slide1.xml" Id="R785aa58e6bd84e20" /><Relationship Type="http://schemas.openxmlformats.org/officeDocument/2006/relationships/slide" Target="/ppt/slides/slide2.xml" Id="R860eb7d5a32b4ba9" /><Relationship Type="http://schemas.openxmlformats.org/officeDocument/2006/relationships/slide" Target="/ppt/slides/slide3.xml" Id="R8575afe774214b11" /><Relationship Type="http://schemas.openxmlformats.org/officeDocument/2006/relationships/slide" Target="/ppt/slides/slide4.xml" Id="Rb12e25b4d7504dc1" /><Relationship Type="http://schemas.openxmlformats.org/officeDocument/2006/relationships/slide" Target="/ppt/slides/slide5.xml" Id="R5f6f6d1660ce4c16" /><Relationship Type="http://schemas.openxmlformats.org/officeDocument/2006/relationships/slide" Target="/ppt/slides/slide6.xml" Id="R8e9cb19ab8624ac9" /><Relationship Type="http://schemas.openxmlformats.org/officeDocument/2006/relationships/slide" Target="/ppt/slides/slide7.xml" Id="R154a44de5485476f" /><Relationship Type="http://schemas.openxmlformats.org/officeDocument/2006/relationships/slide" Target="/ppt/slides/slide8.xml" Id="Ree0a78dab42d4277" /><Relationship Type="http://schemas.openxmlformats.org/officeDocument/2006/relationships/slide" Target="/ppt/slides/slide9.xml" Id="R267028a6e4f24d6f" /><Relationship Type="http://schemas.openxmlformats.org/officeDocument/2006/relationships/slide" Target="/ppt/slides/slide10.xml" Id="Rbca97e271f0349ad" /><Relationship Type="http://schemas.openxmlformats.org/officeDocument/2006/relationships/slide" Target="/ppt/slides/slide11.xml" Id="R130881f2c82d42f7" /><Relationship Type="http://schemas.openxmlformats.org/officeDocument/2006/relationships/slide" Target="/ppt/slides/slide12.xml" Id="Rc5c86831fd294b4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3bbd2d63754b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4fb78bca43c41f1" /><Relationship Type="http://schemas.openxmlformats.org/officeDocument/2006/relationships/notesMaster" Target="/ppt/notesMasters/notesMaster1.xml" Id="Rde20ba82f27740a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ad14c59b535438c" /><Relationship Type="http://schemas.openxmlformats.org/officeDocument/2006/relationships/notesMaster" Target="/ppt/notesMasters/notesMaster1.xml" Id="R33f8a1f0ec62472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4c86b50124c4273" /><Relationship Type="http://schemas.openxmlformats.org/officeDocument/2006/relationships/notesMaster" Target="/ppt/notesMasters/notesMaster1.xml" Id="R7ef20e376f15401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dc075d114584d90" /><Relationship Type="http://schemas.openxmlformats.org/officeDocument/2006/relationships/notesMaster" Target="/ppt/notesMasters/notesMaster1.xml" Id="Rc2e55515319a4e3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8998dff87a94cb3" /><Relationship Type="http://schemas.openxmlformats.org/officeDocument/2006/relationships/notesMaster" Target="/ppt/notesMasters/notesMaster1.xml" Id="Rdf50d3f22c874f2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683fb1673c24424" /><Relationship Type="http://schemas.openxmlformats.org/officeDocument/2006/relationships/notesMaster" Target="/ppt/notesMasters/notesMaster1.xml" Id="R0391e268de98434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59f14613d9640dd" /><Relationship Type="http://schemas.openxmlformats.org/officeDocument/2006/relationships/notesMaster" Target="/ppt/notesMasters/notesMaster1.xml" Id="R48826a5c7d494f4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05ffbd6fc564287" /><Relationship Type="http://schemas.openxmlformats.org/officeDocument/2006/relationships/notesMaster" Target="/ppt/notesMasters/notesMaster1.xml" Id="R73d0a00eb9ad45f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7696ce5336d4530" /><Relationship Type="http://schemas.openxmlformats.org/officeDocument/2006/relationships/notesMaster" Target="/ppt/notesMasters/notesMaster1.xml" Id="Rc931bdb55971444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109e3ba2fde4a9b" /><Relationship Type="http://schemas.openxmlformats.org/officeDocument/2006/relationships/notesMaster" Target="/ppt/notesMasters/notesMaster1.xml" Id="Rebe6c653de274d6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14f27b988754537" /><Relationship Type="http://schemas.openxmlformats.org/officeDocument/2006/relationships/notesMaster" Target="/ppt/notesMasters/notesMaster1.xml" Id="Rd1761487c887497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ca50beb539e4ccd" /><Relationship Type="http://schemas.openxmlformats.org/officeDocument/2006/relationships/notesMaster" Target="/ppt/notesMasters/notesMaster1.xml" Id="Rc94b113a555142b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解30秒。本次汇报对象是一个将浏览器音频转换为双语字幕的插件。本轮聚焦模块一测试基础实践，新增38条自动化用例，确认两个独立缺陷并完成修复。强调这是个人工作分册，成员署名与最终贡献比例由小组合并填写。来源：项目README及evidence/after/summary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解35秒。插件捕获标签页音频并转为16kHz单声道PCM，通过本地网关发送给识别翻译服务，再将临时和最终字幕显示在页面。右图是本轮真实加载MV3扩展后的设置页截图。fake服务输出固定字幕，只验证本地链路。来源：README、apps/extension和apps/gateway源码；M1-034截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解30秒。左侧内容由本轮38条用例验证。右侧保留实际未测范围，尤其是真实捕获需要用户点击浏览器扩展按钮，原有自动化明确跳过；不能将模拟测试通过解释为云端识别准确。来源：tests/module1/cases.json，原有extension.spec.t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解35秒。三种方法按每条用例的主要设计依据互斥统计。字号采用上下界与相邻越界值，重复语言构成无效等价类，最终字幕和会话停止需要按顺序触发状态。阅读源码帮助选择断言，但本次未以数量推断代码覆盖率。来源：cases.json及共享协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解30秒。设置与音频共21条，主要检查配置和输入约束。剩余17条覆盖状态、缓存和外部交互。全部38条均自动执行，浏览器5条中两条加载真实扩展设置页，三条在浏览器中运行构建后的字幕脚本。来源：cases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解40秒。用例不是只断言代码是否能运行，而是针对需求设置可证伪的预期。M1-025揭示最终字幕回退，M1-027揭示容量计算少了一帧。网关正常会话用例通过真正的本地WebSocket运行，固定服务消除了云端随机性。来源：core.test.ts、gateway.test.t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建议讲解35秒。28条核心测试使用纯函数或可控WebSocket，5条网关测试启动随机本地端口，5条浏览器测试使用独立Chromium配置。浮层测试仅替代Chrome消息接口，没有将生产的closed ShadowRoot改为open。测试结束清理连接和浏览器。来源：本轮测试源码与README。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建议讲解35秒。首次执行npm ci和Playwright安装浏览器，然后运行屏幕中的命令。该命令依次完成单元集成测试、Chrome构建和浏览器测试，最后生成summary.json。任意失败或未执行返回非零。演示时可打开结果文件核对编号。来源：run.mjs及实际终端日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解40秒。修复前的三条失败来自两个独立缺陷，字幕缺陷同时被单元和浏览器用例发现，因此不能按失败条数重复计算缺陷。修复后38条全部通过。原有36条单元测试与3条浏览器测试通过，另有1条原有捕获测试跳过。来源：before-unit.json、before-browser/browser.json、after/summary.json和regression.lo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解45秒。先给同片段发送revision2的最终字幕，再发送revision3的临时字幕。原版仅看修订号，导致最终与临时同时出现。左图是原版浏览器失败时的真实截图。共享逻辑和content脚本分别有一份合并逻辑，两处都修复后，单元与浏览器验证才一致。来源：BUG-M1-001，M1-025和M1-037原始失败记录及fixes.patch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解45秒。第二个缺陷在时间窗计算：51帧覆盖2040毫秒，但结束时间相减只有2000毫秒，原版因此未淘汰。修复补计首帧40毫秒，并验证50帧正常保留。另一个工程问题发生在用例隔离：只清空磁盘存储时后台仍缓存旧值，改用settings:set同时重置两层状态。这属于测试环境问题，未计入产品缺陷。来源：M1-026、M1-027、background.ts及browser.spec.t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解35秒。本轮38条用例通过，两个缺陷具备原版失败、最小修复和回归通过证据，类型检查和相关构建成功。交付包括用例表、测试工程、缺陷报告、测试报告、PPT与操作说明。局部通过不意味着整个系统可发布，后续应补充真实音频捕获、云端效果和Safari宿主验收。成员署名及贡献比例待小组合并，AI辅助情况在报告和README中如实说明。来源：最终执行归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d30eb7085f4ef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ef981b703a04c0b" /><Relationship Type="http://schemas.openxmlformats.org/officeDocument/2006/relationships/slideLayout" Target="/ppt/slideLayouts/slideLayout1.xml" Id="R9ff74ed19ae7457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ff74ed19ae7457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8a7abe7bdd4f93" /><Relationship Type="http://schemas.openxmlformats.org/officeDocument/2006/relationships/notesSlide" Target="/ppt/notesSlides/notesSlide1.xml" Id="R84346be3d2b74c0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ee52330bc24ee2" /><Relationship Type="http://schemas.openxmlformats.org/officeDocument/2006/relationships/image" Target="/ppt/media/image.png" Id="R3f1753be10544e00" /><Relationship Type="http://schemas.openxmlformats.org/officeDocument/2006/relationships/notesSlide" Target="/ppt/notesSlides/notesSlide2.xml" Id="R5c1a872f94f44aa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20abc3f47846d1" /><Relationship Type="http://schemas.openxmlformats.org/officeDocument/2006/relationships/notesSlide" Target="/ppt/notesSlides/notesSlide3.xml" Id="Rec5cbbedd999411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a5a3203b23487d" /><Relationship Type="http://schemas.openxmlformats.org/officeDocument/2006/relationships/notesSlide" Target="/ppt/notesSlides/notesSlide4.xml" Id="R74429a62d264483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b7c13d321c424f" /><Relationship Type="http://schemas.openxmlformats.org/officeDocument/2006/relationships/chart" Target="/ppt/slides/charts/chart1.xml" Id="Rcad26bd612714cb1" /><Relationship Type="http://schemas.openxmlformats.org/officeDocument/2006/relationships/notesSlide" Target="/ppt/notesSlides/notesSlide5.xml" Id="R66ba7aadba12476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cbb8c6ce58494c" /><Relationship Type="http://schemas.openxmlformats.org/officeDocument/2006/relationships/notesSlide" Target="/ppt/notesSlides/notesSlide6.xml" Id="R942303899e5048d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3e8409a0464e0a" /><Relationship Type="http://schemas.openxmlformats.org/officeDocument/2006/relationships/notesSlide" Target="/ppt/notesSlides/notesSlide7.xml" Id="R44f26dfd73fa433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e31906ead34413" /><Relationship Type="http://schemas.openxmlformats.org/officeDocument/2006/relationships/notesSlide" Target="/ppt/notesSlides/notesSlide8.xml" Id="Re957f58b42a94d8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8c42948f204f6d" /><Relationship Type="http://schemas.openxmlformats.org/officeDocument/2006/relationships/notesSlide" Target="/ppt/notesSlides/notesSlide9.xml" Id="R699ceb937b804b4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8c33d74e5a4354" /><Relationship Type="http://schemas.openxmlformats.org/officeDocument/2006/relationships/image" Target="/ppt/media/image2.png" Id="R371769ee9f59414c" /><Relationship Type="http://schemas.openxmlformats.org/officeDocument/2006/relationships/notesSlide" Target="/ppt/notesSlides/notesSlide10.xml" Id="Rce3ec8f20cdf495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6a3d4d786d4ebb" /><Relationship Type="http://schemas.openxmlformats.org/officeDocument/2006/relationships/notesSlide" Target="/ppt/notesSlides/notesSlide11.xml" Id="R07ce6d0411b2450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d3f5ac2cb645d1" /><Relationship Type="http://schemas.openxmlformats.org/officeDocument/2006/relationships/notesSlide" Target="/ppt/notesSlides/notesSlide12.xml" Id="Rf38f1127990844e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新增用例数</c:v>
          </c:tx>
          <c:spPr>
            <a:solidFill xmlns:a="http://schemas.openxmlformats.org/drawingml/2006/main">
              <a:srgbClr val="126E79"/>
            </a:solidFill>
          </c:spPr>
          <c:cat>
            <c:strRef>
              <c:f>'Chart Data'!$A$2:$A$7</c:f>
              <c:strCache>
                <c:ptCount val="6"/>
                <c:pt idx="0">
                  <c:v>设置校验</c:v>
                </c:pt>
                <c:pt idx="1">
                  <c:v>音频处理</c:v>
                </c:pt>
                <c:pt idx="2">
                  <c:v>字幕状态</c:v>
                </c:pt>
                <c:pt idx="3">
                  <c:v>客户端缓存</c:v>
                </c:pt>
                <c:pt idx="4">
                  <c:v>网关会话</c:v>
                </c:pt>
                <c:pt idx="5">
                  <c:v>Chrome交互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14</c:v>
                </c:pt>
                <c:pt idx="1">
                  <c:v>7</c:v>
                </c:pt>
                <c:pt idx="2">
                  <c:v>4</c:v>
                </c:pt>
                <c:pt idx="3">
                  <c:v>3</c:v>
                </c:pt>
                <c:pt idx="4">
                  <c:v>5</c:v>
                </c:pt>
                <c:pt idx="5">
                  <c:v>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00" b="1">
                  <a:solidFill>
                    <a:srgbClr val="142E45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9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7D41B8-4861-4680-BCC1-D9782C2DA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E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42E45"/>
                </a:solidFill>
                <a:latin typeface="Arial Unicode MS"/>
                <a:ea typeface="Arial Unicode MS"/>
                <a:cs typeface="Arial Unicode MS"/>
              </a:rPr>
              <a:t>实时双语字幕插件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D4CD7D-C917-4577-BF43-E34B6A9A4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3748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37482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032250-C009-48C5-9C1F-FB5500DD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26E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350" b="1">
                <a:solidFill>
                  <a:srgbClr val="126E79"/>
                </a:solidFill>
                <a:latin typeface="Arial Unicode MS"/>
                <a:ea typeface="Arial Unicode MS"/>
                <a:cs typeface="Arial Unicode MS"/>
              </a:rPr>
              <a:t>模块一测试基础实践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78F7D4-8C93-42C9-98C4-9C014A9D6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38 条新增用例   2 个有效缺陷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031A30-46CE-4D9C-BFB8-136446EA0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本地确定性测试与修复回归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BCA0E1-D1A8-46C3-9B2C-A6034AB75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3748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37482"/>
                </a:solidFill>
                <a:latin typeface="Arial Unicode MS"/>
                <a:ea typeface="Arial Unicode MS"/>
                <a:cs typeface="Arial Unicode MS"/>
              </a:rPr>
              <a:t>2026年9月   小组成员及班级待填写</a:t>
            </a:r>
          </a:p>
        </p:txBody>
      </p:sp>
    </p:spTree>
    <p:extLst>
      <p:ext uri="{BB962C8B-B14F-4D97-AF65-F5344CB8AC3E}">
        <p14:creationId xmlns:p14="http://schemas.microsoft.com/office/powerpoint/2010/main" val="14505604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9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8440BB-BB7A-4805-965C-5D37FD705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E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42E45"/>
                </a:solidFill>
                <a:latin typeface="Arial Unicode MS"/>
                <a:ea typeface="Arial Unicode MS"/>
                <a:cs typeface="Arial Unicode MS"/>
              </a:rPr>
              <a:t>核心功能与系统架构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8A0269-05DE-49B5-BA2F-37FD4EFAB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3748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37482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1CB6D5-C566-44FC-BA12-1DCFE79C2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4953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01 浏览器音频捕获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02 PCM 与 WebSocket 网关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03 识别和翻译服务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04 双语字幕浮层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F59D3B-FAC0-47B8-8FB2-0C7312D05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6E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126E79"/>
                </a:solidFill>
                <a:latin typeface="Arial Unicode MS"/>
                <a:ea typeface="Arial Unicode MS"/>
                <a:cs typeface="Arial Unicode MS"/>
              </a:rPr>
              <a:t>本轮用 fake 服务替代云端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1753be10544e00"/>
          <a:stretch xmlns:a="http://schemas.openxmlformats.org/drawingml/2006/main"/>
        </p:blipFill>
        <p:spPr>
          <a:xfrm xmlns:a="http://schemas.openxmlformats.org/drawingml/2006/main">
            <a:off x="6238875" y="1566416"/>
            <a:ext cx="5143500" cy="43157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0297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9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22393E-D4D6-4E01-9F5F-C12909B16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E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42E45"/>
                </a:solidFill>
                <a:latin typeface="Arial Unicode MS"/>
                <a:ea typeface="Arial Unicode MS"/>
                <a:cs typeface="Arial Unicode MS"/>
              </a:rPr>
              <a:t>本轮测试范围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7E0DCF-ECE1-4AD3-8E67-A29DED5F5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3748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37482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26FEBA-01C1-4976-BF6F-9C24BFF81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6E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26E79"/>
                </a:solidFill>
                <a:latin typeface="Arial Unicode MS"/>
                <a:ea typeface="Arial Unicode MS"/>
                <a:cs typeface="Arial Unicode MS"/>
              </a:rPr>
              <a:t>已验证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929375-0892-4D62-BD57-D340CE4B1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50482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设置与语言数量约束</a:t>
            </a:r>
          </a:p>
          <a:p xmlns:a="http://schemas.openxmlformats.org/drawingml/2006/main">
            <a:pPr>
              <a:defRPr sz="2100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音频帧和降采样</a:t>
            </a:r>
          </a:p>
          <a:p xmlns:a="http://schemas.openxmlformats.org/drawingml/2006/main">
            <a:pPr>
              <a:defRPr sz="2100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字幕状态与两秒缓存</a:t>
            </a:r>
          </a:p>
          <a:p xmlns:a="http://schemas.openxmlformats.org/drawingml/2006/main">
            <a:pPr>
              <a:defRPr sz="2100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本地网关鉴权和停止</a:t>
            </a:r>
          </a:p>
          <a:p xmlns:a="http://schemas.openxmlformats.org/drawingml/2006/main">
            <a:pPr>
              <a:defRPr sz="2100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Chrome 设置及字幕显示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0D5DCB-7D75-43DE-A266-A729C5C8C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19250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63748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637482"/>
                </a:solidFill>
                <a:latin typeface="Arial Unicode MS"/>
                <a:ea typeface="Arial Unicode MS"/>
                <a:cs typeface="Arial Unicode MS"/>
              </a:rPr>
              <a:t>未验收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8DD082-756A-48F3-99EF-61779A608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81250"/>
            <a:ext cx="46672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真实云端识别准确率</a:t>
            </a:r>
          </a:p>
          <a:p xmlns:a="http://schemas.openxmlformats.org/drawingml/2006/main">
            <a:pPr>
              <a:defRPr sz="2100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真实端到端延迟</a:t>
            </a:r>
          </a:p>
          <a:p xmlns:a="http://schemas.openxmlformats.org/drawingml/2006/main">
            <a:pPr>
              <a:defRPr sz="2100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用户手势触发音频捕获</a:t>
            </a:r>
          </a:p>
          <a:p xmlns:a="http://schemas.openxmlformats.org/drawingml/2006/main">
            <a:pPr>
              <a:defRPr sz="2100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Safari 原生宿主及签名</a:t>
            </a:r>
          </a:p>
        </p:txBody>
      </p:sp>
    </p:spTree>
    <p:extLst>
      <p:ext uri="{BB962C8B-B14F-4D97-AF65-F5344CB8AC3E}">
        <p14:creationId xmlns:p14="http://schemas.microsoft.com/office/powerpoint/2010/main" val="9722191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9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699EE8-0DFF-4E66-9F6E-3B5665C02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E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42E45"/>
                </a:solidFill>
                <a:latin typeface="Arial Unicode MS"/>
                <a:ea typeface="Arial Unicode MS"/>
                <a:cs typeface="Arial Unicode MS"/>
              </a:rPr>
              <a:t>测试策略与设计方法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A2C31E-9D69-46C2-9380-217DDE0EF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3748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37482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8D0E90-B2CF-446F-B162-E98CF499D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6E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26E79"/>
                </a:solidFill>
                <a:latin typeface="Arial Unicode MS"/>
                <a:ea typeface="Arial Unicode MS"/>
                <a:cs typeface="Arial Unicode MS"/>
              </a:rPr>
              <a:t>边界值 17 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46C59C-8F39-456D-B673-5A8D0BE44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14500"/>
            <a:ext cx="771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字号 13／14／48／49</a:t>
            </a:r>
          </a:p>
          <a:p xmlns:a="http://schemas.openxmlformats.org/drawingml/2006/main">
            <a:pPr>
              <a:defRPr sz="202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缓存 50 帧与 51 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CBAE2A-79C8-4DCC-8558-9F3392775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6E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26E79"/>
                </a:solidFill>
                <a:latin typeface="Arial Unicode MS"/>
                <a:ea typeface="Arial Unicode MS"/>
                <a:cs typeface="Arial Unicode MS"/>
              </a:rPr>
              <a:t>等价类 4 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AA8FAE-1085-4E02-8CA8-51891A46F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43250"/>
            <a:ext cx="771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重复语言、HTTP 网关地址</a:t>
            </a:r>
          </a:p>
          <a:p xmlns:a="http://schemas.openxmlformats.org/drawingml/2006/main">
            <a:pPr>
              <a:defRPr sz="202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奇数 PCM 字节、无效采样率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312AF2-CF9A-4F83-9109-3A19A89C6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0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6E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26E79"/>
                </a:solidFill>
                <a:latin typeface="Arial Unicode MS"/>
                <a:ea typeface="Arial Unicode MS"/>
                <a:cs typeface="Arial Unicode MS"/>
              </a:rPr>
              <a:t>场景法 17 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D192FE-8579-4ED9-A694-5EC00FB20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572000"/>
            <a:ext cx="771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临时字幕确认、连接代次变化</a:t>
            </a:r>
          </a:p>
          <a:p xmlns:a="http://schemas.openxmlformats.org/drawingml/2006/main">
            <a:pPr>
              <a:defRPr sz="202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握手、字幕流与正常停止</a:t>
            </a:r>
          </a:p>
        </p:txBody>
      </p:sp>
    </p:spTree>
    <p:extLst>
      <p:ext uri="{BB962C8B-B14F-4D97-AF65-F5344CB8AC3E}">
        <p14:creationId xmlns:p14="http://schemas.microsoft.com/office/powerpoint/2010/main" val="20581738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9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E4F27B-30C7-40E3-AEE5-AF0FAA438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E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42E45"/>
                </a:solidFill>
                <a:latin typeface="Arial Unicode MS"/>
                <a:ea typeface="Arial Unicode MS"/>
                <a:cs typeface="Arial Unicode MS"/>
              </a:rPr>
              <a:t>38 条用例的模块分布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D24731-0856-4246-80CA-5EC9F86F8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3748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37482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666750" y="1571625"/>
          <a:ext xmlns:a="http://schemas.openxmlformats.org/drawingml/2006/main" cx="10668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ad26bd612714cb1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B46649-3613-4BAA-B801-88FFA4E5C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57875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3748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37482"/>
                </a:solidFill>
                <a:latin typeface="Arial Unicode MS"/>
                <a:ea typeface="Arial Unicode MS"/>
                <a:cs typeface="Arial Unicode MS"/>
              </a:rPr>
              <a:t>全部自动化   覆盖三种设计方法</a:t>
            </a:r>
          </a:p>
        </p:txBody>
      </p:sp>
    </p:spTree>
    <p:extLst>
      <p:ext uri="{BB962C8B-B14F-4D97-AF65-F5344CB8AC3E}">
        <p14:creationId xmlns:p14="http://schemas.microsoft.com/office/powerpoint/2010/main" val="11047165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9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4CEF7C-5AC4-42D0-A607-5E4B8942A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E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42E45"/>
                </a:solidFill>
                <a:latin typeface="Arial Unicode MS"/>
                <a:ea typeface="Arial Unicode MS"/>
                <a:cs typeface="Arial Unicode MS"/>
              </a:rPr>
              <a:t>典型用例的输入与预期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CB6848-91D1-48AE-9309-07287E12E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3748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37482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66750" y="1666875"/>
          <a:ext xmlns:a="http://schemas.openxmlformats.org/drawingml/2006/main" cx="108585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62125"/>
                <a:gridCol w="4143375"/>
                <a:gridCol w="4953000"/>
              </a:tblGrid>
              <a:tr h="6477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编号</a:t>
                      </a:r>
                    </a:p>
                  </a:txBody>
                  <a:tcPr marL="91440" marR="91440" marT="45720" marB="45720">
                    <a:solidFill>
                      <a:srgbClr val="142E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关键输入</a:t>
                      </a:r>
                    </a:p>
                  </a:txBody>
                  <a:tcPr marL="91440" marR="91440" marT="45720" marB="45720">
                    <a:solidFill>
                      <a:srgbClr val="142E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可检查的预期</a:t>
                      </a:r>
                    </a:p>
                  </a:txBody>
                  <a:tcPr marL="91440" marR="91440" marT="45720" marB="45720">
                    <a:solidFill>
                      <a:srgbClr val="142E45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B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M1-002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B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字号 14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B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合法下界，校验通过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B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M1-025</a:t>
                      </a:r>
                    </a:p>
                  </a:txBody>
                  <a:tcPr marL="91440" marR="91440" marT="45720" marB="45720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B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final rev2 后到 interim rev3</a:t>
                      </a:r>
                    </a:p>
                  </a:txBody>
                  <a:tcPr marL="91440" marR="91440" marT="45720" marB="45720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B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保留最终字幕，临时为空</a:t>
                      </a:r>
                    </a:p>
                  </a:txBody>
                  <a:tcPr marL="91440" marR="91440" marT="45720" marB="45720">
                    <a:solidFill>
                      <a:srgbClr val="EEF3F5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B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M1-027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B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51 个连续 40ms 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B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仅保留最新 50 帧并提示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B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M1-032</a:t>
                      </a:r>
                    </a:p>
                  </a:txBody>
                  <a:tcPr marL="91440" marR="91440" marT="45720" marB="45720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B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hello、PCM、end</a:t>
                      </a:r>
                    </a:p>
                  </a:txBody>
                  <a:tcPr marL="91440" marR="91440" marT="45720" marB="45720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B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最终字幕与正常关闭码</a:t>
                      </a:r>
                    </a:p>
                  </a:txBody>
                  <a:tcPr marL="91440" marR="91440" marT="45720" marB="45720">
                    <a:solidFill>
                      <a:srgbClr val="EEF3F5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52570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9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059AE2-D147-4DEA-B308-CC915B653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E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42E45"/>
                </a:solidFill>
                <a:latin typeface="Arial Unicode MS"/>
                <a:ea typeface="Arial Unicode MS"/>
                <a:cs typeface="Arial Unicode MS"/>
              </a:rPr>
              <a:t>自动化设计与隔离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D88E63-C97F-4137-88F2-2DAED8FB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3748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37482"/>
                </a:solidFill>
                <a:latin typeface="Arial Unicode MS"/>
                <a:ea typeface="Arial Unicode MS"/>
                <a:cs typeface="Arial Unicode MS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9E7F3D-E23B-4879-8FF4-DF0B348CF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6E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26E79"/>
                </a:solidFill>
                <a:latin typeface="Arial Unicode MS"/>
                <a:ea typeface="Arial Unicode MS"/>
                <a:cs typeface="Arial Unicode MS"/>
              </a:rPr>
              <a:t>Vitest 28 + 5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956EF1-BF8B-4790-90FC-FA9A55435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666875"/>
            <a:ext cx="771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纯函数、MockSocket</a:t>
            </a:r>
          </a:p>
          <a:p xmlns:a="http://schemas.openxmlformats.org/drawingml/2006/main">
            <a:pPr>
              <a:defRPr sz="202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真实本地网关与 fake provider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6BFB8E-56D5-406F-816E-79CFE7B32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6E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26E79"/>
                </a:solidFill>
                <a:latin typeface="Arial Unicode MS"/>
                <a:ea typeface="Arial Unicode MS"/>
                <a:cs typeface="Arial Unicode MS"/>
              </a:rPr>
              <a:t>Playwright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ADC931-1CFB-43B2-82FA-AE6BB85A7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95625"/>
            <a:ext cx="771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真实 MV3 设置页</a:t>
            </a:r>
          </a:p>
          <a:p xmlns:a="http://schemas.openxmlformats.org/drawingml/2006/main">
            <a:pPr>
              <a:defRPr sz="202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构建后的 content.js 与固定事件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3F56A8-7F57-456E-BE6F-EB99B43E0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24375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6E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26E79"/>
                </a:solidFill>
                <a:latin typeface="Arial Unicode MS"/>
                <a:ea typeface="Arial Unicode MS"/>
                <a:cs typeface="Arial Unicode MS"/>
              </a:rPr>
              <a:t>统一编号与证据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D87E3F-B12E-46F1-A57D-DC496FFD5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524375"/>
            <a:ext cx="771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M1 编号贯穿 Excel、脚本和 JSON</a:t>
            </a:r>
          </a:p>
          <a:p xmlns:a="http://schemas.openxmlformats.org/drawingml/2006/main">
            <a:pPr>
              <a:defRPr sz="202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失败截图、日志与源码哈希可追溯</a:t>
            </a:r>
          </a:p>
        </p:txBody>
      </p:sp>
    </p:spTree>
    <p:extLst>
      <p:ext uri="{BB962C8B-B14F-4D97-AF65-F5344CB8AC3E}">
        <p14:creationId xmlns:p14="http://schemas.microsoft.com/office/powerpoint/2010/main" val="13892669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9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379DCC-6162-4DC4-9947-0D2DE107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E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42E45"/>
                </a:solidFill>
                <a:latin typeface="Arial Unicode MS"/>
                <a:ea typeface="Arial Unicode MS"/>
                <a:cs typeface="Arial Unicode MS"/>
              </a:rPr>
              <a:t>一键运行与结果文件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E8B37A-EB64-4A0F-B48F-5AB69485A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3748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37482"/>
                </a:solidFill>
                <a:latin typeface="Arial Unicode MS"/>
                <a:ea typeface="Arial Unicode MS"/>
                <a:cs typeface="Arial Unicode MS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0934AB-D782-4CEA-B9D1-8B7A0E49D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26E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675" b="1">
                <a:solidFill>
                  <a:srgbClr val="126E79"/>
                </a:solidFill>
                <a:latin typeface="Arial Unicode MS"/>
                <a:ea typeface="Arial Unicode MS"/>
                <a:cs typeface="Arial Unicode MS"/>
              </a:rPr>
              <a:t>npm run test:module1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AA23B9-EE9C-494A-8FC1-FF7815807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495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33 条 Vitest 测试</a:t>
            </a:r>
          </a:p>
          <a:p xmlns:a="http://schemas.openxmlformats.org/drawingml/2006/main">
            <a:pPr>
              <a:defRPr sz="2250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Chrome 扩展构建</a:t>
            </a:r>
          </a:p>
          <a:p xmlns:a="http://schemas.openxmlformats.org/drawingml/2006/main">
            <a:pPr>
              <a:defRPr sz="2250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5 条 Playwright 测试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6BCC02-2B66-42E3-B2BE-3BCDEF0FF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48000"/>
            <a:ext cx="5000625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summary.json  逐用例结果</a:t>
            </a:r>
          </a:p>
          <a:p xmlns:a="http://schemas.openxmlformats.org/drawingml/2006/main">
            <a:pPr>
              <a:defRPr sz="202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unit.json  原始断言</a:t>
            </a:r>
          </a:p>
          <a:p xmlns:a="http://schemas.openxmlformats.org/drawingml/2006/main">
            <a:pPr>
              <a:defRPr sz="202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browser.json  浏览器结果</a:t>
            </a:r>
          </a:p>
          <a:p xmlns:a="http://schemas.openxmlformats.org/drawingml/2006/main">
            <a:pPr>
              <a:defRPr sz="202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browser-artifacts  截图与 trace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F3B20F-ED7E-4ECA-80D0-7D74A2863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3748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37482"/>
                </a:solidFill>
                <a:latin typeface="Arial Unicode MS"/>
                <a:ea typeface="Arial Unicode MS"/>
                <a:cs typeface="Arial Unicode MS"/>
              </a:rPr>
              <a:t>成功退出码 0   失败或未执行返回非零</a:t>
            </a:r>
          </a:p>
        </p:txBody>
      </p:sp>
    </p:spTree>
    <p:extLst>
      <p:ext uri="{BB962C8B-B14F-4D97-AF65-F5344CB8AC3E}">
        <p14:creationId xmlns:p14="http://schemas.microsoft.com/office/powerpoint/2010/main" val="83040978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9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ACF734-5826-423F-8262-25F83EFF6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E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42E45"/>
                </a:solidFill>
                <a:latin typeface="Arial Unicode MS"/>
                <a:ea typeface="Arial Unicode MS"/>
                <a:cs typeface="Arial Unicode MS"/>
              </a:rPr>
              <a:t>修复前后执行结果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B426FF-3F6E-444A-B115-0FC2FEA8A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3748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37482"/>
                </a:solidFill>
                <a:latin typeface="Arial Unicode MS"/>
                <a:ea typeface="Arial Unicode MS"/>
                <a:cs typeface="Arial Unicode MS"/>
              </a:rPr>
              <a:t>09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66750" y="1714500"/>
          <a:ext xmlns:a="http://schemas.openxmlformats.org/drawingml/2006/main" cx="108585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143500"/>
                <a:gridCol w="1905000"/>
                <a:gridCol w="1905000"/>
                <a:gridCol w="1905000"/>
              </a:tblGrid>
              <a:tr h="6477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测试批次</a:t>
                      </a:r>
                    </a:p>
                  </a:txBody>
                  <a:tcPr marL="91440" marR="91440" marT="45720" marB="45720">
                    <a:solidFill>
                      <a:srgbClr val="142E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通过</a:t>
                      </a:r>
                    </a:p>
                  </a:txBody>
                  <a:tcPr marL="91440" marR="91440" marT="45720" marB="45720">
                    <a:solidFill>
                      <a:srgbClr val="142E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失败</a:t>
                      </a:r>
                    </a:p>
                  </a:txBody>
                  <a:tcPr marL="91440" marR="91440" marT="45720" marB="45720">
                    <a:solidFill>
                      <a:srgbClr val="142E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跳过</a:t>
                      </a:r>
                    </a:p>
                  </a:txBody>
                  <a:tcPr marL="91440" marR="91440" marT="45720" marB="45720">
                    <a:solidFill>
                      <a:srgbClr val="142E45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B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本轮原版 38 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B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B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B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B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本轮修复后 38 条</a:t>
                      </a:r>
                    </a:p>
                  </a:txBody>
                  <a:tcPr marL="91440" marR="91440" marT="45720" marB="45720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B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38</a:t>
                      </a:r>
                    </a:p>
                  </a:txBody>
                  <a:tcPr marL="91440" marR="91440" marT="45720" marB="45720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B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B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EF3F5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B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原有单元测试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B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B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B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B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原有浏览器测试</a:t>
                      </a:r>
                    </a:p>
                  </a:txBody>
                  <a:tcPr marL="91440" marR="91440" marT="45720" marB="45720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B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B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B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EEF3F5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41C4EC-326F-4F9B-9A03-7396AD9B4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26E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26E79"/>
                </a:solidFill>
                <a:latin typeface="Arial Unicode MS"/>
                <a:ea typeface="Arial Unicode MS"/>
                <a:cs typeface="Arial Unicode MS"/>
              </a:rPr>
              <a:t>本轮通过率 92.1% 提升至 100%</a:t>
            </a:r>
          </a:p>
          <a:p xmlns:a="http://schemas.openxmlformats.org/drawingml/2006/main">
            <a:pPr>
              <a:defRPr sz="2175" b="1">
                <a:solidFill>
                  <a:srgbClr val="126E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26E79"/>
                </a:solidFill>
                <a:latin typeface="Arial Unicode MS"/>
                <a:ea typeface="Arial Unicode MS"/>
                <a:cs typeface="Arial Unicode MS"/>
              </a:rPr>
              <a:t>3 条失败断言对应 2 个独立缺陷</a:t>
            </a:r>
          </a:p>
        </p:txBody>
      </p:sp>
    </p:spTree>
    <p:extLst>
      <p:ext uri="{BB962C8B-B14F-4D97-AF65-F5344CB8AC3E}">
        <p14:creationId xmlns:p14="http://schemas.microsoft.com/office/powerpoint/2010/main" val="15713936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9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AAE823-98A6-4C40-B824-9CE3C150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E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42E45"/>
                </a:solidFill>
                <a:latin typeface="Arial Unicode MS"/>
                <a:ea typeface="Arial Unicode MS"/>
                <a:cs typeface="Arial Unicode MS"/>
              </a:rPr>
              <a:t>典型缺陷  最终字幕重复显示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278C58-2D3A-47CE-8DC7-654505291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3748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37482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1769ee9f59414c"/>
          <a:stretch xmlns:a="http://schemas.openxmlformats.org/drawingml/2006/main"/>
        </p:blipFill>
        <p:spPr>
          <a:xfrm xmlns:a="http://schemas.openxmlformats.org/drawingml/2006/main">
            <a:off x="571500" y="1718072"/>
            <a:ext cx="6953250" cy="4345781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865655-802D-4DE7-BAD8-219E977F4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66875"/>
            <a:ext cx="361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26E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26E79"/>
                </a:solidFill>
                <a:latin typeface="Arial Unicode MS"/>
                <a:ea typeface="Arial Unicode MS"/>
                <a:cs typeface="Arial Unicode MS"/>
              </a:rPr>
              <a:t>BUG-M1-001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77052D-D519-4426-AAA6-32B7A6BD1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81250"/>
            <a:ext cx="3429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输入</a:t>
            </a:r>
          </a:p>
          <a:p xmlns:a="http://schemas.openxmlformats.org/drawingml/2006/main">
            <a:pPr>
              <a:defRPr sz="187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final rev2 后到 interim rev3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原版</a:t>
            </a:r>
          </a:p>
          <a:p xmlns:a="http://schemas.openxmlformats.org/drawingml/2006/main">
            <a:pPr>
              <a:defRPr sz="187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同一片段显示两份文本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修复</a:t>
            </a:r>
          </a:p>
          <a:p xmlns:a="http://schemas.openxmlformats.org/drawingml/2006/main">
            <a:pPr>
              <a:defRPr sz="187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同代次最终片段拒绝回退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验证</a:t>
            </a:r>
          </a:p>
          <a:p xmlns:a="http://schemas.openxmlformats.org/drawingml/2006/main">
            <a:pPr>
              <a:defRPr sz="187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M1-025 与 M1-037 通过</a:t>
            </a:r>
          </a:p>
        </p:txBody>
      </p:sp>
    </p:spTree>
    <p:extLst>
      <p:ext uri="{BB962C8B-B14F-4D97-AF65-F5344CB8AC3E}">
        <p14:creationId xmlns:p14="http://schemas.microsoft.com/office/powerpoint/2010/main" val="87137682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9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22398D-CD71-48F1-BAF0-88F5F3690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E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42E45"/>
                </a:solidFill>
                <a:latin typeface="Arial Unicode MS"/>
                <a:ea typeface="Arial Unicode MS"/>
                <a:cs typeface="Arial Unicode MS"/>
              </a:rPr>
              <a:t>边界发现与测试隔离问题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2D96C6-4E57-44A2-AB99-E7DBA7ACD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3748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37482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EDAF95-E31E-401B-835D-F870F752D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6E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26E79"/>
                </a:solidFill>
                <a:latin typeface="Arial Unicode MS"/>
                <a:ea typeface="Arial Unicode MS"/>
                <a:cs typeface="Arial Unicode MS"/>
              </a:rPr>
              <a:t>BUG-M1-002  缓存多保留一帧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151063-5F91-47F1-80FB-A625FDCB0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24125"/>
            <a:ext cx="1066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51 × 40ms = 2040ms</a:t>
            </a:r>
          </a:p>
          <a:p xmlns:a="http://schemas.openxmlformats.org/drawingml/2006/main">
            <a:pPr>
              <a:defRPr sz="2400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原版只比较 2040 − 40 = 2000ms</a:t>
            </a:r>
          </a:p>
          <a:p xmlns:a="http://schemas.openxmlformats.org/drawingml/2006/main">
            <a:pPr>
              <a:defRPr sz="2400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补计首帧时长后，仅保留最新 50 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5C711B-D219-46C4-9BB3-603CED5C5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962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测试隔离中的一次失败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AE16ED-7532-4C90-8529-FD068976D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清空 storage.local 后后台仍有缓存</a:t>
            </a:r>
          </a:p>
          <a:p xmlns:a="http://schemas.openxmlformats.org/drawingml/2006/main">
            <a:pPr>
              <a:defRPr sz="202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通过 settings:set 重置内存与持久化状态，未计为产品缺陷</a:t>
            </a:r>
          </a:p>
        </p:txBody>
      </p:sp>
    </p:spTree>
    <p:extLst>
      <p:ext uri="{BB962C8B-B14F-4D97-AF65-F5344CB8AC3E}">
        <p14:creationId xmlns:p14="http://schemas.microsoft.com/office/powerpoint/2010/main" val="125903546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9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BFF278-AB01-4E53-BCB0-62B0F09A5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E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42E45"/>
                </a:solidFill>
                <a:latin typeface="Arial Unicode MS"/>
                <a:ea typeface="Arial Unicode MS"/>
                <a:cs typeface="Arial Unicode MS"/>
              </a:rPr>
              <a:t>测试结论与后续验收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C6749F-D3AD-49FF-8527-8B95892ED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3748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37482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08C96C-85C7-435E-AA5F-42CA4790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5715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300" b="1">
                <a:solidFill>
                  <a:srgbClr val="126E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300" b="1">
                <a:solidFill>
                  <a:srgbClr val="126E79"/>
                </a:solidFill>
                <a:latin typeface="Arial Unicode MS"/>
                <a:ea typeface="Arial Unicode MS"/>
                <a:cs typeface="Arial Unicode MS"/>
              </a:rPr>
              <a:t>38 / 38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48C5C7-726C-4BA9-BAA5-A596640A4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571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本轮用例全部通过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4CD245-09CB-4599-AA18-D826514AB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48125"/>
            <a:ext cx="1047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2 个有效缺陷完成修复与回归</a:t>
            </a:r>
          </a:p>
          <a:p xmlns:a="http://schemas.openxmlformats.org/drawingml/2006/main">
            <a:pPr>
              <a:defRPr sz="2400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63B4A"/>
                </a:solidFill>
                <a:latin typeface="Arial Unicode MS"/>
                <a:ea typeface="Arial Unicode MS"/>
                <a:cs typeface="Arial Unicode MS"/>
              </a:rPr>
              <a:t>原有测试、类型检查及构建通过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561986-3A38-42C0-AA7F-D86329EAA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3748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37482"/>
                </a:solidFill>
                <a:latin typeface="Arial Unicode MS"/>
                <a:ea typeface="Arial Unicode MS"/>
                <a:cs typeface="Arial Unicode MS"/>
              </a:rPr>
              <a:t>后续验收：真实音频捕获、云端效果、Safari 宿主</a:t>
            </a:r>
          </a:p>
          <a:p xmlns:a="http://schemas.openxmlformats.org/drawingml/2006/main">
            <a:pPr>
              <a:defRPr sz="1800" b="0">
                <a:solidFill>
                  <a:srgbClr val="63748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37482"/>
                </a:solidFill>
                <a:latin typeface="Arial Unicode MS"/>
                <a:ea typeface="Arial Unicode MS"/>
                <a:cs typeface="Arial Unicode MS"/>
              </a:rPr>
              <a:t>成员身份与最终贡献比例待小组合并填写</a:t>
            </a:r>
          </a:p>
        </p:txBody>
      </p:sp>
    </p:spTree>
    <p:extLst>
      <p:ext uri="{BB962C8B-B14F-4D97-AF65-F5344CB8AC3E}">
        <p14:creationId xmlns:p14="http://schemas.microsoft.com/office/powerpoint/2010/main" val="17436659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2026-09-11T01:29:58.9190000Z</dcterms:created>
  <dcterms:modified xsi:type="dcterms:W3CDTF">2026-09-11T01:29:58.9190000Z</dcterms:modified>
</coreProperties>
</file>