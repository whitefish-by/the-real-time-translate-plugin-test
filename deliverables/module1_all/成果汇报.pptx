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embeddings/Workbook1.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591a9e6006458e" /><Relationship Type="http://schemas.openxmlformats.org/officeDocument/2006/relationships/extended-properties" Target="/docProps/app.xml" Id="R2087217059514813" /><Relationship Type="http://schemas.openxmlformats.org/officeDocument/2006/relationships/officeDocument" Target="/ppt/presentation.xml" Id="Rde42c362d52940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5536a70a084ce8"/>
  </p:sldMasterIdLst>
  <p:notesMasterIdLst>
    <p:notesMasterId xmlns:r="http://schemas.openxmlformats.org/officeDocument/2006/relationships" r:id="R0e8b65ef6fdf4af5"/>
  </p:notesMasterIdLst>
  <p:sldIdLst>
    <p:sldId xmlns:r="http://schemas.openxmlformats.org/officeDocument/2006/relationships" id="256" r:id="R914a24f2ee24416d"/>
    <p:sldId xmlns:r="http://schemas.openxmlformats.org/officeDocument/2006/relationships" id="257" r:id="Raf12e77df55c4411"/>
    <p:sldId xmlns:r="http://schemas.openxmlformats.org/officeDocument/2006/relationships" id="258" r:id="R5e795d520a864b3a"/>
    <p:sldId xmlns:r="http://schemas.openxmlformats.org/officeDocument/2006/relationships" id="259" r:id="Rbb9971d68f784a36"/>
    <p:sldId xmlns:r="http://schemas.openxmlformats.org/officeDocument/2006/relationships" id="260" r:id="Rf3633f7adb1246fd"/>
    <p:sldId xmlns:r="http://schemas.openxmlformats.org/officeDocument/2006/relationships" id="261" r:id="R6c806cea3f074372"/>
    <p:sldId xmlns:r="http://schemas.openxmlformats.org/officeDocument/2006/relationships" id="262" r:id="R4725e74a15a34ed1"/>
    <p:sldId xmlns:r="http://schemas.openxmlformats.org/officeDocument/2006/relationships" id="263" r:id="R05bb5b452f274b20"/>
    <p:sldId xmlns:r="http://schemas.openxmlformats.org/officeDocument/2006/relationships" id="264" r:id="R4e7e39d9687a4aad"/>
    <p:sldId xmlns:r="http://schemas.openxmlformats.org/officeDocument/2006/relationships" id="265" r:id="Rcaae885dcc634d2e"/>
    <p:sldId xmlns:r="http://schemas.openxmlformats.org/officeDocument/2006/relationships" id="266" r:id="R3c4b7279a25b4fdc"/>
    <p:sldId xmlns:r="http://schemas.openxmlformats.org/officeDocument/2006/relationships" id="267" r:id="Rc35003278184468a"/>
    <p:sldId xmlns:r="http://schemas.openxmlformats.org/officeDocument/2006/relationships" id="268" r:id="Rab32675a27874ed5"/>
    <p:sldId xmlns:r="http://schemas.openxmlformats.org/officeDocument/2006/relationships" id="269" r:id="R1ab0fe664e56494b"/>
    <p:sldId xmlns:r="http://schemas.openxmlformats.org/officeDocument/2006/relationships" id="270" r:id="R94c04177d5324950"/>
    <p:sldId xmlns:r="http://schemas.openxmlformats.org/officeDocument/2006/relationships" id="271" r:id="R406fb63a5a8c48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8632c0067f4019" /><Relationship Type="http://schemas.openxmlformats.org/officeDocument/2006/relationships/slideMaster" Target="/ppt/slideMasters/slideMaster1.xml" Id="Rea5536a70a084ce8" /><Relationship Type="http://schemas.openxmlformats.org/officeDocument/2006/relationships/notesMaster" Target="/ppt/notesMasters/notesMaster1.xml" Id="R0e8b65ef6fdf4af5" /><Relationship Type="http://schemas.openxmlformats.org/officeDocument/2006/relationships/presProps" Target="/ppt/presProps.xml" Id="R5a3209bd5dba40bb" /><Relationship Type="http://schemas.openxmlformats.org/officeDocument/2006/relationships/viewProps" Target="/ppt/viewProps.xml" Id="R4bb54ea83c204d16" /><Relationship Type="http://schemas.openxmlformats.org/officeDocument/2006/relationships/tableStyles" Target="/ppt/tableStyles.xml" Id="R43777d992cee497c" /><Relationship Type="http://schemas.openxmlformats.org/officeDocument/2006/relationships/slide" Target="/ppt/slides/slide1.xml" Id="R914a24f2ee24416d" /><Relationship Type="http://schemas.openxmlformats.org/officeDocument/2006/relationships/slide" Target="/ppt/slides/slide2.xml" Id="Raf12e77df55c4411" /><Relationship Type="http://schemas.openxmlformats.org/officeDocument/2006/relationships/slide" Target="/ppt/slides/slide3.xml" Id="R5e795d520a864b3a" /><Relationship Type="http://schemas.openxmlformats.org/officeDocument/2006/relationships/slide" Target="/ppt/slides/slide4.xml" Id="Rbb9971d68f784a36" /><Relationship Type="http://schemas.openxmlformats.org/officeDocument/2006/relationships/slide" Target="/ppt/slides/slide5.xml" Id="Rf3633f7adb1246fd" /><Relationship Type="http://schemas.openxmlformats.org/officeDocument/2006/relationships/slide" Target="/ppt/slides/slide6.xml" Id="R6c806cea3f074372" /><Relationship Type="http://schemas.openxmlformats.org/officeDocument/2006/relationships/slide" Target="/ppt/slides/slide7.xml" Id="R4725e74a15a34ed1" /><Relationship Type="http://schemas.openxmlformats.org/officeDocument/2006/relationships/slide" Target="/ppt/slides/slide8.xml" Id="R05bb5b452f274b20" /><Relationship Type="http://schemas.openxmlformats.org/officeDocument/2006/relationships/slide" Target="/ppt/slides/slide9.xml" Id="R4e7e39d9687a4aad" /><Relationship Type="http://schemas.openxmlformats.org/officeDocument/2006/relationships/slide" Target="/ppt/slides/slide10.xml" Id="Rcaae885dcc634d2e" /><Relationship Type="http://schemas.openxmlformats.org/officeDocument/2006/relationships/slide" Target="/ppt/slides/slide11.xml" Id="R3c4b7279a25b4fdc" /><Relationship Type="http://schemas.openxmlformats.org/officeDocument/2006/relationships/slide" Target="/ppt/slides/slide12.xml" Id="Rc35003278184468a" /><Relationship Type="http://schemas.openxmlformats.org/officeDocument/2006/relationships/slide" Target="/ppt/slides/slide13.xml" Id="Rab32675a27874ed5" /><Relationship Type="http://schemas.openxmlformats.org/officeDocument/2006/relationships/slide" Target="/ppt/slides/slide14.xml" Id="R1ab0fe664e56494b" /><Relationship Type="http://schemas.openxmlformats.org/officeDocument/2006/relationships/slide" Target="/ppt/slides/slide15.xml" Id="R94c04177d5324950" /><Relationship Type="http://schemas.openxmlformats.org/officeDocument/2006/relationships/slide" Target="/ppt/slides/slide16.xml" Id="R406fb63a5a8c48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788a1594e44d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2d3b08234f4d9b" /><Relationship Type="http://schemas.openxmlformats.org/officeDocument/2006/relationships/notesMaster" Target="/ppt/notesMasters/notesMaster1.xml" Id="Rcae1619b0bd44d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f37440979e4915" /><Relationship Type="http://schemas.openxmlformats.org/officeDocument/2006/relationships/notesMaster" Target="/ppt/notesMasters/notesMaster1.xml" Id="R7a1d2ba5857a45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1ceec58003406d" /><Relationship Type="http://schemas.openxmlformats.org/officeDocument/2006/relationships/notesMaster" Target="/ppt/notesMasters/notesMaster1.xml" Id="R593996f05bbf4a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a4dc82e7d1492c" /><Relationship Type="http://schemas.openxmlformats.org/officeDocument/2006/relationships/notesMaster" Target="/ppt/notesMasters/notesMaster1.xml" Id="Rb54363a43f284a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6f202ab3344f25" /><Relationship Type="http://schemas.openxmlformats.org/officeDocument/2006/relationships/notesMaster" Target="/ppt/notesMasters/notesMaster1.xml" Id="R7bae0d2b08ec45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6997c04ee84b97" /><Relationship Type="http://schemas.openxmlformats.org/officeDocument/2006/relationships/notesMaster" Target="/ppt/notesMasters/notesMaster1.xml" Id="Rda16ea0e80bb41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ffce0ee45a4a70" /><Relationship Type="http://schemas.openxmlformats.org/officeDocument/2006/relationships/notesMaster" Target="/ppt/notesMasters/notesMaster1.xml" Id="R7cda887bf2b24d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98ae2e54354eef" /><Relationship Type="http://schemas.openxmlformats.org/officeDocument/2006/relationships/notesMaster" Target="/ppt/notesMasters/notesMaster1.xml" Id="R2bbdcd26853e4b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f981ee36594b22" /><Relationship Type="http://schemas.openxmlformats.org/officeDocument/2006/relationships/notesMaster" Target="/ppt/notesMasters/notesMaster1.xml" Id="R2c08c6cc4d1242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5a49e880b146b6" /><Relationship Type="http://schemas.openxmlformats.org/officeDocument/2006/relationships/notesMaster" Target="/ppt/notesMasters/notesMaster1.xml" Id="Ra63e1ef4cfb443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82999522d54ccd" /><Relationship Type="http://schemas.openxmlformats.org/officeDocument/2006/relationships/notesMaster" Target="/ppt/notesMasters/notesMaster1.xml" Id="R981e2cccd50542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7172e7aedf4550" /><Relationship Type="http://schemas.openxmlformats.org/officeDocument/2006/relationships/notesMaster" Target="/ppt/notesMasters/notesMaster1.xml" Id="R47652c4c24624f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c6deaa36b140c4" /><Relationship Type="http://schemas.openxmlformats.org/officeDocument/2006/relationships/notesMaster" Target="/ppt/notesMasters/notesMaster1.xml" Id="R488c5d17221549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62ac90108c4c59" /><Relationship Type="http://schemas.openxmlformats.org/officeDocument/2006/relationships/notesMaster" Target="/ppt/notesMasters/notesMaster1.xml" Id="Rd04547edbc3d42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7f8b007c6d4659" /><Relationship Type="http://schemas.openxmlformats.org/officeDocument/2006/relationships/notesMaster" Target="/ppt/notesMasters/notesMaster1.xml" Id="R6c669896bac14b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f6fa24d8a34683" /><Relationship Type="http://schemas.openxmlformats.org/officeDocument/2006/relationships/notesMaster" Target="/ppt/notesMasters/notesMaster1.xml" Id="Rf15d755ab71745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实时双语字幕插件模块一测试。课程用例 M1-001 至 M1-062，共 62 条，修复后全部通过。执行日期为 2026-09-11。测试清单、缺陷清单及 evidence/summary.json 提供编号和结果记录。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实时双语字幕插件模块一测试。课程用例 M1-001 至 M1-062，共 62 条，修复后全部通过。执行日期为 2026-09-11。测试清单、缺陷清单及 evidence/summary.json 提供编号和结果记录。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实时双语字幕插件模块一测试。课程用例 M1-001 至 M1-062，共 62 条，修复后全部通过。执行日期为 2026-09-11。测试清单、缺陷清单及 evidence/summary.json 提供编号和结果记录。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实时双语字幕插件模块一测试。课程用例 M1-001 至 M1-062，共 62 条，修复后全部通过。执行日期为 2026-09-11。测试清单、缺陷清单及 evidence/summary.json 提供编号和结果记录。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实时双语字幕插件模块一测试。课程用例 M1-001 至 M1-062，共 62 条，修复后全部通过。执行日期为 2026-09-11。测试清单、缺陷清单及 evidence/summary.json 提供编号和结果记录。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实时双语字幕插件模块一测试。课程用例 M1-001 至 M1-062，共 62 条，修复后全部通过。执行日期为 2026-09-11。测试清单、缺陷清单及 evidence/summary.json 提供编号和结果记录。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实时双语字幕插件模块一测试。课程用例 M1-001 至 M1-062，共 62 条，修复后全部通过。执行日期为 2026-09-11。测试清单、缺陷清单及 evidence/summary.json 提供编号和结果记录。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实时双语字幕插件模块一测试。课程用例 M1-001 至 M1-062，共 62 条，修复后全部通过。执行日期为 2026-09-11。测试清单、缺陷清单及 evidence/summary.json 提供编号和结果记录。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实时双语字幕插件模块一测试。课程用例 M1-001 至 M1-062，共 62 条，修复后全部通过。执行日期为 2026-09-11。测试清单、缺陷清单及 evidence/summary.json 提供编号和结果记录。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实时双语字幕插件模块一测试。课程用例 M1-001 至 M1-062，共 62 条，修复后全部通过。执行日期为 2026-09-11。测试清单、缺陷清单及 evidence/summary.json 提供编号和结果记录。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实时双语字幕插件模块一测试。课程用例 M1-001 至 M1-062，共 62 条，修复后全部通过。执行日期为 2026-09-11。测试清单、缺陷清单及 evidence/summary.json 提供编号和结果记录。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实时双语字幕插件模块一测试。课程用例 M1-001 至 M1-062，共 62 条，修复后全部通过。执行日期为 2026-09-11。测试清单、缺陷清单及 evidence/summary.json 提供编号和结果记录。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实时双语字幕插件模块一测试。课程用例 M1-001 至 M1-062，共 62 条，修复后全部通过。执行日期为 2026-09-11。测试清单、缺陷清单及 evidence/summary.json 提供编号和结果记录。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实时双语字幕插件模块一测试。课程用例 M1-001 至 M1-062，共 62 条，修复后全部通过。执行日期为 2026-09-11。测试清单、缺陷清单及 evidence/summary.json 提供编号和结果记录。浏览器关闭码约束参考：https://websockets.spec.whatwg.org/#dom-websocket-close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实时双语字幕插件模块一测试。课程用例 M1-001 至 M1-062，共 62 条，修复后全部通过。执行日期为 2026-09-11。测试清单、缺陷清单及 evidence/summary.json 提供编号和结果记录。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实时双语字幕插件模块一测试。课程用例 M1-001 至 M1-062，共 62 条，修复后全部通过。执行日期为 2026-09-11。测试清单、缺陷清单及 evidence/summary.json 提供编号和结果记录。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2e2648ba34d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b5f3cdaf7e4092" /><Relationship Type="http://schemas.openxmlformats.org/officeDocument/2006/relationships/slideLayout" Target="/ppt/slideLayouts/slideLayout1.xml" Id="Ra0d4778fe81545c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d4778fe81545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d3eb78bc447af" /><Relationship Type="http://schemas.openxmlformats.org/officeDocument/2006/relationships/notesSlide" Target="/ppt/notesSlides/notesSlide1.xml" Id="R7ee58e822e2749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856963a124a7a" /><Relationship Type="http://schemas.openxmlformats.org/officeDocument/2006/relationships/image" Target="/ppt/media/image.png" Id="Raeffe5ffaeee43f6" /><Relationship Type="http://schemas.openxmlformats.org/officeDocument/2006/relationships/notesSlide" Target="/ppt/notesSlides/notesSlide2.xml" Id="R21567c16272d41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d7b703fa24dd8" /><Relationship Type="http://schemas.openxmlformats.org/officeDocument/2006/relationships/notesSlide" Target="/ppt/notesSlides/notesSlide3.xml" Id="R3a37854f92b94a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12b31b0f2461f" /><Relationship Type="http://schemas.openxmlformats.org/officeDocument/2006/relationships/notesSlide" Target="/ppt/notesSlides/notesSlide4.xml" Id="R2b6bb5f50bb34b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49004b1404cd9" /><Relationship Type="http://schemas.openxmlformats.org/officeDocument/2006/relationships/chart" Target="/ppt/slides/charts/chart1.xml" Id="R4006e8a442bc4a67" /><Relationship Type="http://schemas.openxmlformats.org/officeDocument/2006/relationships/notesSlide" Target="/ppt/notesSlides/notesSlide5.xml" Id="R27dca2ef72b349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3edba9e3e40e5" /><Relationship Type="http://schemas.openxmlformats.org/officeDocument/2006/relationships/notesSlide" Target="/ppt/notesSlides/notesSlide6.xml" Id="R2ba6a1f931c44f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2159205ea4265" /><Relationship Type="http://schemas.openxmlformats.org/officeDocument/2006/relationships/notesSlide" Target="/ppt/notesSlides/notesSlide7.xml" Id="R4b83e744910a4b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e4aff21794621" /><Relationship Type="http://schemas.openxmlformats.org/officeDocument/2006/relationships/notesSlide" Target="/ppt/notesSlides/notesSlide8.xml" Id="Rc4c46fda5c2644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bbc50effb4e9a" /><Relationship Type="http://schemas.openxmlformats.org/officeDocument/2006/relationships/notesSlide" Target="/ppt/notesSlides/notesSlide9.xml" Id="R84f188a9154b49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cc7ed8bbf4455" /><Relationship Type="http://schemas.openxmlformats.org/officeDocument/2006/relationships/image" Target="/ppt/media/image2.png" Id="Rdc5dbd2f319b4a41" /><Relationship Type="http://schemas.openxmlformats.org/officeDocument/2006/relationships/notesSlide" Target="/ppt/notesSlides/notesSlide10.xml" Id="R3f090c9b544a4a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6f0d8020d4f1b" /><Relationship Type="http://schemas.openxmlformats.org/officeDocument/2006/relationships/notesSlide" Target="/ppt/notesSlides/notesSlide11.xml" Id="Re931ff43e38f40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33cdd7cb94bc1" /><Relationship Type="http://schemas.openxmlformats.org/officeDocument/2006/relationships/notesSlide" Target="/ppt/notesSlides/notesSlide12.xml" Id="Ref0da2c674794f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8b3376cd84c93" /><Relationship Type="http://schemas.openxmlformats.org/officeDocument/2006/relationships/notesSlide" Target="/ppt/notesSlides/notesSlide13.xml" Id="R9346e6bf56a44f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fb14f0c564c71" /><Relationship Type="http://schemas.openxmlformats.org/officeDocument/2006/relationships/notesSlide" Target="/ppt/notesSlides/notesSlide14.xml" Id="Rf799486e439d4c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6ebda831c4565" /><Relationship Type="http://schemas.openxmlformats.org/officeDocument/2006/relationships/notesSlide" Target="/ppt/notesSlides/notesSlide15.xml" Id="R40bbc05948e64f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c2a6523624cc7" /><Relationship Type="http://schemas.openxmlformats.org/officeDocument/2006/relationships/notesSlide" Target="/ppt/notesSlides/notesSlide16.xml" Id="R6fa6f851681847df" /></Relationships>
</file>

<file path=ppt/slides/charts/_rels/chart1.xml.rels><?xml version='1.0' encoding='UTF-8'?>
<Relationships xmlns="http://schemas.openxmlformats.org/package/2006/relationships"><Relationship Id="rIdWorkbook" Type="http://schemas.openxmlformats.org/officeDocument/2006/relationships/package" Target="../../embeddings/Workbook1.xlsx"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用例数</c:v>
                </c:pt>
              </c:strCache>
            </c:strRef>
          </c:tx>
          <c:spPr>
            <a:solidFill xmlns:a="http://schemas.openxmlformats.org/drawingml/2006/main">
              <a:srgbClr val="126E79"/>
            </a:solidFill>
          </c:spP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Arial Unicode MS"/>
                    <a:ea typeface="Arial Unicode MS"/>
                    <a:cs typeface="Arial Unicode M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Data'!$A$2:$A$7</c:f>
              <c:strCache>
                <c:ptCount val="6"/>
                <c:pt idx="0">
                  <c:v>设置校验</c:v>
                </c:pt>
                <c:pt idx="1">
                  <c:v>音频处理</c:v>
                </c:pt>
                <c:pt idx="2">
                  <c:v>字幕状态</c:v>
                </c:pt>
                <c:pt idx="3">
                  <c:v>客户端连接</c:v>
                </c:pt>
                <c:pt idx="4">
                  <c:v>网关会话</c:v>
                </c:pt>
                <c:pt idx="5">
                  <c:v>Chrome交互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20</c:v>
                </c:pt>
                <c:pt idx="1">
                  <c:v>8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725" b="0" i="0" u="none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es val="autoZero"/>
        <c:crossBetween val="between"/>
      </c:valAx>
    </c:plotArea>
    <c:plotVisOnly val="1"/>
  </c:chart>
  <c:externalData xmlns:ns0="http://schemas.openxmlformats.org/officeDocument/2006/relationships" ns0:id="rIdWorkbook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23D98D0-2A1E-4106-B0E0-D9FCA453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实时双语字幕插件</a:t>
            </a:r>
            <a:endParaRPr sz="3300" b="1">
              <a:solidFill>
                <a:srgbClr val="142E4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554120D-A00C-4A22-BD06-D78B7759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01</a:t>
            </a:r>
            <a:endParaRPr sz="15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1AA8A9B-794B-4CF9-B7D3-B89A8786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模块一测试基础实践</a:t>
            </a:r>
            <a:endParaRPr sz="4350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C5E86A4-1BC3-4EE2-81DE-B475337B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62 条课程用例   4 个有效缺陷</a:t>
            </a:r>
            <a:endParaRPr sz="30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17D857B-6B53-4DA8-9021-11968871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白宇、李承远</a:t>
            </a:r>
            <a:endParaRPr sz="225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41C6AAD-622E-42AD-9C80-711B67BC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endParaRPr sz="18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11753686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4FAC7E9-A77A-4110-9B8B-3EC68BB4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核心功能与系统架构</a:t>
            </a:r>
            <a:endParaRPr sz="3300" b="1">
              <a:solidFill>
                <a:srgbClr val="142E4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CD8AA0F-D995-4BA4-96AE-C10BEA34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02</a:t>
            </a:r>
            <a:endParaRPr sz="15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EB36434-24C6-41AB-B64F-A7446621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01 浏览器音频捕获</a:t>
            </a:r>
            <a:endParaRPr sz="217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endParaRPr sz="2175"/>
          </a:p>
          <a:p xmlns:a="http://schemas.openxmlformats.org/drawingml/2006/main">
            <a:pPr>
              <a:buNone/>
              <a:defRPr sz="21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02 PCM 与 WebSocket 网关</a:t>
            </a:r>
            <a:endParaRPr sz="217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endParaRPr sz="2175"/>
          </a:p>
          <a:p xmlns:a="http://schemas.openxmlformats.org/drawingml/2006/main">
            <a:pPr>
              <a:buNone/>
              <a:defRPr sz="21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03 识别和翻译服务</a:t>
            </a:r>
            <a:endParaRPr sz="217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endParaRPr sz="2175"/>
          </a:p>
          <a:p xmlns:a="http://schemas.openxmlformats.org/drawingml/2006/main">
            <a:pPr>
              <a:buNone/>
              <a:defRPr sz="21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04 双语字幕浮层</a:t>
            </a:r>
            <a:endParaRPr sz="217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7EC8E09-1FD2-42CF-962D-B6AC7283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本地网关使用固定识别与翻译数据</a:t>
            </a:r>
            <a:endParaRPr sz="1875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pic>
        <p:nvPicPr>
          <p:cNvPr id="1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fe5ffaeee43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566416"/>
            <a:ext cx="5143500" cy="43157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1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AF11947-E314-47C9-87E4-5925D486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测试范围与验收条件</a:t>
            </a:r>
            <a:endParaRPr sz="3300" b="1">
              <a:solidFill>
                <a:srgbClr val="142E4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71FC7A6-9215-48E2-BE86-618A6A6F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03</a:t>
            </a:r>
            <a:endParaRPr sz="15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E4CB280-4837-4AA7-BFA8-7A0205B9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  <a:endParaRPr sz="2550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BDCDFD5-CA63-4C38-8E38-E47472AB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5048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设置与语言数量约束</a:t>
            </a:r>
            <a:endParaRPr sz="21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音频帧和降采样</a:t>
            </a:r>
            <a:endParaRPr sz="21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字幕状态与两秒缓存</a:t>
            </a:r>
            <a:endParaRPr sz="21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本地网关鉴权和停止</a:t>
            </a:r>
            <a:endParaRPr sz="21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Chrome 设置及字幕显示</a:t>
            </a:r>
            <a:endParaRPr sz="21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187ED71-CC1B-4687-BA76-91D31995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后续验收项目</a:t>
            </a:r>
            <a:endParaRPr sz="2550" b="1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960CC74-FDB1-421B-B239-989DF0F4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667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真实云端识别准确率</a:t>
            </a:r>
            <a:endParaRPr sz="21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真实端到端延迟</a:t>
            </a:r>
            <a:endParaRPr sz="21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用户手势触发音频捕获</a:t>
            </a:r>
            <a:endParaRPr sz="21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Safari 原生宿主及签名</a:t>
            </a:r>
            <a:endParaRPr sz="21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530717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65A5EBF-61B8-4C8A-94C4-4F2A06A3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测试策略与设计方法</a:t>
            </a:r>
            <a:endParaRPr sz="3300" b="1">
              <a:solidFill>
                <a:srgbClr val="142E4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9E059B4-BFC4-4E03-9326-3958557D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04</a:t>
            </a:r>
            <a:endParaRPr sz="15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3A22AAD-2B50-4223-80AA-E4D5F83F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边界值 25 条</a:t>
            </a:r>
            <a:endParaRPr sz="2100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F365AC9-0B6D-463D-9F4D-0528A80A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字号 13／14／48／49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缓存 50 帧与 51 帧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F719BC0-2C77-4D76-8004-85682036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等价类 11 条</a:t>
            </a:r>
            <a:endParaRPr sz="2100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DB20996-1CE9-4743-B7BF-7402B489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重复语言、HTTP 网关地址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奇数 PCM 字节、无效采样率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257BB3F-C5DB-4456-BAC3-02BE4A0D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场景法 26 条</a:t>
            </a:r>
            <a:endParaRPr sz="2100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0609605-83FB-4FE3-8DD2-3354723E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临时字幕确认、连接代次变化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握手、字幕流与正常停止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16304079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599B5FF-48D0-4C7A-A20C-621DF9CB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62 条用例的模块分布</a:t>
            </a:r>
            <a:endParaRPr sz="3300" b="1">
              <a:solidFill>
                <a:srgbClr val="142E4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293879C-15C1-4CF1-8A50-050514EC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05</a:t>
            </a:r>
            <a:endParaRPr sz="15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66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06e8a442bc4a67"/>
          </a:graphicData>
        </a:graphic>
      </p:graphicFrame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714E443-0995-470C-8D0C-1AB3D032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全部自动化   覆盖三种设计方法</a:t>
            </a:r>
            <a:endParaRPr sz="1875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1586993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A13945C-767E-466A-84C5-814B9C35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典型用例的输入与预期</a:t>
            </a:r>
            <a:endParaRPr sz="3300" b="1">
              <a:solidFill>
                <a:srgbClr val="142E4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03D3F5A-6880-430E-B116-8F0D8BDE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06</a:t>
            </a:r>
            <a:endParaRPr sz="15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143375"/>
                <a:gridCol w="495300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编号</a:t>
                      </a:r>
                      <a:endParaRPr sz="1800" b="1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142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关键输入</a:t>
                      </a:r>
                      <a:endParaRPr sz="1800" b="1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142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可检查的预期</a:t>
                      </a:r>
                      <a:endParaRPr sz="1800" b="1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142E4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M1-025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final rev2 后到 interim rev3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保留最终字幕，不重复显示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M1-027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连续推入 51 个 40ms 音频帧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保留最近 50 帧，共 2000ms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M1-059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原生 WebSocket 触发发送背压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 4013 关闭，无非法关闭码异常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M1-061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致命协议错误后继续推入 PCM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停止会话，不再发送音频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94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54D0302-7E40-488F-94AC-6EEBAA42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自动化设计与测试隔离</a:t>
            </a:r>
            <a:endParaRPr sz="3300" b="1">
              <a:solidFill>
                <a:srgbClr val="142E4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3A427C3-56CA-44E9-85A6-C7EC1858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07</a:t>
            </a:r>
            <a:endParaRPr sz="15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3538CF9-554C-4594-8E96-A36FB6BC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Vitest 50 条</a:t>
            </a:r>
            <a:endParaRPr sz="2100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F943CF6-E1B7-4DA8-A763-1D035EEC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66875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纯函数、MockSocket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真实本地网关与 fake provider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EA6BC7-26F8-44E5-9D0C-6ED448AA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Playwright 12 条</a:t>
            </a:r>
            <a:endParaRPr sz="2100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629B290-2EC1-43FC-B1B9-F64EA5F7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真实 MV3 设置页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构建后的 content.js 与固定事件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F011D5E-D3BC-4BF2-8EA7-FD41A80F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统一编号与证据</a:t>
            </a:r>
            <a:endParaRPr sz="2100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20FB007-8708-45DD-8D21-8EF16324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24375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M1 编号贯穿 Excel、脚本和 JSON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失败截图、日志与源码哈希可追溯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20504607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EA997BA-4B8A-4314-AAD2-81458B9C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一键运行与结果文件</a:t>
            </a:r>
            <a:endParaRPr sz="3300" b="1">
              <a:solidFill>
                <a:srgbClr val="142E4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06C289A-EA63-4170-A937-67021C55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08</a:t>
            </a:r>
            <a:endParaRPr sz="15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1AF5EA9-7322-45E6-824F-C8D9B151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npm run test:module1:all</a:t>
            </a:r>
            <a:endParaRPr sz="3675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457CF90-8D97-41FB-A178-137F56EB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50 条 Vitest 测试</a:t>
            </a:r>
            <a:endParaRPr sz="225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Chrome 扩展构建</a:t>
            </a:r>
            <a:endParaRPr sz="225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12 条 Playwright 测试</a:t>
            </a:r>
            <a:endParaRPr sz="225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9C497B2-E944-4A9B-88FA-8511170A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5000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summary.json  逐用例结果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unit.json  原始断言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browser.json  浏览器结果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browser-artifacts  截图与 trace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CB9D57E-3938-44F2-8F47-5C3AF18A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成功退出码 0   失败或未执行返回非零</a:t>
            </a:r>
            <a:endParaRPr sz="195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13867769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692B4A1-96A4-496A-83C3-16B50612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修复后的执行结果</a:t>
            </a:r>
            <a:endParaRPr sz="3300" b="1">
              <a:solidFill>
                <a:srgbClr val="142E4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03336DC-61CF-4C67-A5AF-4E56C750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09</a:t>
            </a:r>
            <a:endParaRPr sz="15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1905000"/>
                <a:gridCol w="1905000"/>
                <a:gridCol w="190500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测试集</a:t>
                      </a:r>
                      <a:endParaRPr sz="1800" b="1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142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</a:t>
                      </a:r>
                      <a:endParaRPr sz="1800" b="1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142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失败</a:t>
                      </a:r>
                      <a:endParaRPr sz="1800" b="1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142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跳过</a:t>
                      </a:r>
                      <a:endParaRPr sz="1800" b="1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142E4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课程 Vitest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50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课程 Playwright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12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产品单元测试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36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产品浏览器测试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  <a:endParaRPr sz="1800" b="0">
                        <a:solidFill>
                          <a:srgbClr val="263B4A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26DA3C4-1678-4A5A-BFFD-E9E3AE34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62 条课程用例全部通过</a:t>
            </a:r>
            <a:endParaRPr sz="2175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1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4 项缺陷完成修复与回归验证</a:t>
            </a:r>
            <a:endParaRPr sz="2175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15184575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055F16D-5593-459B-B541-61FDF621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典型缺陷  最终字幕重复显示</a:t>
            </a:r>
            <a:endParaRPr sz="3300" b="1">
              <a:solidFill>
                <a:srgbClr val="142E4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048C795-F3F3-41A5-B6FB-82E0F29C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10</a:t>
            </a:r>
            <a:endParaRPr sz="15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pic>
        <p:nvPicPr>
          <p:cNvPr id="10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dbd2f319b4a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718072"/>
            <a:ext cx="6953250" cy="4345781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DCDFA7F-DFEA-407E-AB26-08A8462B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BUG-M1-001</a:t>
            </a:r>
            <a:endParaRPr sz="2325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4697168-2F7D-4869-A502-F6DDBC8D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429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输入</a:t>
            </a:r>
            <a:endParaRPr sz="187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final rev2 后到 interim rev3</a:t>
            </a:r>
            <a:endParaRPr sz="187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endParaRPr sz="1875"/>
          </a:p>
          <a:p xmlns:a="http://schemas.openxmlformats.org/drawingml/2006/main">
            <a:pPr>
              <a:buNone/>
              <a:def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原版</a:t>
            </a:r>
            <a:endParaRPr sz="187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同一片段显示两份文本</a:t>
            </a:r>
            <a:endParaRPr sz="187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endParaRPr sz="1875"/>
          </a:p>
          <a:p xmlns:a="http://schemas.openxmlformats.org/drawingml/2006/main">
            <a:pPr>
              <a:buNone/>
              <a:def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修复</a:t>
            </a:r>
            <a:endParaRPr sz="187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同代次最终片段拒绝回退</a:t>
            </a:r>
            <a:endParaRPr sz="187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endParaRPr sz="1875"/>
          </a:p>
          <a:p xmlns:a="http://schemas.openxmlformats.org/drawingml/2006/main">
            <a:pPr>
              <a:buNone/>
              <a:def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验证</a:t>
            </a:r>
            <a:endParaRPr sz="187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M1-025 与 M1-037 通过</a:t>
            </a:r>
            <a:endParaRPr sz="187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21304015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7E0E7CA-960F-411A-8A7B-1D58EE04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边界发现与测试隔离问题</a:t>
            </a:r>
            <a:endParaRPr sz="3300" b="1">
              <a:solidFill>
                <a:srgbClr val="142E4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8520845-1822-4C47-89AA-11804BAD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11</a:t>
            </a:r>
            <a:endParaRPr sz="15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684B6D0-2122-4928-BE9E-C196CE29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BUG-M1-002  缓存多保留一帧</a:t>
            </a:r>
            <a:endParaRPr sz="2550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53EEF05-7533-46BD-BF03-A60AD030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51 × 40ms = 2040ms</a:t>
            </a:r>
            <a:endParaRPr sz="24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原版只比较 2040 − 40 = 2000ms</a:t>
            </a:r>
            <a:endParaRPr sz="24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补计首帧时长后，仅保留最新 50 帧</a:t>
            </a:r>
            <a:endParaRPr sz="24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5671167-BAEB-407A-A180-5F153673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测试隔离中的一次失败</a:t>
            </a:r>
            <a:endParaRPr sz="2175" b="1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7B9E1CE-AAD0-468C-9296-DE41F335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清空 storage.local 后后台仍有缓存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通过 settings:set 重置内存与持久化状态，未计为产品缺陷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7786160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1D6C3BB-721A-47D2-B208-DBCC5DF0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协议与浏览器场景设计</a:t>
            </a:r>
            <a:endParaRPr sz="3300" b="1">
              <a:solidFill>
                <a:srgbClr val="142E4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5A0DC16-4947-42BF-9CA8-77E1866E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12</a:t>
            </a:r>
            <a:endParaRPr sz="15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5118304-E147-4FBE-9C83-5AA68B91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协议输入</a:t>
            </a:r>
            <a:endParaRPr sz="2100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426BAD1-C926-4991-8A6C-4434D00B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66875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无效 JSON、会话标识不匹配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区分可重试与不可重试错误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9460D0F-80EE-4A0B-A66F-7BF47032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会话状态</a:t>
            </a:r>
            <a:endParaRPr sz="2100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555518B-CC11-4D2C-AB1C-DE5B8B31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检查 ready、缓存与定时器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错误后继续推送，确认停止生效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D3E3AA0-85FD-48C8-9F75-DF69668E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浏览器行为</a:t>
            </a:r>
            <a:endParaRPr sz="2100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737CD23-39A8-4823-9425-F945E306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24375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原生 WebSocket 关闭码与发送背压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字幕显示模式、HTML 文本与全屏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3309953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2F801C1-256F-40A5-AC9F-09FF8049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缺陷定位与回归记录</a:t>
            </a:r>
            <a:endParaRPr sz="3300" b="1">
              <a:solidFill>
                <a:srgbClr val="142E4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7EF24E7-DD03-46FF-8003-6473F78B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13</a:t>
            </a:r>
            <a:endParaRPr sz="15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EED7368-9ED6-4504-834C-941E0412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关闭码与会话停止分别验证</a:t>
            </a:r>
            <a:endParaRPr sz="3675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EC9252-D6A0-4693-B49A-859D410F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协议初测：4 条目标用例失败</a:t>
            </a:r>
            <a:endParaRPr sz="225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修正关闭码：2 条通过、2 条失败</a:t>
            </a:r>
            <a:endParaRPr sz="225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完成状态修复：4 条全部通过</a:t>
            </a:r>
            <a:endParaRPr sz="225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F974C13-FC23-4B9D-AFF6-511AFC52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5000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protocol-before  初测记录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close-code-check  单项修复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protocol-reproduce  快照复现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summary.json  全部用例结果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88C786E-EF17-4358-B949-3B29CD19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快照复现与修复回归使用相同输入及预期</a:t>
            </a:r>
            <a:endParaRPr sz="195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4588928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E4D7E37-6D3B-422F-AF42-07CC9B01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浏览器关闭码非法</a:t>
            </a:r>
            <a:endParaRPr sz="3300" b="1">
              <a:solidFill>
                <a:srgbClr val="142E4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014441-E331-403D-819E-F398CEB5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14</a:t>
            </a:r>
            <a:endParaRPr sz="15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FD0CE58-5132-4E33-8CE9-2587EDBD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BUG-M1-003  原生浏览器约束</a:t>
            </a:r>
            <a:endParaRPr sz="2550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C6A1BA8-A212-4081-A614-30DEDC8A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背压触发 close(1013)，浏览器抛异常</a:t>
            </a:r>
            <a:endParaRPr sz="24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致命错误 close(1008) 被误报为协议错误</a:t>
            </a:r>
            <a:endParaRPr sz="24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改用应用关闭码 4013 / 4008</a:t>
            </a:r>
            <a:endParaRPr sz="24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A2FCC53-1684-4B8C-8591-B820E801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验证 M1-059 与 M1-060</a:t>
            </a:r>
            <a:endParaRPr sz="2175" b="1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CE5DE0D-5BB0-44F4-9A2B-BB0ABC7D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真实 Chromium 执行原生 WebSocket.close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4013 与 4008 均通过浏览器约束检查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2097210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35A9D39-F4CA-4E6C-92CF-F9D5B8AE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致命错误后仍发送音频</a:t>
            </a:r>
            <a:endParaRPr sz="3300" b="1">
              <a:solidFill>
                <a:srgbClr val="142E4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8E72F15-F62B-46B6-9899-F5266E23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15</a:t>
            </a:r>
            <a:endParaRPr sz="15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CB41569-6C19-4B70-8B43-06438AA8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BUG-M1-004  错误后的会话状态</a:t>
            </a:r>
            <a:endParaRPr sz="2550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6D5588D-765B-4E42-8A9A-4CB07440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非法 JSON 或会话不匹配已报告不可重试</a:t>
            </a:r>
            <a:endParaRPr sz="24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但 ready 未清理，后续 PCM 仍发送</a:t>
            </a:r>
            <a:endParaRPr sz="24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统一停止连接、缓存与计时器，停止后忽略 push</a:t>
            </a:r>
            <a:endParaRPr sz="24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20E48DF-F904-4B90-8339-B8C73F56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验证 M1-049 与 M1-061</a:t>
            </a:r>
            <a:endParaRPr sz="2175" b="1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8850174-1F9E-44C2-BCE9-3A18FC7D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M1-049 与 M1-061 验证停止发送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M1-062 验证可重试错误仍能正常恢复</a:t>
            </a:r>
            <a:endParaRPr sz="2025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2165888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64B47F8-9830-4668-8CBB-13FB14B4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测试结论与后续验收</a:t>
            </a:r>
            <a:endParaRPr sz="3300" b="1">
              <a:solidFill>
                <a:srgbClr val="142E4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BCA277-C1B0-442C-90A7-72D9F620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16</a:t>
            </a:r>
            <a:endParaRPr sz="15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88403C0-B837-4B23-A5CB-4C743BFA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71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3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62 / 62</a:t>
            </a:r>
            <a:endParaRPr sz="6300" b="1">
              <a:solidFill>
                <a:srgbClr val="126E79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72C1EE-81DA-4A02-AA10-9B30313B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课程用例全部通过</a:t>
            </a:r>
            <a:endParaRPr sz="255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2E91236-F5B1-4A1B-BEBA-D423F77B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4 项缺陷完成修复回归</a:t>
            </a:r>
            <a:endParaRPr sz="24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产品单元 36 通过，浏览器 3 通过、1 跳过</a:t>
            </a:r>
            <a:endParaRPr sz="2400" b="0">
              <a:solidFill>
                <a:srgbClr val="263B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BBE73FD-FA5A-44B4-9D85-A18C6949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后续验收：真实音频、云端效果与 Safari 宿主</a:t>
            </a:r>
            <a:endParaRPr sz="18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白宇、李承远    贡献比例各 50%</a:t>
            </a:r>
            <a:endParaRPr sz="1800" b="0">
              <a:solidFill>
                <a:srgbClr val="637482"/>
              </a:solidFill>
              <a:latin typeface="Arial Unicode MS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1494441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2026-09-13T15:52:21.8960000Z</dcterms:created>
  <dcterms:modified xsi:type="dcterms:W3CDTF">2026-09-13T15:52:21.8960000Z</dcterms:modified>
</coreProperties>
</file>