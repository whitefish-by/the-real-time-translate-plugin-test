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4491" autoAdjust="0"/>
  </p:normalViewPr>
  <p:slideViewPr>
    <p:cSldViewPr snapToGrid="0" snapToObjects="1">
      <p:cViewPr varScale="1">
        <p:scale>
          <a:sx n="81" d="100"/>
          <a:sy n="81" d="100"/>
        </p:scale>
        <p:origin x="80" y="1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5687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建议用时约30秒。
各位老师、同学好，我们汇报的是实时双语字幕插件的模块一测试实践。小组成员是白宇和李承远。本次工作围绕六个测试模块，共设计并自动化执行了62条课程用例，发现4项按独立根因归类的有效缺陷，并完成了修复和回归。接下来，我会先说明被测对象与测试边界，再介绍用例设计和自动化，最后重点讲解四项缺陷以及如何证明修复有效。这里的测试结果来自2026年9月11日的执行记录。
【资料依据】
《测试报告_模块一》封面、§1、§3.3、§5、§6；《测试用例清单》用例表。
【统计口径与提醒】
所有测试数字和修复结果取自上传的用例表及报告，本次PPT整理未重新执行源码测试。本页右侧为PPT原生图形构成的功能示意，并非真实云端识别截图。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这个插件的目标，是将浏览器中的声音转换为原文与译文字幕。链路可以分成四步：浏览器捕获音频，客户端完成PCM处理并维护连接，再经WebSocket网关完成会话与识别翻译服务交互，最后由字幕浮层展示结果。右侧保留的是原PPT中的设置页截图。本轮测试并没有把真实云端识别服务作为评价对象，而是使用固定音频帧和本地fake provider，让输入和字幕输出可控。这样可以集中检查字幕状态、缓存和浏览器交互。真实音频捕获需要用户手势，仍属于后续验收项。
【资料依据】
《测试报告_模块一》§1、§2.1、§4.2；《自动化测试执行说明》§4；《成果汇报》原第2页。
【统计口径与提醒】
所有测试数字和修复结果取自上传的用例表及报告，本次PPT整理未重新执行源码测试。图中产品完整链路不表示每一段均完成了真实端到端验收。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我们先区分“已验证”与“待验收”。左侧的结果支持对本地逻辑和浏览器交互进行质量判断，包括设置校验、PCM处理、字幕状态、两秒缓存以及连接停止。右侧则是目前不能直接由这些结果证明的内容：真实录音能否稳定捕获，云端识别与翻译效果如何，真实端到端延迟多大，以及Safari原生宿主和签名是否完成。尤其要注意，报告中的Safari资源构建通过，只是构建层面的结果，不能等同于原生宿主已验收。因此，后面提到62条全部通过，始终限定在本轮课程测试的范围内。
【资料依据】
《测试报告_模块一》§2.1、§5.1、§5.4；《自动化测试执行说明》§4、§5。
【统计口径与提醒】
所有测试数字和修复结果取自上传的用例表及报告，本次PPT整理未重新执行源码测试。不把自动化测试耗时当成产品响应延迟。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62条用例不是简单堆积输入，而是按三种方法组织。边界值法有25条，重点是“刚好合法”和“刚好越界”，例如字号13、14、48、49以及50帧与51帧缓存。等价类法有11条，用重复语言、HTTP网关地址、奇数PCM字节等代表性输入检查拒绝行为。场景法有26条，覆盖字幕确认、重连、停止和全屏迁移。我们还结合源码中的状态分支，检查错误后究竟发生了什么，而不是只看有没有弹出一个错误。右侧占比按一位小数四舍五入，因此三项百分比相加可能有0.1个百分点的尾差。
【资料依据】
《测试报告_模块一》§2.2、§3.1；《测试用例清单》62条用例按主要方法汇总。
【统计口径与提醒】
所有测试数字和修复结果取自上传的用例表及报告，本次PPT整理未重新执行源码测试。25+11+26=62；百分比沿用报告的40.3%、17.7%、41.9%。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建议用时约40秒。
按业务模块看，设置校验20条，音频处理8条，字幕状态7条，客户端连接8条，网关会话9条，Chrome交互10条，合计62条。这里容易混淆的是业务模块和测试框架不是同一个维度。比如Chrome交互只有10条，但Playwright共有12条，因为另外两条是客户端连接模块中的原生WebSocket关闭码测试，也必须在真实Chromium中执行。所有用例都使用M1编号，以便把Excel、脚本名称和结果文件关联起来。
【资料依据】
《测试报告_模块一》§3.3、§4.1；《测试用例清单》业务模块列；《缺陷清单》BUG-M1-003。
【统计口径与提醒】
所有测试数字和修复结果取自上传的用例表及报告，本次PPT整理未重新执行源码测试。本页展示的是用例分布，不是代码覆盖率；资料没有提供代码覆盖率数字。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建议用时约50秒。
这里选择四条用例，说明我们如何把需求落实为断言。M1-025先发送最终字幕，再发送同片段更高修订号的临时字幕，要求最终字幕不能回退。M1-027连续输入51个40毫秒音频帧，要求只发送序号1到50，并报告音频缺失提示。M1-059把发送缓冲量设为阈值加一，验证浏览器使用4013关闭且不抛异常。M1-061在收到不匹配的会话标识后继续推入PCM，检查不再发送、连接关闭且不重连。最后这类测试尤其重要：它验证的是错误后的真实行为，不只是错误回调内容。
【资料依据】
《测试用例清单》M1-025、M1-027、M1-059、M1-061；《测试报告_模块一》§3.2。
【统计口径与提醒】
所有测试数字和修复结果取自上传的用例表及报告，本次PPT整理未重新执行源码测试。M1-025的限定条件是同session、同generation、同segmentId；M1-059阈值为262144字节。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自动化由两个框架组成。50条Vitest不全是孤立的单元测试，其中也包含真实本地HTTP和WebSocket网关测试；其输入使用固定数据、MockSocket和模拟时钟。12条Playwright则在真实Chromium里执行，验证MV3设置页、实际构建后的content.js以及原生WebSocket.close。字幕浮层用例虽然执行真实脚本，但注入的是固定事件，不涉及录音。这样做的目的，是把云端与时间波动隔离出去，同时对浏览器特有约束保留真实验证。后面的关闭码缺陷就说明，这种分层是有必要的。
【资料依据】
《测试报告_模块一》§4.1、§4.2；《自动化测试执行说明》§5。
【统计口径与提醒】
所有测试数字和修复结果取自上传的用例表及报告，本次PPT整理未重新执行源码测试。不要把50条Vitest全部表述为纯单元测试；不要把12条浏览器测试全部称为真实音频端到端测试。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建议用时约40秒。
执行入口是npm run test:module1:all。终端按38条和24条两个批次组织，编号分别是M1-001到038以及039到062，合计62条。50条Vitest和12条Playwright是按框架统计的另一个口径。每条测试名称带有M1编号，因此可以从Excel定位到脚本，再找到JSON结果。这里还需要区分日常运行产物和交付归档：日常执行更新源码目录中的results，而evidence目录保存的是归档记录。失败截图、trace和阶段日志则用来定位问题。脚本遇到失败或未执行会返回非零，不会把缺失执行当作通过。
【资料依据】
《自动化测试执行说明》§2.1、§2.2；《测试报告_模块一》§4.1、执行记录。
【统计口径与提醒】
所有测试数字和修复结果取自上传的用例表及报告，本次PPT整理未重新执行源码测试。evidence/summary.json为原文档记载的交付归档路径，本次上传材料未包含其原始JSON文件。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这是修复后的结果，而不是发现缺陷之前的初测结果。62条课程用例全部通过，没有失败，也没有跳过。完整回归还包含产品测试：36条产品单元测试通过，产品浏览器测试3条通过、1条跳过。这个跳过项需要用户手势触发真实音频捕获，因此按原配置保留。它不属于62条课程用例，所以不影响课程用例62比62的统计。报告还记录了类型检查以及Chrome、网关、Safari资源构建通过。所以汇报时应分别说明课程用例、产品回归和构建结果，避免用一个百分比掩盖不同验证层级。
【资料依据】
《测试报告_模块一》§5.1；《缺陷清单》§3.5；《自动化测试执行说明》§3.3。
【统计口径与提醒】
所有测试数字和修复结果取自上传的用例表及报告，本次PPT整理未重新执行源码测试。课程测试与产品回归分列，不能把那1条skipped隐去，亦不能把它计入课程62条。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建议用时约35秒。
我们最终记录了4项有效缺陷。第一项是最终字幕被后到临时结果重复显示；第二项是两秒缓存多保留了一帧；第三项是浏览器调用了不允许的关闭码；第四项是本地致命协议错误已经上报，但音频仍继续发送。严重程度分别为中、低、中、中，后两项优先级高。这里强调按独立根因统计，因为多个失败用例可能指向同一个缺陷，而相似的错误处理现象也可能来自不同根因。接下来会通过四个案例与一张阶段验证矩阵说明。
【资料依据】
《缺陷清单》§3.4.1至§3.4.4、§3.5；《测试报告_模块一》§5.2。
【统计口径与提醒】
所有测试数字和修复结果取自上传的用例表及报告，本次PPT整理未重新执行源码测试。各缺陷修复与自动化回归已完成，但原缺陷报告中的人工复核签字栏仍为待填写，不宣称已完成人工签字审批。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建议用时约55秒。
第一项缺陷与字幕终态有关。前置条件是同一会话、同一连接代次和同一片段。我们先发送revision为2的最终结果，再发送revision为3的临时结果。原版只判断修订号是否更大，却没有保护已经确认的最终状态，所以左侧原始截图中同时出现hello 2和hello 3以及各自译文。修复同时作用于共享合并函数和content.ts的浮层合并函数：同代次、同片段已有final时，忽略后到interim。M1-025和037验证修复，M1-024则确认新连接代次仍允许从revision 0重新开始。右侧是依据预期和回归结论绘制的示意，不是新的实测截图。
【资料依据】
《缺陷清单》§3.4.1；《测试报告_模块一》§5.3；《成果汇报》原第10页。
【统计口径与提醒】
所有测试数字和修复结果取自上传的用例表及报告，本次PPT整理未重新执行源码测试。final保护限定在同generation、同segmentId，不能把新连接代次的合法重置也一并屏蔽。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建议用时约55秒。
第二项缺陷是典型的相邻边界问题。每帧40毫秒，50帧正好是2000毫秒，而51帧是2040毫秒。原版使用最新帧结束时间减最旧帧结束时间来判断容量，结果是2040减40等于2000，误以为没有超限，但这个差值遗漏了第一帧本身覆盖的40毫秒。修复后补加frameDurationMs，跨度变成2040毫秒，于是淘汰序号0的最旧帧，只保留序号1到50，并触发audio_gap提示。我们同时保留M1-026作为正向对照，确认刚好50帧时不会误删也不会误提示。
【资料依据】
《缺陷清单》§3.4.2；《测试用例清单》M1-026、M1-027；《测试报告_模块一》§4.2。
【统计口径与提醒】
所有测试数字和修复结果取自上传的用例表及报告，本次PPT整理未重新执行源码测试。时间轴为依据51帧输入绘制的原生图形示意；它不是程序运行截图。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建议用时约55秒。
第三项缺陷只有保留真实浏览器约束才能暴露。背压路径调用close(1013)，在Chromium中抛出InvalidAccessError；不可重试错误路径调用close(1008)，异常又被捕获并误报成invalid_server_message，掩盖了原本的unauthorized。根据缺陷报告引用的约束，浏览器脚本主动调用close时允许1000或者3000到4999，因此我们把这两条路径改为4013和4008。这里不是说服务端不能发送1008等协议关闭码，限制的对象是浏览器脚本API参数。修复后M1-059和060通过，但另外两条停止音频用例仍然失败，这引出了下一项独立缺陷。
【资料依据】
《缺陷清单》§3.4.3；《测试报告_模块一》§5.3；《测试用例清单》M1-059、M1-060。
【统计口径与提醒】
所有测试数字和修复结果取自上传的用例表及报告，本次PPT整理未重新执行源码测试。浏览器API规则按所附缺陷报告转述；本次未另行核验在线规范。不要把服务端关闭码全部替换为应用码。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建议用时约55秒。
第四项缺陷说明只断言错误回调是不够的。原版在接收到非法JSON或者不匹配的sessionId后，会报告retryable=false，看起来已经做了错误处理。但ready状态仍然有效，Socket也没有关闭，后续push的PCM仍会发送。根因是本地错误分支只通知回调，没有统一清理连接生命周期。修复增加stopAfterFatalError，统一清理ready、待发缓存、重连计时器并关闭连接，停止后忽略push和消息。M1-049和061检查真正停止；M1-062则验证可重试错误依旧能重连并发送，防止把所有错误一律永久关闭。
【资料依据】
《缺陷清单》§3.4.4；《测试报告_模块一》§4.2、§5.3；《测试用例清单》M1-049、M1-061、M1-062。
【统计口径与提醒】
所有测试数字和修复结果取自上传的用例表及报告，本次PPT整理未重新执行源码测试。不可重试与可重试两条路径必须区分；图形为根据缺陷记录整理的状态流程。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建议用时约50秒。
这张表是区分两个根因的关键证据。协议初测时，四条目标用例全部失败。只修改浏览器关闭码以后，M1-059和060转为通过，但M1-049和061仍失败。随后补上致命错误后的状态与连接清理，四条才全部通过。因为这些阶段使用相同输入和预期，所以变化可以对应到不同修复项：关闭码修复解决浏览器API异常，生命周期修复解决错误后仍发送音频的问题。这避免了把“连接出错”这样一个表面现象简单归为同一个缺陷。阶段记录在protocol-before、close-code-check等路径中按文档归档。
【资料依据】
《缺陷清单》§3.4.3、§3.4.4；《自动化测试执行说明》§3.4；《成果汇报》原第13页。
【统计口径与提醒】
所有测试数字和修复结果取自上传的用例表及报告，本次PPT整理未重新执行源码测试。本矩阵仅针对这4条协议相关目标用例；不能把这里的4条失败误读为整个62条用例初测的失败总数。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建议用时约45秒。
最后补充三点测试可靠性措施。第一，曾有一次设置测试失败，是因为只清空storage.local后，后台进程的内存缓存还保留上条用例的值。通过settings:set同时重置内存和持久化后解决，这属于测试隔离问题，没有计入产品缺陷。第二，修复前源码保存为original-sources.json，在临时工程中恢复并重放，失败断言和非零退出是预期证据，不能为了通过而改掉断言。第三，每项修复都配合正常路径对照，例如新代次重置、合法50帧缓存和可重试恢复。这样既证明异常路径被修复，也尽量避免修复破坏原有正常行为。
【资料依据】
《测试报告_模块一》§4.2；《自动化测试执行说明》§3、§5；《成果汇报》原第11页。
【统计口径与提醒】
所有测试数字和修复结果取自上传的用例表及报告，本次PPT整理未重新执行源码测试。不将测试隔离问题包装为第5项产品缺陷。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建议用时约40秒。
总结来说，我们完成了62条课程自动化用例，覆盖六个测试模块；发现并修复了四项独立缺陷，修复后的课程用例全部通过。工作的价值不只是一个通过率，而是把测试设计、失败现象、根因、修复和回归证据关联起来。当前结论适用于固定数据和本地服务条件，下一步仍需要验证真实音频捕获、云端效果与端到端延迟，以及Safari原生宿主和签名。白宇与李承远共同完成测试设计、脚本实现、缺陷修复验证和材料整理，贡献比例各为50%。我的汇报到这里结束，欢迎老师和同学提问。后面的三页附录可用于运行演示和答疑。
【资料依据】
《测试报告_模块一》§5.4、§6；《自动化测试执行说明》§3.3、§4。
【统计口径与提醒】
所有测试数字和修复结果取自上传的用例表及报告，本次PPT整理未重新执行源码测试。主线汇报在此结束；第18至20页为按需查看的备查附录。资料没有给出成员细分任务工时，不另行虚构具体分工。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本页为备查，主线汇报无需逐项讲解。
运行前先确认当前目录是源码工程根目录，而不是PPT或文档目录。归档环境是报告中记录的Apple M5、Darwin 25.4.0及对应软件版本；执行说明给出的准备要求是Node.js 24以上、npm 11以上。第一次运行先执行npm ci和安装Chromium，再运行课程入口。完整回归会进一步执行产品测试、类型检查和构建。底部三条命令用于恢复修复前快照并定向复现，它们预期会产生失败断言及非零退出。Linux缺少浏览器系统库时，需要按Playwright提示补齐。
【资料依据】
《自动化测试执行说明》§1、§2、§3；《测试报告_模块一》§2.3。
【统计口径与提醒】
所有测试数字和修复结果取自上传的用例表及报告，本次PPT整理未重新执行源码测试。环境版本直接按上传材料保留；本次未对这些软件版本做在线核验，也未在当前环境执行上述测试。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【逐页讲稿】
本页为现场演示备查。
先构建扩展，再按本机终端类型启动fake网关。Windows使用右上角PowerShell写法，macOS或Linux使用下面的环境变量写法。随后在Chrome扩展管理页启用开发者模式，加载apps/extension/dist，设置本地WebSocket地址和文档中的测试令牌，先测试连接再保存。打开普通有声网页，必须亲自点击工具栏扩展图标并点击开始，按提示授权。展示双语浮层和显示模式变化后，点击停止，确认浮层清空、音频捕获结束。最后在网关终端按Ctrl+C结束服务。若现场环境不允许音频授权，可以展示已有页面和回归记录，但不能称为真实音频演示成功。
【资料依据】
《自动化测试执行说明》§4.1至§4.3、§5。
【统计口径与提醒】
所有测试数字和修复结果取自上传的用例表及报告，本次PPT整理未重新执行源码测试。预设字幕只用于展示链路与交互；真实识别与翻译需另行配置云端并验收。module1-secret为所附文档明确给出的本地演示令牌。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54864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00" b="1" kern="0" spc="100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模块一  /  测试基础实践</a:t>
            </a:r>
            <a:endParaRPr lang="zh-CN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389888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实时双语字幕插件</a:t>
            </a:r>
            <a:endParaRPr lang="zh-CN" sz="4350" dirty="0"/>
          </a:p>
        </p:txBody>
      </p:sp>
      <p:sp>
        <p:nvSpPr>
          <p:cNvPr id="5" name="Text 3"/>
          <p:cNvSpPr/>
          <p:nvPr/>
        </p:nvSpPr>
        <p:spPr>
          <a:xfrm>
            <a:off x="640080" y="2267712"/>
            <a:ext cx="640080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测试成果汇报</a:t>
            </a:r>
            <a:endParaRPr lang="zh-CN" sz="4150" dirty="0"/>
          </a:p>
        </p:txBody>
      </p:sp>
      <p:sp>
        <p:nvSpPr>
          <p:cNvPr id="6" name="Text 4"/>
          <p:cNvSpPr/>
          <p:nvPr/>
        </p:nvSpPr>
        <p:spPr>
          <a:xfrm>
            <a:off x="676656" y="3255264"/>
            <a:ext cx="6492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BDD0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从用例设计到缺陷修复的可追溯验证</a:t>
            </a:r>
            <a:endParaRPr lang="zh-CN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4242816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5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</a:t>
            </a:r>
            <a:endParaRPr lang="zh-CN" sz="5700" dirty="0"/>
          </a:p>
        </p:txBody>
      </p:sp>
      <p:sp>
        <p:nvSpPr>
          <p:cNvPr id="8" name="Text 6"/>
          <p:cNvSpPr/>
          <p:nvPr/>
        </p:nvSpPr>
        <p:spPr>
          <a:xfrm>
            <a:off x="685800" y="4992624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80" dirty="0">
                <a:solidFill>
                  <a:srgbClr val="B8CD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课程自动化用例</a:t>
            </a:r>
            <a:endParaRPr lang="zh-CN" sz="1380" dirty="0"/>
          </a:p>
        </p:txBody>
      </p:sp>
      <p:sp>
        <p:nvSpPr>
          <p:cNvPr id="9" name="Shape 7"/>
          <p:cNvSpPr/>
          <p:nvPr/>
        </p:nvSpPr>
        <p:spPr>
          <a:xfrm>
            <a:off x="2514600" y="4434840"/>
            <a:ext cx="0" cy="777240"/>
          </a:xfrm>
          <a:prstGeom prst="line">
            <a:avLst/>
          </a:prstGeom>
          <a:noFill/>
          <a:ln w="10160">
            <a:solidFill>
              <a:srgbClr val="34536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4242816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5700" b="1" dirty="0">
                <a:solidFill>
                  <a:srgbClr val="41D7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zh-CN" sz="5700" dirty="0"/>
          </a:p>
        </p:txBody>
      </p:sp>
      <p:sp>
        <p:nvSpPr>
          <p:cNvPr id="11" name="Text 9"/>
          <p:cNvSpPr/>
          <p:nvPr/>
        </p:nvSpPr>
        <p:spPr>
          <a:xfrm>
            <a:off x="2743200" y="4992624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80" dirty="0">
                <a:solidFill>
                  <a:srgbClr val="B8CD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有效缺陷完成回归</a:t>
            </a:r>
            <a:endParaRPr lang="zh-CN" sz="1380" dirty="0"/>
          </a:p>
        </p:txBody>
      </p:sp>
      <p:sp>
        <p:nvSpPr>
          <p:cNvPr id="12" name="Shape 10"/>
          <p:cNvSpPr/>
          <p:nvPr/>
        </p:nvSpPr>
        <p:spPr>
          <a:xfrm>
            <a:off x="4572000" y="4434840"/>
            <a:ext cx="0" cy="777240"/>
          </a:xfrm>
          <a:prstGeom prst="line">
            <a:avLst/>
          </a:prstGeom>
          <a:noFill/>
          <a:ln w="10160">
            <a:solidFill>
              <a:srgbClr val="34536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00600" y="4242816"/>
            <a:ext cx="17373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57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zh-CN" sz="5700" dirty="0"/>
          </a:p>
        </p:txBody>
      </p:sp>
      <p:sp>
        <p:nvSpPr>
          <p:cNvPr id="14" name="Text 12"/>
          <p:cNvSpPr/>
          <p:nvPr/>
        </p:nvSpPr>
        <p:spPr>
          <a:xfrm>
            <a:off x="4800600" y="4992624"/>
            <a:ext cx="19751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80" dirty="0">
                <a:solidFill>
                  <a:srgbClr val="B8CD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测试模块</a:t>
            </a:r>
            <a:endParaRPr lang="zh-CN" sz="1380" dirty="0"/>
          </a:p>
        </p:txBody>
      </p:sp>
      <p:sp>
        <p:nvSpPr>
          <p:cNvPr id="15" name="Shape 13"/>
          <p:cNvSpPr/>
          <p:nvPr/>
        </p:nvSpPr>
        <p:spPr>
          <a:xfrm>
            <a:off x="7388352" y="1325880"/>
            <a:ext cx="4169664" cy="4251960"/>
          </a:xfrm>
          <a:prstGeom prst="roundRect">
            <a:avLst>
              <a:gd name="adj" fmla="val 2851"/>
            </a:avLst>
          </a:prstGeom>
          <a:solidFill>
            <a:srgbClr val="19394D"/>
          </a:solidFill>
          <a:ln w="8890">
            <a:solidFill>
              <a:srgbClr val="3657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97496" y="1335024"/>
            <a:ext cx="4151376" cy="420624"/>
          </a:xfrm>
          <a:prstGeom prst="roundRect">
            <a:avLst>
              <a:gd name="adj" fmla="val 21739"/>
            </a:avLst>
          </a:prstGeom>
          <a:solidFill>
            <a:srgbClr val="25475B"/>
          </a:solidFill>
          <a:ln w="8890">
            <a:solidFill>
              <a:srgbClr val="25475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0376" y="1485900"/>
            <a:ext cx="73152" cy="73152"/>
          </a:xfrm>
          <a:prstGeom prst="ellipse">
            <a:avLst/>
          </a:prstGeom>
          <a:solidFill>
            <a:srgbClr val="77A5B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35824" y="1485900"/>
            <a:ext cx="73152" cy="73152"/>
          </a:xfrm>
          <a:prstGeom prst="ellipse">
            <a:avLst/>
          </a:prstGeom>
          <a:solidFill>
            <a:srgbClr val="77A5B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91272" y="1485900"/>
            <a:ext cx="73152" cy="73152"/>
          </a:xfrm>
          <a:prstGeom prst="ellipse">
            <a:avLst/>
          </a:prstGeom>
          <a:solidFill>
            <a:srgbClr val="77A5B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66176" y="1399032"/>
            <a:ext cx="2907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100" dirty="0">
                <a:solidFill>
                  <a:srgbClr val="CAE0E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实时字幕 · 功能示意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7772400" y="203911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kern="0" spc="200" dirty="0">
                <a:solidFill>
                  <a:srgbClr val="41D7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 → TEXT</a:t>
            </a:r>
            <a:endParaRPr lang="zh-CN" sz="1600" dirty="0"/>
          </a:p>
        </p:txBody>
      </p:sp>
      <p:sp>
        <p:nvSpPr>
          <p:cNvPr id="22" name="Shape 20"/>
          <p:cNvSpPr/>
          <p:nvPr/>
        </p:nvSpPr>
        <p:spPr>
          <a:xfrm>
            <a:off x="7827264" y="2784348"/>
            <a:ext cx="54864" cy="155448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81798" y="2715768"/>
            <a:ext cx="54864" cy="292608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136331" y="2610612"/>
            <a:ext cx="54864" cy="502920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0865" y="2697480"/>
            <a:ext cx="54864" cy="329184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5398" y="2532888"/>
            <a:ext cx="54864" cy="658368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99932" y="2423160"/>
            <a:ext cx="54864" cy="877824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754466" y="2587752"/>
            <a:ext cx="54864" cy="548640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908999" y="2715768"/>
            <a:ext cx="54864" cy="292608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63533" y="2505456"/>
            <a:ext cx="54864" cy="713232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218066" y="2642616"/>
            <a:ext cx="54864" cy="438912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372600" y="2761488"/>
            <a:ext cx="54864" cy="201168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27134" y="2688336"/>
            <a:ext cx="54864" cy="347472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81667" y="2569464"/>
            <a:ext cx="54864" cy="585216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36201" y="2450592"/>
            <a:ext cx="54864" cy="822960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90734" y="2642616"/>
            <a:ext cx="54864" cy="438912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5268" y="2743200"/>
            <a:ext cx="54864" cy="237744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299802" y="2583180"/>
            <a:ext cx="54864" cy="557784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454335" y="2679192"/>
            <a:ext cx="54864" cy="365760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608869" y="2770632"/>
            <a:ext cx="54864" cy="182880"/>
          </a:xfrm>
          <a:prstGeom prst="roundRect">
            <a:avLst>
              <a:gd name="adj" fmla="val 41667"/>
            </a:avLst>
          </a:prstGeom>
          <a:solidFill>
            <a:srgbClr val="74EDDB"/>
          </a:solidFill>
          <a:ln w="8890">
            <a:solidFill>
              <a:srgbClr val="74EDD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63402" y="2706624"/>
            <a:ext cx="54864" cy="310896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917936" y="2606040"/>
            <a:ext cx="54864" cy="512064"/>
          </a:xfrm>
          <a:prstGeom prst="roundRect">
            <a:avLst>
              <a:gd name="adj" fmla="val 41667"/>
            </a:avLst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44968" y="3575304"/>
            <a:ext cx="3474720" cy="640080"/>
          </a:xfrm>
          <a:prstGeom prst="roundRect">
            <a:avLst>
              <a:gd name="adj" fmla="val 11429"/>
            </a:avLst>
          </a:prstGeom>
          <a:solidFill>
            <a:srgbClr val="314F62"/>
          </a:solidFill>
          <a:ln w="8890">
            <a:solidFill>
              <a:srgbClr val="314F62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891272" y="3621024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hello 2</a:t>
            </a:r>
            <a:endParaRPr lang="zh-CN" sz="1900" dirty="0"/>
          </a:p>
        </p:txBody>
      </p:sp>
      <p:sp>
        <p:nvSpPr>
          <p:cNvPr id="45" name="Text 43"/>
          <p:cNvSpPr/>
          <p:nvPr/>
        </p:nvSpPr>
        <p:spPr>
          <a:xfrm>
            <a:off x="7891272" y="3895344"/>
            <a:ext cx="3182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00" dirty="0">
                <a:solidFill>
                  <a:srgbClr val="9AEA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你好 2</a:t>
            </a:r>
            <a:endParaRPr lang="zh-CN" sz="1500" dirty="0"/>
          </a:p>
        </p:txBody>
      </p:sp>
      <p:sp>
        <p:nvSpPr>
          <p:cNvPr id="46" name="Shape 44"/>
          <p:cNvSpPr/>
          <p:nvPr/>
        </p:nvSpPr>
        <p:spPr>
          <a:xfrm>
            <a:off x="7744968" y="4681728"/>
            <a:ext cx="758952" cy="320040"/>
          </a:xfrm>
          <a:prstGeom prst="roundRect">
            <a:avLst>
              <a:gd name="adj" fmla="val 17143"/>
            </a:avLst>
          </a:prstGeom>
          <a:solidFill>
            <a:srgbClr val="284C5A"/>
          </a:solidFill>
          <a:ln w="8890">
            <a:solidFill>
              <a:srgbClr val="284C5A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808976" y="4681728"/>
            <a:ext cx="630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C9EA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</a:t>
            </a:r>
            <a:endParaRPr lang="zh-CN" sz="1200" dirty="0"/>
          </a:p>
        </p:txBody>
      </p:sp>
      <p:sp>
        <p:nvSpPr>
          <p:cNvPr id="48" name="Shape 46"/>
          <p:cNvSpPr/>
          <p:nvPr/>
        </p:nvSpPr>
        <p:spPr>
          <a:xfrm>
            <a:off x="8522208" y="4837176"/>
            <a:ext cx="91440" cy="0"/>
          </a:xfrm>
          <a:prstGeom prst="line">
            <a:avLst/>
          </a:prstGeom>
          <a:noFill/>
          <a:ln w="21590">
            <a:solidFill>
              <a:srgbClr val="7AB8BB"/>
            </a:solidFill>
            <a:prstDash val="solid"/>
            <a:headEnd type="none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8641080" y="4681728"/>
            <a:ext cx="758952" cy="320040"/>
          </a:xfrm>
          <a:prstGeom prst="roundRect">
            <a:avLst>
              <a:gd name="adj" fmla="val 17143"/>
            </a:avLst>
          </a:prstGeom>
          <a:solidFill>
            <a:srgbClr val="284C5A"/>
          </a:solidFill>
          <a:ln w="8890">
            <a:solidFill>
              <a:srgbClr val="284C5A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705088" y="4681728"/>
            <a:ext cx="630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C9EA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</a:t>
            </a:r>
            <a:endParaRPr lang="zh-CN" sz="1200" dirty="0"/>
          </a:p>
        </p:txBody>
      </p:sp>
      <p:sp>
        <p:nvSpPr>
          <p:cNvPr id="51" name="Shape 49"/>
          <p:cNvSpPr/>
          <p:nvPr/>
        </p:nvSpPr>
        <p:spPr>
          <a:xfrm>
            <a:off x="9418320" y="4837176"/>
            <a:ext cx="91440" cy="0"/>
          </a:xfrm>
          <a:prstGeom prst="line">
            <a:avLst/>
          </a:prstGeom>
          <a:noFill/>
          <a:ln w="21590">
            <a:solidFill>
              <a:srgbClr val="7AB8BB"/>
            </a:solidFill>
            <a:prstDash val="solid"/>
            <a:headEnd type="non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9537192" y="4681728"/>
            <a:ext cx="758952" cy="320040"/>
          </a:xfrm>
          <a:prstGeom prst="roundRect">
            <a:avLst>
              <a:gd name="adj" fmla="val 17143"/>
            </a:avLst>
          </a:prstGeom>
          <a:solidFill>
            <a:srgbClr val="284C5A"/>
          </a:solidFill>
          <a:ln w="8890">
            <a:solidFill>
              <a:srgbClr val="284C5A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601200" y="4681728"/>
            <a:ext cx="630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C9EA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</a:t>
            </a:r>
            <a:endParaRPr lang="zh-CN" sz="1200" dirty="0"/>
          </a:p>
        </p:txBody>
      </p:sp>
      <p:sp>
        <p:nvSpPr>
          <p:cNvPr id="54" name="Shape 52"/>
          <p:cNvSpPr/>
          <p:nvPr/>
        </p:nvSpPr>
        <p:spPr>
          <a:xfrm>
            <a:off x="10314432" y="4837176"/>
            <a:ext cx="91440" cy="0"/>
          </a:xfrm>
          <a:prstGeom prst="line">
            <a:avLst/>
          </a:prstGeom>
          <a:noFill/>
          <a:ln w="21590">
            <a:solidFill>
              <a:srgbClr val="7AB8BB"/>
            </a:solidFill>
            <a:prstDash val="solid"/>
            <a:headEnd type="none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10433304" y="4681728"/>
            <a:ext cx="758952" cy="320040"/>
          </a:xfrm>
          <a:prstGeom prst="roundRect">
            <a:avLst>
              <a:gd name="adj" fmla="val 17143"/>
            </a:avLst>
          </a:prstGeom>
          <a:solidFill>
            <a:srgbClr val="284C5A"/>
          </a:solidFill>
          <a:ln w="8890">
            <a:solidFill>
              <a:srgbClr val="284C5A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497312" y="4681728"/>
            <a:ext cx="6309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C9EA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</a:t>
            </a:r>
            <a:endParaRPr lang="zh-CN" sz="1200" dirty="0"/>
          </a:p>
        </p:txBody>
      </p:sp>
      <p:sp>
        <p:nvSpPr>
          <p:cNvPr id="57" name="Text 55"/>
          <p:cNvSpPr/>
          <p:nvPr/>
        </p:nvSpPr>
        <p:spPr>
          <a:xfrm>
            <a:off x="7744968" y="5175504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60" dirty="0">
                <a:solidFill>
                  <a:srgbClr val="8EAB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固定文本示意，不代表真实识别效果</a:t>
            </a:r>
            <a:endParaRPr lang="zh-CN" sz="960" dirty="0"/>
          </a:p>
        </p:txBody>
      </p:sp>
      <p:sp>
        <p:nvSpPr>
          <p:cNvPr id="58" name="Shape 56"/>
          <p:cNvSpPr/>
          <p:nvPr/>
        </p:nvSpPr>
        <p:spPr>
          <a:xfrm>
            <a:off x="667512" y="5879592"/>
            <a:ext cx="10899648" cy="0"/>
          </a:xfrm>
          <a:prstGeom prst="line">
            <a:avLst/>
          </a:prstGeom>
          <a:noFill/>
          <a:ln w="8890">
            <a:solidFill>
              <a:srgbClr val="34516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4944" y="61173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白宇  ·  李承远</a:t>
            </a:r>
            <a:endParaRPr lang="zh-CN" sz="1800" dirty="0"/>
          </a:p>
        </p:txBody>
      </p:sp>
      <p:sp>
        <p:nvSpPr>
          <p:cNvPr id="60" name="Text 58"/>
          <p:cNvSpPr/>
          <p:nvPr/>
        </p:nvSpPr>
        <p:spPr>
          <a:xfrm>
            <a:off x="694944" y="6519672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9FB6C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华中科技大学软件学院</a:t>
            </a:r>
            <a:endParaRPr lang="zh-CN" sz="1050" dirty="0"/>
          </a:p>
        </p:txBody>
      </p:sp>
      <p:sp>
        <p:nvSpPr>
          <p:cNvPr id="61" name="Text 59"/>
          <p:cNvSpPr/>
          <p:nvPr/>
        </p:nvSpPr>
        <p:spPr>
          <a:xfrm>
            <a:off x="8229600" y="6044184"/>
            <a:ext cx="33009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B7CB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文档日期  2026.09.13</a:t>
            </a:r>
            <a:endParaRPr lang="zh-CN" sz="1200" dirty="0"/>
          </a:p>
          <a:p>
            <a:pPr marL="0" indent="0" algn="r">
              <a:buNone/>
            </a:pPr>
            <a:r>
              <a:rPr lang="zh-CN" altLang="en-US" sz="1200" dirty="0">
                <a:solidFill>
                  <a:srgbClr val="B7CB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执行记录  2026.09.11</a:t>
            </a:r>
            <a:endParaRPr lang="zh-CN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测试对象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先看链路：音频如何变成双语字幕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被测软件 0.1.0｜TypeScript · Chrome MV3 · Node.js 网关 · 共享协议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2093976"/>
            <a:ext cx="1810512" cy="20756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2276856"/>
            <a:ext cx="14081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zh-CN" sz="2300" dirty="0"/>
          </a:p>
        </p:txBody>
      </p:sp>
      <p:sp>
        <p:nvSpPr>
          <p:cNvPr id="12" name="Text 10"/>
          <p:cNvSpPr/>
          <p:nvPr/>
        </p:nvSpPr>
        <p:spPr>
          <a:xfrm>
            <a:off x="777240" y="2779776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</a:t>
            </a:r>
            <a:endParaRPr lang="zh-CN" sz="1700" dirty="0"/>
          </a:p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音频捕获</a:t>
            </a:r>
            <a:endParaRPr lang="zh-CN" sz="170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网页声音输入</a:t>
            </a:r>
            <a:endParaRPr lang="zh-CN" sz="1300" dirty="0"/>
          </a:p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用户手势启动</a:t>
            </a:r>
            <a:endParaRPr lang="zh-CN" sz="1300" dirty="0"/>
          </a:p>
        </p:txBody>
      </p:sp>
      <p:sp>
        <p:nvSpPr>
          <p:cNvPr id="14" name="Shape 12"/>
          <p:cNvSpPr/>
          <p:nvPr/>
        </p:nvSpPr>
        <p:spPr>
          <a:xfrm>
            <a:off x="2450592" y="3127248"/>
            <a:ext cx="146304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615184" y="2093976"/>
            <a:ext cx="1810512" cy="20756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70632" y="2276856"/>
            <a:ext cx="14081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zh-CN" sz="2300" dirty="0"/>
          </a:p>
        </p:txBody>
      </p:sp>
      <p:sp>
        <p:nvSpPr>
          <p:cNvPr id="17" name="Text 15"/>
          <p:cNvSpPr/>
          <p:nvPr/>
        </p:nvSpPr>
        <p:spPr>
          <a:xfrm>
            <a:off x="2770632" y="2779776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PCM 处理</a:t>
            </a:r>
            <a:endParaRPr lang="zh-CN" sz="1700" dirty="0"/>
          </a:p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与客户端连接</a:t>
            </a:r>
            <a:endParaRPr lang="zh-CN" sz="1700" dirty="0"/>
          </a:p>
        </p:txBody>
      </p:sp>
      <p:sp>
        <p:nvSpPr>
          <p:cNvPr id="18" name="Text 16"/>
          <p:cNvSpPr/>
          <p:nvPr/>
        </p:nvSpPr>
        <p:spPr>
          <a:xfrm>
            <a:off x="2770632" y="354787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编解码、降采样</a:t>
            </a:r>
            <a:endParaRPr lang="zh-CN" sz="1300" dirty="0"/>
          </a:p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缓存与生命周期</a:t>
            </a:r>
            <a:endParaRPr lang="zh-CN" sz="1300" dirty="0"/>
          </a:p>
        </p:txBody>
      </p:sp>
      <p:sp>
        <p:nvSpPr>
          <p:cNvPr id="19" name="Shape 17"/>
          <p:cNvSpPr/>
          <p:nvPr/>
        </p:nvSpPr>
        <p:spPr>
          <a:xfrm>
            <a:off x="4443984" y="3127248"/>
            <a:ext cx="146304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608576" y="2093976"/>
            <a:ext cx="1810512" cy="20756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64024" y="2276856"/>
            <a:ext cx="14081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zh-CN" sz="2300" dirty="0"/>
          </a:p>
        </p:txBody>
      </p:sp>
      <p:sp>
        <p:nvSpPr>
          <p:cNvPr id="22" name="Text 20"/>
          <p:cNvSpPr/>
          <p:nvPr/>
        </p:nvSpPr>
        <p:spPr>
          <a:xfrm>
            <a:off x="4764024" y="2779776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3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WebSocket</a:t>
            </a:r>
            <a:endParaRPr lang="zh-CN" sz="1630" dirty="0"/>
          </a:p>
          <a:p>
            <a:pPr marL="0" indent="0" algn="l">
              <a:buNone/>
            </a:pPr>
            <a:r>
              <a:rPr lang="zh-CN" altLang="en-US" sz="163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网关与识别翻译</a:t>
            </a:r>
            <a:endParaRPr lang="zh-CN" sz="1630" dirty="0"/>
          </a:p>
        </p:txBody>
      </p:sp>
      <p:sp>
        <p:nvSpPr>
          <p:cNvPr id="23" name="Text 21"/>
          <p:cNvSpPr/>
          <p:nvPr/>
        </p:nvSpPr>
        <p:spPr>
          <a:xfrm>
            <a:off x="4764024" y="354787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握手、鉴权与会话</a:t>
            </a:r>
            <a:endParaRPr lang="zh-CN" sz="1300" dirty="0"/>
          </a:p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 provider</a:t>
            </a:r>
            <a:endParaRPr lang="zh-CN" sz="1300" dirty="0"/>
          </a:p>
        </p:txBody>
      </p:sp>
      <p:sp>
        <p:nvSpPr>
          <p:cNvPr id="24" name="Shape 22"/>
          <p:cNvSpPr/>
          <p:nvPr/>
        </p:nvSpPr>
        <p:spPr>
          <a:xfrm>
            <a:off x="6437376" y="3127248"/>
            <a:ext cx="146304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601968" y="2093976"/>
            <a:ext cx="1810512" cy="207568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57416" y="2276856"/>
            <a:ext cx="1408176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zh-CN" sz="2300" dirty="0"/>
          </a:p>
        </p:txBody>
      </p:sp>
      <p:sp>
        <p:nvSpPr>
          <p:cNvPr id="27" name="Text 25"/>
          <p:cNvSpPr/>
          <p:nvPr/>
        </p:nvSpPr>
        <p:spPr>
          <a:xfrm>
            <a:off x="6757416" y="2779776"/>
            <a:ext cx="150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双语字幕浮层</a:t>
            </a:r>
            <a:endParaRPr lang="zh-CN" sz="1700" dirty="0"/>
          </a:p>
          <a:p>
            <a:pPr marL="0" indent="0" algn="l">
              <a:buNone/>
            </a:pPr>
            <a:r>
              <a:rPr lang="zh-CN" altLang="en-US" sz="17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与浏览器交互</a:t>
            </a:r>
            <a:endParaRPr lang="zh-CN" sz="1700" dirty="0"/>
          </a:p>
        </p:txBody>
      </p:sp>
      <p:sp>
        <p:nvSpPr>
          <p:cNvPr id="28" name="Text 26"/>
          <p:cNvSpPr/>
          <p:nvPr/>
        </p:nvSpPr>
        <p:spPr>
          <a:xfrm>
            <a:off x="6757416" y="3547872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状态合并、显示模式</a:t>
            </a:r>
            <a:endParaRPr lang="zh-CN" sz="1300" dirty="0"/>
          </a:p>
          <a:p>
            <a:pPr marL="0" indent="0" algn="l">
              <a:buNone/>
            </a:pPr>
            <a:r>
              <a:rPr lang="zh-CN" altLang="en-US" sz="13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停止与全屏迁移</a:t>
            </a:r>
            <a:endParaRPr lang="zh-CN" sz="1300" dirty="0"/>
          </a:p>
        </p:txBody>
      </p:sp>
      <p:sp>
        <p:nvSpPr>
          <p:cNvPr id="29" name="Shape 27"/>
          <p:cNvSpPr/>
          <p:nvPr/>
        </p:nvSpPr>
        <p:spPr>
          <a:xfrm>
            <a:off x="621792" y="4434840"/>
            <a:ext cx="7799832" cy="1371600"/>
          </a:xfrm>
          <a:prstGeom prst="roundRect">
            <a:avLst>
              <a:gd name="adj" fmla="val 600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2104" y="4617720"/>
            <a:ext cx="733348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本轮验证链路与交互，不评价真实识别效果</a:t>
            </a:r>
            <a:endParaRPr lang="zh-CN" sz="2000" dirty="0"/>
          </a:p>
        </p:txBody>
      </p:sp>
      <p:sp>
        <p:nvSpPr>
          <p:cNvPr id="31" name="Text 29"/>
          <p:cNvSpPr/>
          <p:nvPr/>
        </p:nvSpPr>
        <p:spPr>
          <a:xfrm>
            <a:off x="841248" y="515721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 PCM 帧  →  本地 fake provider  →  预设双语字幕</a:t>
            </a:r>
            <a:endParaRPr lang="zh-CN" sz="1650" dirty="0"/>
          </a:p>
        </p:txBody>
      </p:sp>
      <p:sp>
        <p:nvSpPr>
          <p:cNvPr id="32" name="Shape 30"/>
          <p:cNvSpPr/>
          <p:nvPr/>
        </p:nvSpPr>
        <p:spPr>
          <a:xfrm>
            <a:off x="8659368" y="1911096"/>
            <a:ext cx="2916936" cy="4178808"/>
          </a:xfrm>
          <a:prstGeom prst="roundRect">
            <a:avLst>
              <a:gd name="adj" fmla="val 3135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33104" y="2057400"/>
            <a:ext cx="2560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插件设置页</a:t>
            </a:r>
            <a:endParaRPr lang="zh-CN" sz="1550" dirty="0"/>
          </a:p>
        </p:txBody>
      </p:sp>
      <p:pic>
        <p:nvPicPr>
          <p:cNvPr id="34" name="Image 0" descr="原PPT中的实时双语字幕设置页原始截图，包含语言、外观和本地网关配置。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2459736"/>
            <a:ext cx="2596896" cy="3320186"/>
          </a:xfrm>
          <a:prstGeom prst="rect">
            <a:avLst/>
          </a:prstGeom>
        </p:spPr>
      </p:pic>
      <p:sp>
        <p:nvSpPr>
          <p:cNvPr id="35" name="Text 32"/>
          <p:cNvSpPr/>
          <p:nvPr/>
        </p:nvSpPr>
        <p:spPr>
          <a:xfrm>
            <a:off x="8814816" y="5815584"/>
            <a:ext cx="259689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90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原始截图</a:t>
            </a:r>
            <a:endParaRPr lang="zh-CN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/ 测试对象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先划清范围，才能正确解释“测试通过”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本轮条件：固定音频帧、模拟时钟、MockSocket、本地 fake provider、实际扩展脚本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65960"/>
            <a:ext cx="5358384" cy="3419856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0" y="1965960"/>
            <a:ext cx="5358384" cy="3419856"/>
          </a:xfrm>
          <a:prstGeom prst="roundRect">
            <a:avLst>
              <a:gd name="adj" fmla="val 267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2194560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5256" y="2194560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已验证</a:t>
            </a:r>
            <a:endParaRPr lang="zh-CN" sz="1250" dirty="0"/>
          </a:p>
        </p:txBody>
      </p:sp>
      <p:sp>
        <p:nvSpPr>
          <p:cNvPr id="14" name="Text 12"/>
          <p:cNvSpPr/>
          <p:nvPr/>
        </p:nvSpPr>
        <p:spPr>
          <a:xfrm>
            <a:off x="1883664" y="2194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本地逻辑与浏览器交互</a:t>
            </a:r>
            <a:endParaRPr lang="zh-CN" sz="2100" dirty="0"/>
          </a:p>
        </p:txBody>
      </p:sp>
      <p:sp>
        <p:nvSpPr>
          <p:cNvPr id="15" name="Shape 13"/>
          <p:cNvSpPr/>
          <p:nvPr/>
        </p:nvSpPr>
        <p:spPr>
          <a:xfrm>
            <a:off x="896112" y="2999232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4712" y="28712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设置校验与协议约束</a:t>
            </a:r>
            <a:endParaRPr lang="zh-CN" sz="1800" dirty="0"/>
          </a:p>
        </p:txBody>
      </p:sp>
      <p:sp>
        <p:nvSpPr>
          <p:cNvPr id="17" name="Shape 15"/>
          <p:cNvSpPr/>
          <p:nvPr/>
        </p:nvSpPr>
        <p:spPr>
          <a:xfrm>
            <a:off x="896112" y="3529584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24712" y="3401568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PCM 编解码与降采样</a:t>
            </a:r>
            <a:endParaRPr lang="zh-CN" sz="1800" dirty="0"/>
          </a:p>
        </p:txBody>
      </p:sp>
      <p:sp>
        <p:nvSpPr>
          <p:cNvPr id="19" name="Shape 17"/>
          <p:cNvSpPr/>
          <p:nvPr/>
        </p:nvSpPr>
        <p:spPr>
          <a:xfrm>
            <a:off x="896112" y="4059936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24712" y="393192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字幕状态、两秒缓存与连接停止</a:t>
            </a:r>
            <a:endParaRPr lang="zh-CN" sz="1800" dirty="0"/>
          </a:p>
        </p:txBody>
      </p:sp>
      <p:sp>
        <p:nvSpPr>
          <p:cNvPr id="21" name="Shape 19"/>
          <p:cNvSpPr/>
          <p:nvPr/>
        </p:nvSpPr>
        <p:spPr>
          <a:xfrm>
            <a:off x="896112" y="4590288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24712" y="4462272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本地网关、Chrome 设置与字幕浮层</a:t>
            </a:r>
            <a:endParaRPr lang="zh-CN" sz="1800" dirty="0"/>
          </a:p>
        </p:txBody>
      </p:sp>
      <p:sp>
        <p:nvSpPr>
          <p:cNvPr id="23" name="Shape 21"/>
          <p:cNvSpPr/>
          <p:nvPr/>
        </p:nvSpPr>
        <p:spPr>
          <a:xfrm>
            <a:off x="6437376" y="2194560"/>
            <a:ext cx="914400" cy="310896"/>
          </a:xfrm>
          <a:prstGeom prst="roundRect">
            <a:avLst>
              <a:gd name="adj" fmla="val 17647"/>
            </a:avLst>
          </a:prstGeom>
          <a:solidFill>
            <a:srgbClr val="FFF3DC"/>
          </a:solidFill>
          <a:ln w="8890">
            <a:solidFill>
              <a:srgbClr val="FFF3DC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01384" y="2194560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50" b="1" dirty="0">
                <a:solidFill>
                  <a:srgbClr val="B77B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待验收</a:t>
            </a:r>
            <a:endParaRPr lang="zh-CN" sz="1250" dirty="0"/>
          </a:p>
        </p:txBody>
      </p:sp>
      <p:sp>
        <p:nvSpPr>
          <p:cNvPr id="25" name="Text 23"/>
          <p:cNvSpPr/>
          <p:nvPr/>
        </p:nvSpPr>
        <p:spPr>
          <a:xfrm>
            <a:off x="7470648" y="2194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真实环境下的产品效果</a:t>
            </a:r>
            <a:endParaRPr lang="zh-CN" sz="2100" dirty="0"/>
          </a:p>
        </p:txBody>
      </p:sp>
      <p:sp>
        <p:nvSpPr>
          <p:cNvPr id="26" name="Shape 24"/>
          <p:cNvSpPr/>
          <p:nvPr/>
        </p:nvSpPr>
        <p:spPr>
          <a:xfrm>
            <a:off x="6492240" y="2999232"/>
            <a:ext cx="86868" cy="86868"/>
          </a:xfrm>
          <a:prstGeom prst="ellipse">
            <a:avLst/>
          </a:prstGeom>
          <a:solidFill>
            <a:srgbClr val="B77B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20840" y="2871216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用户手势触发的真实音频捕获</a:t>
            </a:r>
            <a:endParaRPr lang="zh-CN" sz="1800" dirty="0"/>
          </a:p>
        </p:txBody>
      </p:sp>
      <p:sp>
        <p:nvSpPr>
          <p:cNvPr id="28" name="Shape 26"/>
          <p:cNvSpPr/>
          <p:nvPr/>
        </p:nvSpPr>
        <p:spPr>
          <a:xfrm>
            <a:off x="6492240" y="3529584"/>
            <a:ext cx="86868" cy="86868"/>
          </a:xfrm>
          <a:prstGeom prst="ellipse">
            <a:avLst/>
          </a:prstGeom>
          <a:solidFill>
            <a:srgbClr val="B77B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20840" y="3401568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真实云端识别准确率与翻译效果</a:t>
            </a:r>
            <a:endParaRPr lang="zh-CN" sz="1800" dirty="0"/>
          </a:p>
        </p:txBody>
      </p:sp>
      <p:sp>
        <p:nvSpPr>
          <p:cNvPr id="30" name="Shape 28"/>
          <p:cNvSpPr/>
          <p:nvPr/>
        </p:nvSpPr>
        <p:spPr>
          <a:xfrm>
            <a:off x="6492240" y="4059936"/>
            <a:ext cx="86868" cy="86868"/>
          </a:xfrm>
          <a:prstGeom prst="ellipse">
            <a:avLst/>
          </a:prstGeom>
          <a:solidFill>
            <a:srgbClr val="B77B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20840" y="3931920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真实端到端延迟</a:t>
            </a:r>
            <a:endParaRPr lang="zh-CN" sz="1800" dirty="0"/>
          </a:p>
        </p:txBody>
      </p:sp>
      <p:sp>
        <p:nvSpPr>
          <p:cNvPr id="32" name="Shape 30"/>
          <p:cNvSpPr/>
          <p:nvPr/>
        </p:nvSpPr>
        <p:spPr>
          <a:xfrm>
            <a:off x="6492240" y="4590288"/>
            <a:ext cx="86868" cy="86868"/>
          </a:xfrm>
          <a:prstGeom prst="ellipse">
            <a:avLst/>
          </a:prstGeom>
          <a:solidFill>
            <a:srgbClr val="B77B2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20840" y="4462272"/>
            <a:ext cx="4517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Safari 原生宿主构建及签名</a:t>
            </a:r>
            <a:endParaRPr lang="zh-CN" sz="1800" dirty="0"/>
          </a:p>
        </p:txBody>
      </p:sp>
      <p:sp>
        <p:nvSpPr>
          <p:cNvPr id="34" name="Shape 32"/>
          <p:cNvSpPr/>
          <p:nvPr/>
        </p:nvSpPr>
        <p:spPr>
          <a:xfrm>
            <a:off x="621792" y="5596128"/>
            <a:ext cx="10954512" cy="566928"/>
          </a:xfrm>
          <a:prstGeom prst="roundRect">
            <a:avLst>
              <a:gd name="adj" fmla="val 11290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0392" y="5715000"/>
            <a:ext cx="3950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通过范围 ≠ 完整产品验收</a:t>
            </a:r>
            <a:endParaRPr lang="zh-CN" sz="2000" dirty="0"/>
          </a:p>
        </p:txBody>
      </p:sp>
      <p:sp>
        <p:nvSpPr>
          <p:cNvPr id="36" name="Text 34"/>
          <p:cNvSpPr/>
          <p:nvPr/>
        </p:nvSpPr>
        <p:spPr>
          <a:xfrm>
            <a:off x="4873752" y="5724144"/>
            <a:ext cx="6473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30" dirty="0">
                <a:solidFill>
                  <a:srgbClr val="C6D7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Safari 资源构建通过，不等于原生宿主已验收。</a:t>
            </a:r>
            <a:endParaRPr lang="zh-CN" sz="15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用例设计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用三种方法，把规则转化为可验证的测试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按每条用例的主要设计方法统计：边界值、等价类、场景法，共 62 条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493008" cy="3438144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1792" y="1975104"/>
            <a:ext cx="3493008" cy="64008"/>
          </a:xfrm>
          <a:prstGeom prst="rect">
            <a:avLst/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2276856"/>
            <a:ext cx="30540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边界值法</a:t>
            </a:r>
            <a:endParaRPr lang="zh-CN" sz="2300" dirty="0"/>
          </a:p>
        </p:txBody>
      </p:sp>
      <p:sp>
        <p:nvSpPr>
          <p:cNvPr id="13" name="Text 11"/>
          <p:cNvSpPr/>
          <p:nvPr/>
        </p:nvSpPr>
        <p:spPr>
          <a:xfrm>
            <a:off x="822960" y="2834640"/>
            <a:ext cx="1517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3374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zh-CN" sz="6600" dirty="0"/>
          </a:p>
        </p:txBody>
      </p:sp>
      <p:sp>
        <p:nvSpPr>
          <p:cNvPr id="14" name="Shape 12"/>
          <p:cNvSpPr/>
          <p:nvPr/>
        </p:nvSpPr>
        <p:spPr>
          <a:xfrm>
            <a:off x="2962656" y="3145536"/>
            <a:ext cx="914400" cy="329184"/>
          </a:xfrm>
          <a:prstGeom prst="roundRect">
            <a:avLst>
              <a:gd name="adj" fmla="val 16667"/>
            </a:avLst>
          </a:prstGeom>
          <a:solidFill>
            <a:srgbClr val="EAF1F8"/>
          </a:solidFill>
          <a:ln w="8890">
            <a:solidFill>
              <a:srgbClr val="EAF1F8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26664" y="31455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40.3%</a:t>
            </a:r>
            <a:endParaRPr lang="zh-CN" sz="1300" dirty="0"/>
          </a:p>
        </p:txBody>
      </p:sp>
      <p:sp>
        <p:nvSpPr>
          <p:cNvPr id="16" name="Text 14"/>
          <p:cNvSpPr/>
          <p:nvPr/>
        </p:nvSpPr>
        <p:spPr>
          <a:xfrm>
            <a:off x="850392" y="38496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检查刚好合法与刚好越界</a:t>
            </a:r>
            <a:endParaRPr lang="zh-CN" sz="1610" dirty="0"/>
          </a:p>
        </p:txBody>
      </p:sp>
      <p:sp>
        <p:nvSpPr>
          <p:cNvPr id="17" name="Shape 15"/>
          <p:cNvSpPr/>
          <p:nvPr/>
        </p:nvSpPr>
        <p:spPr>
          <a:xfrm>
            <a:off x="850392" y="4361688"/>
            <a:ext cx="3035808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0392" y="4581144"/>
            <a:ext cx="3035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字号：13 / 14 / 48 / 49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850392" y="498348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缓存：50 帧 / 51 帧</a:t>
            </a:r>
            <a:endParaRPr lang="zh-CN" sz="1600" dirty="0"/>
          </a:p>
        </p:txBody>
      </p:sp>
      <p:sp>
        <p:nvSpPr>
          <p:cNvPr id="20" name="Shape 18"/>
          <p:cNvSpPr/>
          <p:nvPr/>
        </p:nvSpPr>
        <p:spPr>
          <a:xfrm>
            <a:off x="4352544" y="1975104"/>
            <a:ext cx="3493008" cy="3438144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52544" y="1975104"/>
            <a:ext cx="3493008" cy="64008"/>
          </a:xfrm>
          <a:prstGeom prst="rect">
            <a:avLst/>
          </a:prstGeom>
          <a:solidFill>
            <a:srgbClr val="B77B20"/>
          </a:solidFill>
          <a:ln w="8890">
            <a:solidFill>
              <a:srgbClr val="B77B20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81144" y="2276856"/>
            <a:ext cx="30540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等价类法</a:t>
            </a:r>
            <a:endParaRPr lang="zh-CN" sz="2300" dirty="0"/>
          </a:p>
        </p:txBody>
      </p:sp>
      <p:sp>
        <p:nvSpPr>
          <p:cNvPr id="23" name="Text 21"/>
          <p:cNvSpPr/>
          <p:nvPr/>
        </p:nvSpPr>
        <p:spPr>
          <a:xfrm>
            <a:off x="4553712" y="2834640"/>
            <a:ext cx="1517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B77B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zh-CN" sz="6600" dirty="0"/>
          </a:p>
        </p:txBody>
      </p:sp>
      <p:sp>
        <p:nvSpPr>
          <p:cNvPr id="24" name="Shape 22"/>
          <p:cNvSpPr/>
          <p:nvPr/>
        </p:nvSpPr>
        <p:spPr>
          <a:xfrm>
            <a:off x="6693408" y="3145536"/>
            <a:ext cx="914400" cy="329184"/>
          </a:xfrm>
          <a:prstGeom prst="roundRect">
            <a:avLst>
              <a:gd name="adj" fmla="val 16667"/>
            </a:avLst>
          </a:prstGeom>
          <a:solidFill>
            <a:srgbClr val="FFF3DC"/>
          </a:solidFill>
          <a:ln w="8890">
            <a:solidFill>
              <a:srgbClr val="FFF3D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57416" y="31455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B77B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17.7%</a:t>
            </a:r>
            <a:endParaRPr lang="zh-CN" sz="1300" dirty="0"/>
          </a:p>
        </p:txBody>
      </p:sp>
      <p:sp>
        <p:nvSpPr>
          <p:cNvPr id="26" name="Text 24"/>
          <p:cNvSpPr/>
          <p:nvPr/>
        </p:nvSpPr>
        <p:spPr>
          <a:xfrm>
            <a:off x="4581144" y="38496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选择有代表性的无效输入</a:t>
            </a:r>
            <a:endParaRPr lang="zh-CN" sz="1610" dirty="0"/>
          </a:p>
        </p:txBody>
      </p:sp>
      <p:sp>
        <p:nvSpPr>
          <p:cNvPr id="27" name="Shape 25"/>
          <p:cNvSpPr/>
          <p:nvPr/>
        </p:nvSpPr>
        <p:spPr>
          <a:xfrm>
            <a:off x="4581144" y="4361688"/>
            <a:ext cx="3035808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81144" y="4581144"/>
            <a:ext cx="3035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重复源语言、HTTP 网关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4581144" y="498348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 PCM 字节、无效采样率</a:t>
            </a:r>
            <a:endParaRPr lang="zh-CN" sz="1600" dirty="0"/>
          </a:p>
        </p:txBody>
      </p:sp>
      <p:sp>
        <p:nvSpPr>
          <p:cNvPr id="30" name="Shape 28"/>
          <p:cNvSpPr/>
          <p:nvPr/>
        </p:nvSpPr>
        <p:spPr>
          <a:xfrm>
            <a:off x="8083296" y="1975104"/>
            <a:ext cx="3493008" cy="3438144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1975104"/>
            <a:ext cx="3493008" cy="64008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11896" y="2276856"/>
            <a:ext cx="305409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场景法</a:t>
            </a:r>
            <a:endParaRPr lang="zh-CN" sz="2300" dirty="0"/>
          </a:p>
        </p:txBody>
      </p:sp>
      <p:sp>
        <p:nvSpPr>
          <p:cNvPr id="33" name="Text 31"/>
          <p:cNvSpPr/>
          <p:nvPr/>
        </p:nvSpPr>
        <p:spPr>
          <a:xfrm>
            <a:off x="8284464" y="2834640"/>
            <a:ext cx="15179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zh-CN" sz="6600" dirty="0"/>
          </a:p>
        </p:txBody>
      </p:sp>
      <p:sp>
        <p:nvSpPr>
          <p:cNvPr id="34" name="Shape 32"/>
          <p:cNvSpPr/>
          <p:nvPr/>
        </p:nvSpPr>
        <p:spPr>
          <a:xfrm>
            <a:off x="10424160" y="3145536"/>
            <a:ext cx="914400" cy="329184"/>
          </a:xfrm>
          <a:prstGeom prst="roundRect">
            <a:avLst>
              <a:gd name="adj" fmla="val 16667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88168" y="31455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3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41.9%</a:t>
            </a:r>
            <a:endParaRPr lang="zh-CN" sz="1300" dirty="0"/>
          </a:p>
        </p:txBody>
      </p:sp>
      <p:sp>
        <p:nvSpPr>
          <p:cNvPr id="36" name="Text 34"/>
          <p:cNvSpPr/>
          <p:nvPr/>
        </p:nvSpPr>
        <p:spPr>
          <a:xfrm>
            <a:off x="8311896" y="3849624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沿完整流程检查状态变化</a:t>
            </a:r>
            <a:endParaRPr lang="zh-CN" sz="1610" dirty="0"/>
          </a:p>
        </p:txBody>
      </p:sp>
      <p:sp>
        <p:nvSpPr>
          <p:cNvPr id="37" name="Shape 35"/>
          <p:cNvSpPr/>
          <p:nvPr/>
        </p:nvSpPr>
        <p:spPr>
          <a:xfrm>
            <a:off x="8311896" y="4361688"/>
            <a:ext cx="3035808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11896" y="4581144"/>
            <a:ext cx="30358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字幕确认、连接代次变化</a:t>
            </a:r>
            <a:endParaRPr lang="zh-CN" sz="1700" dirty="0"/>
          </a:p>
        </p:txBody>
      </p:sp>
      <p:sp>
        <p:nvSpPr>
          <p:cNvPr id="39" name="Text 37"/>
          <p:cNvSpPr/>
          <p:nvPr/>
        </p:nvSpPr>
        <p:spPr>
          <a:xfrm>
            <a:off x="8311896" y="498348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握手、重连、停止与全屏</a:t>
            </a:r>
            <a:endParaRPr lang="zh-CN" sz="1600" dirty="0"/>
          </a:p>
        </p:txBody>
      </p:sp>
      <p:sp>
        <p:nvSpPr>
          <p:cNvPr id="40" name="Shape 38"/>
          <p:cNvSpPr/>
          <p:nvPr/>
        </p:nvSpPr>
        <p:spPr>
          <a:xfrm>
            <a:off x="621792" y="5623560"/>
            <a:ext cx="10954512" cy="512064"/>
          </a:xfrm>
          <a:prstGeom prst="roundRect">
            <a:avLst>
              <a:gd name="adj" fmla="val 1250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573328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设计重点：从输入值扩展到状态变化，再检查错误发生后的实际行为。</a:t>
            </a:r>
            <a:endParaRPr lang="zh-CN" sz="1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用例设计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 条用例覆盖六个测试模块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按业务模块分布展示；用例编号统一为 M1-001 至 M1-062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20</a:t>
            </a:r>
            <a:endParaRPr lang="zh-CN" sz="103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7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用例数 / 条</a:t>
            </a:r>
            <a:endParaRPr lang="zh-CN" sz="1170" dirty="0"/>
          </a:p>
        </p:txBody>
      </p:sp>
      <p:sp>
        <p:nvSpPr>
          <p:cNvPr id="11" name="Shape 9"/>
          <p:cNvSpPr/>
          <p:nvPr/>
        </p:nvSpPr>
        <p:spPr>
          <a:xfrm>
            <a:off x="2551176" y="2322576"/>
            <a:ext cx="0" cy="3474720"/>
          </a:xfrm>
          <a:prstGeom prst="line">
            <a:avLst/>
          </a:prstGeom>
          <a:noFill/>
          <a:ln w="8255">
            <a:solidFill>
              <a:srgbClr val="E2E9E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14016" y="5907024"/>
            <a:ext cx="274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100" dirty="0"/>
          </a:p>
        </p:txBody>
      </p:sp>
      <p:sp>
        <p:nvSpPr>
          <p:cNvPr id="13" name="Shape 11"/>
          <p:cNvSpPr/>
          <p:nvPr/>
        </p:nvSpPr>
        <p:spPr>
          <a:xfrm>
            <a:off x="3609594" y="2322576"/>
            <a:ext cx="0" cy="3474720"/>
          </a:xfrm>
          <a:prstGeom prst="line">
            <a:avLst/>
          </a:prstGeom>
          <a:noFill/>
          <a:ln w="8255">
            <a:solidFill>
              <a:srgbClr val="E2E9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2434" y="5907024"/>
            <a:ext cx="274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zh-CN" sz="1100" dirty="0"/>
          </a:p>
        </p:txBody>
      </p:sp>
      <p:sp>
        <p:nvSpPr>
          <p:cNvPr id="15" name="Shape 13"/>
          <p:cNvSpPr/>
          <p:nvPr/>
        </p:nvSpPr>
        <p:spPr>
          <a:xfrm>
            <a:off x="4668012" y="2322576"/>
            <a:ext cx="0" cy="3474720"/>
          </a:xfrm>
          <a:prstGeom prst="line">
            <a:avLst/>
          </a:prstGeom>
          <a:noFill/>
          <a:ln w="8255">
            <a:solidFill>
              <a:srgbClr val="E2E9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0852" y="5907024"/>
            <a:ext cx="274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zh-CN" sz="1100" dirty="0"/>
          </a:p>
        </p:txBody>
      </p:sp>
      <p:sp>
        <p:nvSpPr>
          <p:cNvPr id="17" name="Shape 15"/>
          <p:cNvSpPr/>
          <p:nvPr/>
        </p:nvSpPr>
        <p:spPr>
          <a:xfrm>
            <a:off x="5726430" y="2322576"/>
            <a:ext cx="0" cy="3474720"/>
          </a:xfrm>
          <a:prstGeom prst="line">
            <a:avLst/>
          </a:prstGeom>
          <a:noFill/>
          <a:ln w="8255">
            <a:solidFill>
              <a:srgbClr val="E2E9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89270" y="5907024"/>
            <a:ext cx="274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zh-CN" sz="1100" dirty="0"/>
          </a:p>
        </p:txBody>
      </p:sp>
      <p:sp>
        <p:nvSpPr>
          <p:cNvPr id="19" name="Shape 17"/>
          <p:cNvSpPr/>
          <p:nvPr/>
        </p:nvSpPr>
        <p:spPr>
          <a:xfrm>
            <a:off x="6784848" y="2322576"/>
            <a:ext cx="0" cy="3474720"/>
          </a:xfrm>
          <a:prstGeom prst="line">
            <a:avLst/>
          </a:prstGeom>
          <a:noFill/>
          <a:ln w="8255">
            <a:solidFill>
              <a:srgbClr val="E2E9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47688" y="5907024"/>
            <a:ext cx="2743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zh-CN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2432304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设置校验</a:t>
            </a:r>
            <a:endParaRPr lang="zh-CN" sz="1900" dirty="0"/>
          </a:p>
        </p:txBody>
      </p:sp>
      <p:sp>
        <p:nvSpPr>
          <p:cNvPr id="22" name="Shape 20"/>
          <p:cNvSpPr/>
          <p:nvPr/>
        </p:nvSpPr>
        <p:spPr>
          <a:xfrm>
            <a:off x="2551176" y="2473452"/>
            <a:ext cx="4233672" cy="274320"/>
          </a:xfrm>
          <a:prstGeom prst="roundRect">
            <a:avLst>
              <a:gd name="adj" fmla="val 11667"/>
            </a:avLst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2395728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zh-CN" sz="2400" dirty="0"/>
          </a:p>
        </p:txBody>
      </p:sp>
      <p:sp>
        <p:nvSpPr>
          <p:cNvPr id="24" name="Text 22"/>
          <p:cNvSpPr/>
          <p:nvPr/>
        </p:nvSpPr>
        <p:spPr>
          <a:xfrm>
            <a:off x="777240" y="2971800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音频处理</a:t>
            </a:r>
            <a:endParaRPr lang="zh-CN" sz="1900" dirty="0"/>
          </a:p>
        </p:txBody>
      </p:sp>
      <p:sp>
        <p:nvSpPr>
          <p:cNvPr id="25" name="Shape 23"/>
          <p:cNvSpPr/>
          <p:nvPr/>
        </p:nvSpPr>
        <p:spPr>
          <a:xfrm>
            <a:off x="2551176" y="3012948"/>
            <a:ext cx="1693469" cy="274320"/>
          </a:xfrm>
          <a:prstGeom prst="roundRect">
            <a:avLst>
              <a:gd name="adj" fmla="val 11667"/>
            </a:avLst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2661" y="2935224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zh-CN" sz="2400" dirty="0"/>
          </a:p>
        </p:txBody>
      </p:sp>
      <p:sp>
        <p:nvSpPr>
          <p:cNvPr id="27" name="Text 25"/>
          <p:cNvSpPr/>
          <p:nvPr/>
        </p:nvSpPr>
        <p:spPr>
          <a:xfrm>
            <a:off x="777240" y="3511296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字幕状态</a:t>
            </a:r>
            <a:endParaRPr lang="zh-CN" sz="1900" dirty="0"/>
          </a:p>
        </p:txBody>
      </p:sp>
      <p:sp>
        <p:nvSpPr>
          <p:cNvPr id="28" name="Shape 26"/>
          <p:cNvSpPr/>
          <p:nvPr/>
        </p:nvSpPr>
        <p:spPr>
          <a:xfrm>
            <a:off x="2551176" y="3552444"/>
            <a:ext cx="1481785" cy="274320"/>
          </a:xfrm>
          <a:prstGeom prst="roundRect">
            <a:avLst>
              <a:gd name="adj" fmla="val 11667"/>
            </a:avLst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60977" y="3474720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zh-CN" sz="2400" dirty="0"/>
          </a:p>
        </p:txBody>
      </p:sp>
      <p:sp>
        <p:nvSpPr>
          <p:cNvPr id="30" name="Text 28"/>
          <p:cNvSpPr/>
          <p:nvPr/>
        </p:nvSpPr>
        <p:spPr>
          <a:xfrm>
            <a:off x="777240" y="4050792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客户端连接</a:t>
            </a:r>
            <a:endParaRPr lang="zh-CN" sz="1900" dirty="0"/>
          </a:p>
        </p:txBody>
      </p:sp>
      <p:sp>
        <p:nvSpPr>
          <p:cNvPr id="31" name="Shape 29"/>
          <p:cNvSpPr/>
          <p:nvPr/>
        </p:nvSpPr>
        <p:spPr>
          <a:xfrm>
            <a:off x="2551176" y="4091940"/>
            <a:ext cx="1693469" cy="274320"/>
          </a:xfrm>
          <a:prstGeom prst="roundRect">
            <a:avLst>
              <a:gd name="adj" fmla="val 11667"/>
            </a:avLst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2661" y="4014216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zh-CN" sz="2400" dirty="0"/>
          </a:p>
        </p:txBody>
      </p:sp>
      <p:sp>
        <p:nvSpPr>
          <p:cNvPr id="33" name="Text 31"/>
          <p:cNvSpPr/>
          <p:nvPr/>
        </p:nvSpPr>
        <p:spPr>
          <a:xfrm>
            <a:off x="777240" y="4590288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网关会话</a:t>
            </a:r>
            <a:endParaRPr lang="zh-CN" sz="1900" dirty="0"/>
          </a:p>
        </p:txBody>
      </p:sp>
      <p:sp>
        <p:nvSpPr>
          <p:cNvPr id="34" name="Shape 32"/>
          <p:cNvSpPr/>
          <p:nvPr/>
        </p:nvSpPr>
        <p:spPr>
          <a:xfrm>
            <a:off x="2551176" y="4631436"/>
            <a:ext cx="1905152" cy="274320"/>
          </a:xfrm>
          <a:prstGeom prst="roundRect">
            <a:avLst>
              <a:gd name="adj" fmla="val 11667"/>
            </a:avLst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4344" y="4553712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zh-CN" sz="2400" dirty="0"/>
          </a:p>
        </p:txBody>
      </p:sp>
      <p:sp>
        <p:nvSpPr>
          <p:cNvPr id="36" name="Text 34"/>
          <p:cNvSpPr/>
          <p:nvPr/>
        </p:nvSpPr>
        <p:spPr>
          <a:xfrm>
            <a:off x="777240" y="5129784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 交互</a:t>
            </a:r>
            <a:endParaRPr lang="zh-CN" sz="1900" dirty="0"/>
          </a:p>
        </p:txBody>
      </p:sp>
      <p:sp>
        <p:nvSpPr>
          <p:cNvPr id="37" name="Shape 35"/>
          <p:cNvSpPr/>
          <p:nvPr/>
        </p:nvSpPr>
        <p:spPr>
          <a:xfrm>
            <a:off x="2551176" y="5170932"/>
            <a:ext cx="2116836" cy="274320"/>
          </a:xfrm>
          <a:prstGeom prst="roundRect">
            <a:avLst>
              <a:gd name="adj" fmla="val 11667"/>
            </a:avLst>
          </a:prstGeom>
          <a:solidFill>
            <a:srgbClr val="3374AE"/>
          </a:solidFill>
          <a:ln w="8890">
            <a:solidFill>
              <a:srgbClr val="3374AE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96028" y="5093208"/>
            <a:ext cx="484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zh-CN" sz="2400" dirty="0"/>
          </a:p>
        </p:txBody>
      </p:sp>
      <p:sp>
        <p:nvSpPr>
          <p:cNvPr id="39" name="Shape 37"/>
          <p:cNvSpPr/>
          <p:nvPr/>
        </p:nvSpPr>
        <p:spPr>
          <a:xfrm>
            <a:off x="7534656" y="1975104"/>
            <a:ext cx="4041648" cy="2414016"/>
          </a:xfrm>
          <a:prstGeom prst="roundRect">
            <a:avLst>
              <a:gd name="adj" fmla="val 3788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08976" y="2194560"/>
            <a:ext cx="18745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</a:t>
            </a:r>
            <a:endParaRPr lang="zh-CN" sz="7600" dirty="0"/>
          </a:p>
        </p:txBody>
      </p:sp>
      <p:sp>
        <p:nvSpPr>
          <p:cNvPr id="41" name="Text 39"/>
          <p:cNvSpPr/>
          <p:nvPr/>
        </p:nvSpPr>
        <p:spPr>
          <a:xfrm>
            <a:off x="7845552" y="3163824"/>
            <a:ext cx="3401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条用例全部自动化</a:t>
            </a:r>
            <a:endParaRPr lang="zh-CN" sz="2400" dirty="0"/>
          </a:p>
        </p:txBody>
      </p:sp>
      <p:sp>
        <p:nvSpPr>
          <p:cNvPr id="42" name="Shape 40"/>
          <p:cNvSpPr/>
          <p:nvPr/>
        </p:nvSpPr>
        <p:spPr>
          <a:xfrm>
            <a:off x="7845552" y="3749040"/>
            <a:ext cx="1536192" cy="320040"/>
          </a:xfrm>
          <a:prstGeom prst="roundRect">
            <a:avLst>
              <a:gd name="adj" fmla="val 17143"/>
            </a:avLst>
          </a:prstGeom>
          <a:solidFill>
            <a:srgbClr val="244D5B"/>
          </a:solidFill>
          <a:ln w="8890">
            <a:solidFill>
              <a:srgbClr val="244D5B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909560" y="3749040"/>
            <a:ext cx="14081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C8EC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 Vitest</a:t>
            </a:r>
            <a:endParaRPr lang="zh-CN" sz="1220" dirty="0"/>
          </a:p>
        </p:txBody>
      </p:sp>
      <p:sp>
        <p:nvSpPr>
          <p:cNvPr id="44" name="Shape 42"/>
          <p:cNvSpPr/>
          <p:nvPr/>
        </p:nvSpPr>
        <p:spPr>
          <a:xfrm>
            <a:off x="9537192" y="3749040"/>
            <a:ext cx="1746504" cy="320040"/>
          </a:xfrm>
          <a:prstGeom prst="roundRect">
            <a:avLst>
              <a:gd name="adj" fmla="val 17143"/>
            </a:avLst>
          </a:prstGeom>
          <a:solidFill>
            <a:srgbClr val="244D5B"/>
          </a:solidFill>
          <a:ln w="8890">
            <a:solidFill>
              <a:srgbClr val="244D5B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01200" y="3749040"/>
            <a:ext cx="1618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C8ECE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条 Playwright</a:t>
            </a:r>
            <a:endParaRPr lang="zh-CN" sz="1220" dirty="0"/>
          </a:p>
        </p:txBody>
      </p:sp>
      <p:sp>
        <p:nvSpPr>
          <p:cNvPr id="46" name="Shape 44"/>
          <p:cNvSpPr/>
          <p:nvPr/>
        </p:nvSpPr>
        <p:spPr>
          <a:xfrm>
            <a:off x="7534656" y="4608576"/>
            <a:ext cx="404164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81544" y="4846320"/>
            <a:ext cx="352958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 ≠ 执行框架</a:t>
            </a:r>
            <a:endParaRPr lang="zh-CN" sz="2000" dirty="0"/>
          </a:p>
        </p:txBody>
      </p:sp>
      <p:sp>
        <p:nvSpPr>
          <p:cNvPr id="48" name="Text 46"/>
          <p:cNvSpPr/>
          <p:nvPr/>
        </p:nvSpPr>
        <p:spPr>
          <a:xfrm>
            <a:off x="7790688" y="5312664"/>
            <a:ext cx="35295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 Chrome 交互用例</a:t>
            </a:r>
            <a:endParaRPr lang="zh-CN" sz="1340" dirty="0"/>
          </a:p>
          <a:p>
            <a:pPr marL="0" indent="0" algn="l">
              <a:buNone/>
            </a:pPr>
            <a:r>
              <a:rPr lang="zh-CN" altLang="en-US" sz="134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+ 2 条原生 WebSocket 用例</a:t>
            </a:r>
            <a:endParaRPr lang="zh-CN" sz="1340" dirty="0"/>
          </a:p>
          <a:p>
            <a:pPr marL="0" indent="0" algn="l">
              <a:buNone/>
            </a:pPr>
            <a:r>
              <a:rPr lang="zh-CN" altLang="en-US" sz="134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12 条 Playwright 测试</a:t>
            </a:r>
            <a:endParaRPr lang="zh-CN" sz="13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用例设计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典型用例：把“应该正确”写成明确断言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每条用例都明确输入、操作和可检查的预期，而不是只描述一个功能名称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65960"/>
            <a:ext cx="5358384" cy="1929384"/>
          </a:xfrm>
          <a:prstGeom prst="roundRect">
            <a:avLst>
              <a:gd name="adj" fmla="val 4739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2104" y="2157984"/>
            <a:ext cx="1133856" cy="292608"/>
          </a:xfrm>
          <a:prstGeom prst="roundRect">
            <a:avLst>
              <a:gd name="adj" fmla="val 1875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1579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M1-025</a:t>
            </a:r>
            <a:endParaRPr lang="zh-CN" sz="1210" dirty="0"/>
          </a:p>
        </p:txBody>
      </p:sp>
      <p:sp>
        <p:nvSpPr>
          <p:cNvPr id="13" name="Text 11"/>
          <p:cNvSpPr/>
          <p:nvPr/>
        </p:nvSpPr>
        <p:spPr>
          <a:xfrm>
            <a:off x="4818888" y="216712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场景法</a:t>
            </a:r>
            <a:endParaRPr lang="zh-CN" sz="1200" dirty="0"/>
          </a:p>
        </p:txBody>
      </p:sp>
      <p:sp>
        <p:nvSpPr>
          <p:cNvPr id="14" name="Text 12"/>
          <p:cNvSpPr/>
          <p:nvPr/>
        </p:nvSpPr>
        <p:spPr>
          <a:xfrm>
            <a:off x="850392" y="2624328"/>
            <a:ext cx="4892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最终片段不可回退</a:t>
            </a:r>
            <a:endParaRPr lang="zh-CN" sz="2200" dirty="0"/>
          </a:p>
        </p:txBody>
      </p:sp>
      <p:sp>
        <p:nvSpPr>
          <p:cNvPr id="15" name="Text 13"/>
          <p:cNvSpPr/>
          <p:nvPr/>
        </p:nvSpPr>
        <p:spPr>
          <a:xfrm>
            <a:off x="850392" y="310896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zh-CN" sz="1360" dirty="0"/>
          </a:p>
        </p:txBody>
      </p:sp>
      <p:sp>
        <p:nvSpPr>
          <p:cNvPr id="16" name="Text 14"/>
          <p:cNvSpPr/>
          <p:nvPr/>
        </p:nvSpPr>
        <p:spPr>
          <a:xfrm>
            <a:off x="1536192" y="309981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final rev2  →  interim rev3</a:t>
            </a:r>
            <a:endParaRPr lang="zh-CN" sz="1700" dirty="0"/>
          </a:p>
        </p:txBody>
      </p:sp>
      <p:sp>
        <p:nvSpPr>
          <p:cNvPr id="17" name="Text 15"/>
          <p:cNvSpPr/>
          <p:nvPr/>
        </p:nvSpPr>
        <p:spPr>
          <a:xfrm>
            <a:off x="850392" y="35204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</a:t>
            </a:r>
            <a:endParaRPr lang="zh-CN" sz="1360" dirty="0"/>
          </a:p>
        </p:txBody>
      </p:sp>
      <p:sp>
        <p:nvSpPr>
          <p:cNvPr id="18" name="Text 16"/>
          <p:cNvSpPr/>
          <p:nvPr/>
        </p:nvSpPr>
        <p:spPr>
          <a:xfrm>
            <a:off x="1536192" y="349300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final 保留；interim 为空</a:t>
            </a:r>
            <a:endParaRPr lang="zh-CN" sz="1720" dirty="0"/>
          </a:p>
        </p:txBody>
      </p:sp>
      <p:sp>
        <p:nvSpPr>
          <p:cNvPr id="19" name="Shape 17"/>
          <p:cNvSpPr/>
          <p:nvPr/>
        </p:nvSpPr>
        <p:spPr>
          <a:xfrm>
            <a:off x="6217920" y="1965960"/>
            <a:ext cx="5358384" cy="1929384"/>
          </a:xfrm>
          <a:prstGeom prst="roundRect">
            <a:avLst>
              <a:gd name="adj" fmla="val 4739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28232" y="2157984"/>
            <a:ext cx="1133856" cy="292608"/>
          </a:xfrm>
          <a:prstGeom prst="roundRect">
            <a:avLst>
              <a:gd name="adj" fmla="val 18750"/>
            </a:avLst>
          </a:prstGeom>
          <a:solidFill>
            <a:srgbClr val="EAF1F8"/>
          </a:solidFill>
          <a:ln w="8890">
            <a:solidFill>
              <a:srgbClr val="EAF1F8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215798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M1-027</a:t>
            </a:r>
            <a:endParaRPr lang="zh-CN" sz="1210" dirty="0"/>
          </a:p>
        </p:txBody>
      </p:sp>
      <p:sp>
        <p:nvSpPr>
          <p:cNvPr id="22" name="Text 20"/>
          <p:cNvSpPr/>
          <p:nvPr/>
        </p:nvSpPr>
        <p:spPr>
          <a:xfrm>
            <a:off x="10415016" y="216712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边界值</a:t>
            </a:r>
            <a:endParaRPr lang="zh-CN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2624328"/>
            <a:ext cx="4892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跨越两秒缓存边界</a:t>
            </a:r>
            <a:endParaRPr lang="zh-CN" sz="2200" dirty="0"/>
          </a:p>
        </p:txBody>
      </p:sp>
      <p:sp>
        <p:nvSpPr>
          <p:cNvPr id="24" name="Text 22"/>
          <p:cNvSpPr/>
          <p:nvPr/>
        </p:nvSpPr>
        <p:spPr>
          <a:xfrm>
            <a:off x="6446520" y="310896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zh-CN" sz="1360" dirty="0"/>
          </a:p>
        </p:txBody>
      </p:sp>
      <p:sp>
        <p:nvSpPr>
          <p:cNvPr id="25" name="Text 23"/>
          <p:cNvSpPr/>
          <p:nvPr/>
        </p:nvSpPr>
        <p:spPr>
          <a:xfrm>
            <a:off x="7132320" y="309981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 × 40 ms = 2040 ms</a:t>
            </a:r>
            <a:endParaRPr lang="zh-CN" sz="1700" dirty="0"/>
          </a:p>
        </p:txBody>
      </p:sp>
      <p:sp>
        <p:nvSpPr>
          <p:cNvPr id="26" name="Text 24"/>
          <p:cNvSpPr/>
          <p:nvPr/>
        </p:nvSpPr>
        <p:spPr>
          <a:xfrm>
            <a:off x="6446520" y="352044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</a:t>
            </a:r>
            <a:endParaRPr lang="zh-CN" sz="1360" dirty="0"/>
          </a:p>
        </p:txBody>
      </p:sp>
      <p:sp>
        <p:nvSpPr>
          <p:cNvPr id="27" name="Text 25"/>
          <p:cNvSpPr/>
          <p:nvPr/>
        </p:nvSpPr>
        <p:spPr>
          <a:xfrm>
            <a:off x="7132320" y="349300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2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仅发序号 1–50；报告 audio_gap</a:t>
            </a:r>
            <a:endParaRPr lang="zh-CN" sz="1720" dirty="0"/>
          </a:p>
        </p:txBody>
      </p:sp>
      <p:sp>
        <p:nvSpPr>
          <p:cNvPr id="28" name="Shape 26"/>
          <p:cNvSpPr/>
          <p:nvPr/>
        </p:nvSpPr>
        <p:spPr>
          <a:xfrm>
            <a:off x="621792" y="4114800"/>
            <a:ext cx="5358384" cy="1929384"/>
          </a:xfrm>
          <a:prstGeom prst="roundRect">
            <a:avLst>
              <a:gd name="adj" fmla="val 4739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104" y="4306824"/>
            <a:ext cx="1133856" cy="292608"/>
          </a:xfrm>
          <a:prstGeom prst="roundRect">
            <a:avLst>
              <a:gd name="adj" fmla="val 18750"/>
            </a:avLst>
          </a:prstGeom>
          <a:solidFill>
            <a:srgbClr val="EAF1F8"/>
          </a:solidFill>
          <a:ln w="8890">
            <a:solidFill>
              <a:srgbClr val="EAF1F8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3068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M1-059</a:t>
            </a:r>
            <a:endParaRPr lang="zh-CN" sz="1210" dirty="0"/>
          </a:p>
        </p:txBody>
      </p:sp>
      <p:sp>
        <p:nvSpPr>
          <p:cNvPr id="31" name="Text 29"/>
          <p:cNvSpPr/>
          <p:nvPr/>
        </p:nvSpPr>
        <p:spPr>
          <a:xfrm>
            <a:off x="4818888" y="431596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边界值</a:t>
            </a:r>
            <a:endParaRPr lang="zh-CN" sz="1200" dirty="0"/>
          </a:p>
        </p:txBody>
      </p:sp>
      <p:sp>
        <p:nvSpPr>
          <p:cNvPr id="32" name="Text 30"/>
          <p:cNvSpPr/>
          <p:nvPr/>
        </p:nvSpPr>
        <p:spPr>
          <a:xfrm>
            <a:off x="850392" y="4773168"/>
            <a:ext cx="4892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浏览器背压恢复</a:t>
            </a:r>
            <a:endParaRPr lang="zh-CN" sz="2200" dirty="0"/>
          </a:p>
        </p:txBody>
      </p:sp>
      <p:sp>
        <p:nvSpPr>
          <p:cNvPr id="33" name="Text 31"/>
          <p:cNvSpPr/>
          <p:nvPr/>
        </p:nvSpPr>
        <p:spPr>
          <a:xfrm>
            <a:off x="850392" y="525780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zh-CN" sz="1360" dirty="0"/>
          </a:p>
        </p:txBody>
      </p:sp>
      <p:sp>
        <p:nvSpPr>
          <p:cNvPr id="34" name="Text 32"/>
          <p:cNvSpPr/>
          <p:nvPr/>
        </p:nvSpPr>
        <p:spPr>
          <a:xfrm>
            <a:off x="1536192" y="524865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bufferedAmount = 262145</a:t>
            </a:r>
            <a:endParaRPr lang="zh-CN" sz="1700" dirty="0"/>
          </a:p>
        </p:txBody>
      </p:sp>
      <p:sp>
        <p:nvSpPr>
          <p:cNvPr id="35" name="Text 33"/>
          <p:cNvSpPr/>
          <p:nvPr/>
        </p:nvSpPr>
        <p:spPr>
          <a:xfrm>
            <a:off x="850392" y="56692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</a:t>
            </a:r>
            <a:endParaRPr lang="zh-CN" sz="1360" dirty="0"/>
          </a:p>
        </p:txBody>
      </p:sp>
      <p:sp>
        <p:nvSpPr>
          <p:cNvPr id="36" name="Text 34"/>
          <p:cNvSpPr/>
          <p:nvPr/>
        </p:nvSpPr>
        <p:spPr>
          <a:xfrm>
            <a:off x="1536192" y="56418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2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close(4013)；不抛异常</a:t>
            </a:r>
            <a:endParaRPr lang="zh-CN" sz="1720" dirty="0"/>
          </a:p>
        </p:txBody>
      </p:sp>
      <p:sp>
        <p:nvSpPr>
          <p:cNvPr id="37" name="Shape 35"/>
          <p:cNvSpPr/>
          <p:nvPr/>
        </p:nvSpPr>
        <p:spPr>
          <a:xfrm>
            <a:off x="6217920" y="4114800"/>
            <a:ext cx="5358384" cy="1929384"/>
          </a:xfrm>
          <a:prstGeom prst="roundRect">
            <a:avLst>
              <a:gd name="adj" fmla="val 4739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28232" y="4306824"/>
            <a:ext cx="1133856" cy="292608"/>
          </a:xfrm>
          <a:prstGeom prst="roundRect">
            <a:avLst>
              <a:gd name="adj" fmla="val 1875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43068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M1-061</a:t>
            </a:r>
            <a:endParaRPr lang="zh-CN" sz="1210" dirty="0"/>
          </a:p>
        </p:txBody>
      </p:sp>
      <p:sp>
        <p:nvSpPr>
          <p:cNvPr id="40" name="Text 38"/>
          <p:cNvSpPr/>
          <p:nvPr/>
        </p:nvSpPr>
        <p:spPr>
          <a:xfrm>
            <a:off x="10415016" y="431596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2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场景法</a:t>
            </a:r>
            <a:endParaRPr lang="zh-CN" sz="1200" dirty="0"/>
          </a:p>
        </p:txBody>
      </p:sp>
      <p:sp>
        <p:nvSpPr>
          <p:cNvPr id="41" name="Text 39"/>
          <p:cNvSpPr/>
          <p:nvPr/>
        </p:nvSpPr>
        <p:spPr>
          <a:xfrm>
            <a:off x="6446520" y="4773168"/>
            <a:ext cx="48920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致命错误后的连接停止</a:t>
            </a:r>
            <a:endParaRPr lang="zh-CN" sz="2200" dirty="0"/>
          </a:p>
        </p:txBody>
      </p:sp>
      <p:sp>
        <p:nvSpPr>
          <p:cNvPr id="42" name="Text 40"/>
          <p:cNvSpPr/>
          <p:nvPr/>
        </p:nvSpPr>
        <p:spPr>
          <a:xfrm>
            <a:off x="6446520" y="525780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zh-CN" sz="1360" dirty="0"/>
          </a:p>
        </p:txBody>
      </p:sp>
      <p:sp>
        <p:nvSpPr>
          <p:cNvPr id="43" name="Text 41"/>
          <p:cNvSpPr/>
          <p:nvPr/>
        </p:nvSpPr>
        <p:spPr>
          <a:xfrm>
            <a:off x="7132320" y="5248656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会话不匹配后，继续 push PCM</a:t>
            </a:r>
            <a:endParaRPr lang="zh-CN" sz="1700" dirty="0"/>
          </a:p>
        </p:txBody>
      </p:sp>
      <p:sp>
        <p:nvSpPr>
          <p:cNvPr id="44" name="Text 42"/>
          <p:cNvSpPr/>
          <p:nvPr/>
        </p:nvSpPr>
        <p:spPr>
          <a:xfrm>
            <a:off x="6446520" y="5669280"/>
            <a:ext cx="548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6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断言</a:t>
            </a:r>
            <a:endParaRPr lang="zh-CN" sz="1360" dirty="0"/>
          </a:p>
        </p:txBody>
      </p:sp>
      <p:sp>
        <p:nvSpPr>
          <p:cNvPr id="45" name="Text 43"/>
          <p:cNvSpPr/>
          <p:nvPr/>
        </p:nvSpPr>
        <p:spPr>
          <a:xfrm>
            <a:off x="7132320" y="5641848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不再发送；关闭连接；不重连</a:t>
            </a:r>
            <a:endParaRPr lang="zh-CN" sz="17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自动化执行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隔离波动，但保留关键的真实运行行为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条 Vitest + 12 条 Playwright：逻辑验证与浏览器约束相互补充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5358384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49424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3374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zh-CN" sz="6600" dirty="0"/>
          </a:p>
        </p:txBody>
      </p:sp>
      <p:sp>
        <p:nvSpPr>
          <p:cNvPr id="12" name="Text 10"/>
          <p:cNvSpPr/>
          <p:nvPr/>
        </p:nvSpPr>
        <p:spPr>
          <a:xfrm>
            <a:off x="2487168" y="248716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100" b="1" dirty="0">
                <a:solidFill>
                  <a:srgbClr val="3374A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Vitest</a:t>
            </a:r>
            <a:endParaRPr lang="zh-CN" sz="3100" dirty="0"/>
          </a:p>
        </p:txBody>
      </p:sp>
      <p:sp>
        <p:nvSpPr>
          <p:cNvPr id="13" name="Text 11"/>
          <p:cNvSpPr/>
          <p:nvPr/>
        </p:nvSpPr>
        <p:spPr>
          <a:xfrm>
            <a:off x="905256" y="3273552"/>
            <a:ext cx="4782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参数、状态、PCM 与本地网关</a:t>
            </a:r>
            <a:endParaRPr lang="zh-CN" sz="1700" dirty="0"/>
          </a:p>
        </p:txBody>
      </p:sp>
      <p:sp>
        <p:nvSpPr>
          <p:cNvPr id="14" name="Shape 12"/>
          <p:cNvSpPr/>
          <p:nvPr/>
        </p:nvSpPr>
        <p:spPr>
          <a:xfrm>
            <a:off x="896112" y="3803904"/>
            <a:ext cx="4809744" cy="0"/>
          </a:xfrm>
          <a:prstGeom prst="line">
            <a:avLst/>
          </a:prstGeom>
          <a:noFill/>
          <a:ln w="8890">
            <a:solidFill>
              <a:srgbClr val="DCE4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142232"/>
            <a:ext cx="86868" cy="86868"/>
          </a:xfrm>
          <a:prstGeom prst="ellipse">
            <a:avLst/>
          </a:prstGeom>
          <a:solidFill>
            <a:srgbClr val="3374A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01421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纯函数与共享协议断言</a:t>
            </a:r>
            <a:endParaRPr lang="zh-CN" sz="1700" dirty="0"/>
          </a:p>
        </p:txBody>
      </p:sp>
      <p:sp>
        <p:nvSpPr>
          <p:cNvPr id="17" name="Shape 15"/>
          <p:cNvSpPr/>
          <p:nvPr/>
        </p:nvSpPr>
        <p:spPr>
          <a:xfrm>
            <a:off x="932688" y="4553712"/>
            <a:ext cx="86868" cy="86868"/>
          </a:xfrm>
          <a:prstGeom prst="ellipse">
            <a:avLst/>
          </a:prstGeom>
          <a:solidFill>
            <a:srgbClr val="3374A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61288" y="442569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MockSocket + 模拟时钟</a:t>
            </a:r>
            <a:endParaRPr lang="zh-CN" sz="1700" dirty="0"/>
          </a:p>
        </p:txBody>
      </p:sp>
      <p:sp>
        <p:nvSpPr>
          <p:cNvPr id="19" name="Shape 17"/>
          <p:cNvSpPr/>
          <p:nvPr/>
        </p:nvSpPr>
        <p:spPr>
          <a:xfrm>
            <a:off x="932688" y="4965192"/>
            <a:ext cx="86868" cy="86868"/>
          </a:xfrm>
          <a:prstGeom prst="ellipse">
            <a:avLst/>
          </a:prstGeom>
          <a:solidFill>
            <a:srgbClr val="3374A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83717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真实本地网关 + fake provider</a:t>
            </a:r>
            <a:endParaRPr lang="zh-CN" sz="1700" dirty="0"/>
          </a:p>
        </p:txBody>
      </p:sp>
      <p:sp>
        <p:nvSpPr>
          <p:cNvPr id="21" name="Shape 19"/>
          <p:cNvSpPr/>
          <p:nvPr/>
        </p:nvSpPr>
        <p:spPr>
          <a:xfrm>
            <a:off x="6217920" y="1975104"/>
            <a:ext cx="5358384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64808" y="2249424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66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zh-CN" sz="6600" dirty="0"/>
          </a:p>
        </p:txBody>
      </p:sp>
      <p:sp>
        <p:nvSpPr>
          <p:cNvPr id="23" name="Text 21"/>
          <p:cNvSpPr/>
          <p:nvPr/>
        </p:nvSpPr>
        <p:spPr>
          <a:xfrm>
            <a:off x="8083296" y="248716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1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Playwright</a:t>
            </a:r>
            <a:endParaRPr lang="zh-CN" sz="3100" dirty="0"/>
          </a:p>
        </p:txBody>
      </p:sp>
      <p:sp>
        <p:nvSpPr>
          <p:cNvPr id="24" name="Text 22"/>
          <p:cNvSpPr/>
          <p:nvPr/>
        </p:nvSpPr>
        <p:spPr>
          <a:xfrm>
            <a:off x="6501384" y="3273552"/>
            <a:ext cx="4782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Chromium 中的扩展行为</a:t>
            </a:r>
            <a:endParaRPr lang="zh-CN" sz="1700" dirty="0"/>
          </a:p>
        </p:txBody>
      </p:sp>
      <p:sp>
        <p:nvSpPr>
          <p:cNvPr id="25" name="Shape 23"/>
          <p:cNvSpPr/>
          <p:nvPr/>
        </p:nvSpPr>
        <p:spPr>
          <a:xfrm>
            <a:off x="6492240" y="3803904"/>
            <a:ext cx="4809744" cy="0"/>
          </a:xfrm>
          <a:prstGeom prst="line">
            <a:avLst/>
          </a:prstGeom>
          <a:noFill/>
          <a:ln w="8890">
            <a:solidFill>
              <a:srgbClr val="DCE4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28816" y="4142232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57416" y="401421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 Chrome MV3 设置页</a:t>
            </a:r>
            <a:endParaRPr lang="zh-CN" sz="1700" dirty="0"/>
          </a:p>
        </p:txBody>
      </p:sp>
      <p:sp>
        <p:nvSpPr>
          <p:cNvPr id="28" name="Shape 26"/>
          <p:cNvSpPr/>
          <p:nvPr/>
        </p:nvSpPr>
        <p:spPr>
          <a:xfrm>
            <a:off x="6528816" y="4553712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57416" y="442569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构建后的 content.js + 固定字幕事件</a:t>
            </a:r>
            <a:endParaRPr lang="zh-CN" sz="1700" dirty="0"/>
          </a:p>
        </p:txBody>
      </p:sp>
      <p:sp>
        <p:nvSpPr>
          <p:cNvPr id="30" name="Shape 28"/>
          <p:cNvSpPr/>
          <p:nvPr/>
        </p:nvSpPr>
        <p:spPr>
          <a:xfrm>
            <a:off x="6528816" y="4965192"/>
            <a:ext cx="86868" cy="86868"/>
          </a:xfrm>
          <a:prstGeom prst="ellipse">
            <a:avLst/>
          </a:prstGeom>
          <a:solidFill>
            <a:srgbClr val="008F8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57416" y="4837176"/>
            <a:ext cx="4471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保留原生 WebSocket.close 校验</a:t>
            </a:r>
            <a:endParaRPr lang="zh-CN" sz="1700" dirty="0"/>
          </a:p>
        </p:txBody>
      </p:sp>
      <p:sp>
        <p:nvSpPr>
          <p:cNvPr id="32" name="Shape 30"/>
          <p:cNvSpPr/>
          <p:nvPr/>
        </p:nvSpPr>
        <p:spPr>
          <a:xfrm>
            <a:off x="621792" y="5669280"/>
            <a:ext cx="10954512" cy="466344"/>
          </a:xfrm>
          <a:prstGeom prst="roundRect">
            <a:avLst>
              <a:gd name="adj" fmla="val 13725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6968" y="57790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固定输入</a:t>
            </a:r>
            <a:endParaRPr lang="zh-CN" sz="1710" dirty="0"/>
          </a:p>
        </p:txBody>
      </p:sp>
      <p:sp>
        <p:nvSpPr>
          <p:cNvPr id="34" name="Shape 32"/>
          <p:cNvSpPr/>
          <p:nvPr/>
        </p:nvSpPr>
        <p:spPr>
          <a:xfrm>
            <a:off x="3090672" y="5897880"/>
            <a:ext cx="256032" cy="0"/>
          </a:xfrm>
          <a:prstGeom prst="line">
            <a:avLst/>
          </a:prstGeom>
          <a:noFill/>
          <a:ln w="21590">
            <a:solidFill>
              <a:srgbClr val="719CAA"/>
            </a:solidFill>
            <a:prstDash val="solid"/>
            <a:headEnd type="none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3630168" y="57790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真实实现</a:t>
            </a:r>
            <a:endParaRPr lang="zh-CN" sz="1710" dirty="0"/>
          </a:p>
        </p:txBody>
      </p:sp>
      <p:sp>
        <p:nvSpPr>
          <p:cNvPr id="36" name="Shape 34"/>
          <p:cNvSpPr/>
          <p:nvPr/>
        </p:nvSpPr>
        <p:spPr>
          <a:xfrm>
            <a:off x="5833872" y="5897880"/>
            <a:ext cx="256032" cy="0"/>
          </a:xfrm>
          <a:prstGeom prst="line">
            <a:avLst/>
          </a:prstGeom>
          <a:noFill/>
          <a:ln w="21590">
            <a:solidFill>
              <a:srgbClr val="719CAA"/>
            </a:solidFill>
            <a:prstDash val="solid"/>
            <a:headEnd type="none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6373368" y="57790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精确断言</a:t>
            </a:r>
            <a:endParaRPr lang="zh-CN" sz="1710" dirty="0"/>
          </a:p>
        </p:txBody>
      </p:sp>
      <p:sp>
        <p:nvSpPr>
          <p:cNvPr id="38" name="Shape 36"/>
          <p:cNvSpPr/>
          <p:nvPr/>
        </p:nvSpPr>
        <p:spPr>
          <a:xfrm>
            <a:off x="8577072" y="5897880"/>
            <a:ext cx="256032" cy="0"/>
          </a:xfrm>
          <a:prstGeom prst="line">
            <a:avLst/>
          </a:prstGeom>
          <a:noFill/>
          <a:ln w="21590">
            <a:solidFill>
              <a:srgbClr val="719CAA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9116568" y="577900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1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统一编号</a:t>
            </a:r>
            <a:endParaRPr lang="zh-CN" sz="17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自动化执行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一键执行，并把结果追溯到每一条用例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测试名称、Excel 行与 JSON 结果共享 M1 编号；入口包含必要的扩展构建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56816"/>
            <a:ext cx="10954512" cy="694944"/>
          </a:xfrm>
          <a:prstGeom prst="roundRect">
            <a:avLst>
              <a:gd name="adj" fmla="val 11842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121408"/>
            <a:ext cx="6821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test:module1:all</a:t>
            </a:r>
            <a:endParaRPr lang="zh-CN" sz="2300" dirty="0"/>
          </a:p>
        </p:txBody>
      </p:sp>
      <p:sp>
        <p:nvSpPr>
          <p:cNvPr id="12" name="Shape 10"/>
          <p:cNvSpPr/>
          <p:nvPr/>
        </p:nvSpPr>
        <p:spPr>
          <a:xfrm>
            <a:off x="8567928" y="2167128"/>
            <a:ext cx="2706624" cy="283464"/>
          </a:xfrm>
          <a:prstGeom prst="roundRect">
            <a:avLst>
              <a:gd name="adj" fmla="val 19355"/>
            </a:avLst>
          </a:prstGeom>
          <a:solidFill>
            <a:srgbClr val="254B59"/>
          </a:solidFill>
          <a:ln w="8890">
            <a:solidFill>
              <a:srgbClr val="254B59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31936" y="2167128"/>
            <a:ext cx="2578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40" b="1" dirty="0">
                <a:solidFill>
                  <a:srgbClr val="C2EA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 0 · 失败或未执行非 0</a:t>
            </a:r>
            <a:endParaRPr lang="zh-CN" sz="1140" dirty="0"/>
          </a:p>
        </p:txBody>
      </p:sp>
      <p:sp>
        <p:nvSpPr>
          <p:cNvPr id="14" name="Shape 12"/>
          <p:cNvSpPr/>
          <p:nvPr/>
        </p:nvSpPr>
        <p:spPr>
          <a:xfrm>
            <a:off x="621792" y="2916936"/>
            <a:ext cx="2999232" cy="1563624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9981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第一批次</a:t>
            </a:r>
            <a:endParaRPr lang="zh-CN" sz="1340" dirty="0"/>
          </a:p>
        </p:txBody>
      </p:sp>
      <p:sp>
        <p:nvSpPr>
          <p:cNvPr id="16" name="Text 14"/>
          <p:cNvSpPr/>
          <p:nvPr/>
        </p:nvSpPr>
        <p:spPr>
          <a:xfrm>
            <a:off x="822960" y="3529584"/>
            <a:ext cx="923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5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zh-CN" sz="4500" dirty="0"/>
          </a:p>
        </p:txBody>
      </p:sp>
      <p:sp>
        <p:nvSpPr>
          <p:cNvPr id="17" name="Text 15"/>
          <p:cNvSpPr/>
          <p:nvPr/>
        </p:nvSpPr>
        <p:spPr>
          <a:xfrm>
            <a:off x="1810512" y="3758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</a:t>
            </a:r>
            <a:endParaRPr lang="zh-CN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18795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M1-001 ～ M1-038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3858768" y="2916936"/>
            <a:ext cx="2999232" cy="1563624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59936" y="3099816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第二批次</a:t>
            </a:r>
            <a:endParaRPr lang="zh-CN" sz="1340" dirty="0"/>
          </a:p>
        </p:txBody>
      </p:sp>
      <p:sp>
        <p:nvSpPr>
          <p:cNvPr id="21" name="Text 19"/>
          <p:cNvSpPr/>
          <p:nvPr/>
        </p:nvSpPr>
        <p:spPr>
          <a:xfrm>
            <a:off x="4059936" y="3529584"/>
            <a:ext cx="9235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45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zh-CN" sz="4500" dirty="0"/>
          </a:p>
        </p:txBody>
      </p:sp>
      <p:sp>
        <p:nvSpPr>
          <p:cNvPr id="22" name="Text 20"/>
          <p:cNvSpPr/>
          <p:nvPr/>
        </p:nvSpPr>
        <p:spPr>
          <a:xfrm>
            <a:off x="5047488" y="37581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</a:t>
            </a:r>
            <a:endParaRPr lang="zh-CN" sz="1400" dirty="0"/>
          </a:p>
        </p:txBody>
      </p:sp>
      <p:sp>
        <p:nvSpPr>
          <p:cNvPr id="23" name="Text 21"/>
          <p:cNvSpPr/>
          <p:nvPr/>
        </p:nvSpPr>
        <p:spPr>
          <a:xfrm>
            <a:off x="4059936" y="4187952"/>
            <a:ext cx="2606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M1-039 ～ M1-062</a:t>
            </a:r>
            <a:endParaRPr lang="zh-CN" sz="1250" dirty="0"/>
          </a:p>
        </p:txBody>
      </p:sp>
      <p:sp>
        <p:nvSpPr>
          <p:cNvPr id="24" name="Text 22"/>
          <p:cNvSpPr/>
          <p:nvPr/>
        </p:nvSpPr>
        <p:spPr>
          <a:xfrm>
            <a:off x="3630168" y="347472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800" dirty="0">
                <a:solidFill>
                  <a:srgbClr val="8697A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zh-CN" sz="2800" dirty="0"/>
          </a:p>
        </p:txBody>
      </p:sp>
      <p:sp>
        <p:nvSpPr>
          <p:cNvPr id="25" name="Shape 23"/>
          <p:cNvSpPr/>
          <p:nvPr/>
        </p:nvSpPr>
        <p:spPr>
          <a:xfrm>
            <a:off x="7040880" y="3712464"/>
            <a:ext cx="502920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754112" y="2916936"/>
            <a:ext cx="3822192" cy="1563624"/>
          </a:xfrm>
          <a:prstGeom prst="roundRect">
            <a:avLst>
              <a:gd name="adj" fmla="val 4678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01000" y="313639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统一汇总</a:t>
            </a:r>
            <a:endParaRPr lang="zh-CN" sz="2200" dirty="0"/>
          </a:p>
        </p:txBody>
      </p:sp>
      <p:sp>
        <p:nvSpPr>
          <p:cNvPr id="28" name="Text 26"/>
          <p:cNvSpPr/>
          <p:nvPr/>
        </p:nvSpPr>
        <p:spPr>
          <a:xfrm>
            <a:off x="8010144" y="3675888"/>
            <a:ext cx="32644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70" dirty="0">
                <a:solidFill>
                  <a:srgbClr val="182E4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evidence/summary.json</a:t>
            </a:r>
            <a:endParaRPr lang="zh-CN" sz="1670" dirty="0"/>
          </a:p>
        </p:txBody>
      </p:sp>
      <p:sp>
        <p:nvSpPr>
          <p:cNvPr id="29" name="Text 27"/>
          <p:cNvSpPr/>
          <p:nvPr/>
        </p:nvSpPr>
        <p:spPr>
          <a:xfrm>
            <a:off x="8010144" y="4123944"/>
            <a:ext cx="32644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7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交付归档中的全部 62 条结果</a:t>
            </a:r>
            <a:endParaRPr lang="zh-CN" sz="1370" dirty="0"/>
          </a:p>
        </p:txBody>
      </p:sp>
      <p:sp>
        <p:nvSpPr>
          <p:cNvPr id="30" name="Shape 28"/>
          <p:cNvSpPr/>
          <p:nvPr/>
        </p:nvSpPr>
        <p:spPr>
          <a:xfrm>
            <a:off x="621792" y="4773168"/>
            <a:ext cx="3493008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" y="491947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4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summary.json</a:t>
            </a:r>
            <a:endParaRPr lang="zh-CN" sz="1540" dirty="0"/>
          </a:p>
        </p:txBody>
      </p:sp>
      <p:sp>
        <p:nvSpPr>
          <p:cNvPr id="32" name="Text 30"/>
          <p:cNvSpPr/>
          <p:nvPr/>
        </p:nvSpPr>
        <p:spPr>
          <a:xfrm>
            <a:off x="813816" y="5276088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逐项结果与用例编号</a:t>
            </a:r>
            <a:endParaRPr lang="zh-CN" sz="1320" dirty="0"/>
          </a:p>
        </p:txBody>
      </p:sp>
      <p:sp>
        <p:nvSpPr>
          <p:cNvPr id="33" name="Shape 31"/>
          <p:cNvSpPr/>
          <p:nvPr/>
        </p:nvSpPr>
        <p:spPr>
          <a:xfrm>
            <a:off x="4352544" y="4773168"/>
            <a:ext cx="3493008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44568" y="491947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4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unit.json / browser.json</a:t>
            </a:r>
            <a:endParaRPr lang="zh-CN" sz="1540" dirty="0"/>
          </a:p>
        </p:txBody>
      </p:sp>
      <p:sp>
        <p:nvSpPr>
          <p:cNvPr id="35" name="Text 33"/>
          <p:cNvSpPr/>
          <p:nvPr/>
        </p:nvSpPr>
        <p:spPr>
          <a:xfrm>
            <a:off x="4544568" y="5276088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原始框架报告</a:t>
            </a:r>
            <a:endParaRPr lang="zh-CN" sz="1320" dirty="0"/>
          </a:p>
        </p:txBody>
      </p:sp>
      <p:sp>
        <p:nvSpPr>
          <p:cNvPr id="36" name="Shape 34"/>
          <p:cNvSpPr/>
          <p:nvPr/>
        </p:nvSpPr>
        <p:spPr>
          <a:xfrm>
            <a:off x="8083296" y="4773168"/>
            <a:ext cx="3493008" cy="758952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75320" y="4919472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4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browser-artifacts</a:t>
            </a:r>
            <a:endParaRPr lang="zh-CN" sz="1540" dirty="0"/>
          </a:p>
        </p:txBody>
      </p:sp>
      <p:sp>
        <p:nvSpPr>
          <p:cNvPr id="38" name="Text 36"/>
          <p:cNvSpPr/>
          <p:nvPr/>
        </p:nvSpPr>
        <p:spPr>
          <a:xfrm>
            <a:off x="8275320" y="5276088"/>
            <a:ext cx="3108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截图与失败 trace</a:t>
            </a:r>
            <a:endParaRPr lang="zh-CN" sz="1320" dirty="0"/>
          </a:p>
        </p:txBody>
      </p:sp>
      <p:sp>
        <p:nvSpPr>
          <p:cNvPr id="39" name="Text 37"/>
          <p:cNvSpPr/>
          <p:nvPr/>
        </p:nvSpPr>
        <p:spPr>
          <a:xfrm>
            <a:off x="786384" y="5852160"/>
            <a:ext cx="106070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日常运行更新源码目录 results；交付目录 evidence 保留归档记录，不被覆盖。</a:t>
            </a:r>
            <a:endParaRPr lang="zh-CN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/ 自动化执行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97B2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修复后，62 条课程用例全部通过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B9CB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执行记录日期：2026-09-11｜课程测试与产品回归分列，不混合统计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3450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B4C7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20</a:t>
            </a:r>
            <a:endParaRPr lang="zh-CN" sz="1030" dirty="0"/>
          </a:p>
        </p:txBody>
      </p:sp>
      <p:sp>
        <p:nvSpPr>
          <p:cNvPr id="10" name="Text 8"/>
          <p:cNvSpPr/>
          <p:nvPr/>
        </p:nvSpPr>
        <p:spPr>
          <a:xfrm>
            <a:off x="649224" y="2112264"/>
            <a:ext cx="405079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 / 62</a:t>
            </a:r>
            <a:endParaRPr lang="zh-CN" sz="7400" dirty="0"/>
          </a:p>
        </p:txBody>
      </p:sp>
      <p:sp>
        <p:nvSpPr>
          <p:cNvPr id="11" name="Text 9"/>
          <p:cNvSpPr/>
          <p:nvPr/>
        </p:nvSpPr>
        <p:spPr>
          <a:xfrm>
            <a:off x="713232" y="3282696"/>
            <a:ext cx="36667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78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课程测试通过</a:t>
            </a:r>
            <a:endParaRPr lang="zh-CN" sz="2780" dirty="0"/>
          </a:p>
        </p:txBody>
      </p:sp>
      <p:sp>
        <p:nvSpPr>
          <p:cNvPr id="12" name="Shape 10"/>
          <p:cNvSpPr/>
          <p:nvPr/>
        </p:nvSpPr>
        <p:spPr>
          <a:xfrm>
            <a:off x="713232" y="3977640"/>
            <a:ext cx="1399032" cy="384048"/>
          </a:xfrm>
          <a:prstGeom prst="roundRect">
            <a:avLst>
              <a:gd name="adj" fmla="val 14286"/>
            </a:avLst>
          </a:prstGeom>
          <a:solidFill>
            <a:srgbClr val="244F5B"/>
          </a:solidFill>
          <a:ln w="8890">
            <a:solidFill>
              <a:srgbClr val="244F5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97764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rgbClr val="BFF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失败</a:t>
            </a:r>
            <a:endParaRPr lang="zh-CN" sz="1500" dirty="0"/>
          </a:p>
        </p:txBody>
      </p:sp>
      <p:sp>
        <p:nvSpPr>
          <p:cNvPr id="14" name="Shape 12"/>
          <p:cNvSpPr/>
          <p:nvPr/>
        </p:nvSpPr>
        <p:spPr>
          <a:xfrm>
            <a:off x="2295144" y="3977640"/>
            <a:ext cx="1399032" cy="384048"/>
          </a:xfrm>
          <a:prstGeom prst="roundRect">
            <a:avLst>
              <a:gd name="adj" fmla="val 14286"/>
            </a:avLst>
          </a:prstGeom>
          <a:solidFill>
            <a:srgbClr val="244F5B"/>
          </a:solidFill>
          <a:ln w="8890">
            <a:solidFill>
              <a:srgbClr val="244F5B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359152" y="3977640"/>
            <a:ext cx="1271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00" b="1" dirty="0">
                <a:solidFill>
                  <a:srgbClr val="BFF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跳过</a:t>
            </a:r>
            <a:endParaRPr lang="zh-CN" sz="1500" dirty="0"/>
          </a:p>
        </p:txBody>
      </p:sp>
      <p:sp>
        <p:nvSpPr>
          <p:cNvPr id="16" name="Text 14"/>
          <p:cNvSpPr/>
          <p:nvPr/>
        </p:nvSpPr>
        <p:spPr>
          <a:xfrm>
            <a:off x="713232" y="4709160"/>
            <a:ext cx="3867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5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项缺陷完成修复与回归</a:t>
            </a:r>
            <a:endParaRPr lang="zh-CN" sz="2050" dirty="0"/>
          </a:p>
        </p:txBody>
      </p:sp>
      <p:sp>
        <p:nvSpPr>
          <p:cNvPr id="17" name="Shape 15"/>
          <p:cNvSpPr/>
          <p:nvPr/>
        </p:nvSpPr>
        <p:spPr>
          <a:xfrm>
            <a:off x="4873752" y="2093976"/>
            <a:ext cx="6547104" cy="512064"/>
          </a:xfrm>
          <a:prstGeom prst="roundRect">
            <a:avLst>
              <a:gd name="adj" fmla="val 7143"/>
            </a:avLst>
          </a:prstGeom>
          <a:solidFill>
            <a:srgbClr val="25475B"/>
          </a:solidFill>
          <a:ln w="8890">
            <a:solidFill>
              <a:srgbClr val="25475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2624" y="2221992"/>
            <a:ext cx="3044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b="1" dirty="0">
                <a:solidFill>
                  <a:srgbClr val="B7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测试集</a:t>
            </a:r>
            <a:endParaRPr lang="zh-CN" sz="1510" dirty="0"/>
          </a:p>
        </p:txBody>
      </p:sp>
      <p:sp>
        <p:nvSpPr>
          <p:cNvPr id="19" name="Text 17"/>
          <p:cNvSpPr/>
          <p:nvPr/>
        </p:nvSpPr>
        <p:spPr>
          <a:xfrm>
            <a:off x="8266176" y="2221992"/>
            <a:ext cx="795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10" b="1" dirty="0">
                <a:solidFill>
                  <a:srgbClr val="B7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510" dirty="0"/>
          </a:p>
        </p:txBody>
      </p:sp>
      <p:sp>
        <p:nvSpPr>
          <p:cNvPr id="20" name="Text 18"/>
          <p:cNvSpPr/>
          <p:nvPr/>
        </p:nvSpPr>
        <p:spPr>
          <a:xfrm>
            <a:off x="9290304" y="2221992"/>
            <a:ext cx="795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10" b="1" dirty="0">
                <a:solidFill>
                  <a:srgbClr val="B7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510" dirty="0"/>
          </a:p>
        </p:txBody>
      </p:sp>
      <p:sp>
        <p:nvSpPr>
          <p:cNvPr id="21" name="Text 19"/>
          <p:cNvSpPr/>
          <p:nvPr/>
        </p:nvSpPr>
        <p:spPr>
          <a:xfrm>
            <a:off x="10314432" y="2221992"/>
            <a:ext cx="9052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10" b="1" dirty="0">
                <a:solidFill>
                  <a:srgbClr val="B7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</a:t>
            </a:r>
            <a:endParaRPr lang="zh-CN" sz="1510" dirty="0"/>
          </a:p>
        </p:txBody>
      </p:sp>
      <p:sp>
        <p:nvSpPr>
          <p:cNvPr id="22" name="Shape 20"/>
          <p:cNvSpPr/>
          <p:nvPr/>
        </p:nvSpPr>
        <p:spPr>
          <a:xfrm>
            <a:off x="4873752" y="2715768"/>
            <a:ext cx="6547104" cy="502920"/>
          </a:xfrm>
          <a:prstGeom prst="roundRect">
            <a:avLst>
              <a:gd name="adj" fmla="val 3636"/>
            </a:avLst>
          </a:prstGeom>
          <a:solidFill>
            <a:srgbClr val="173448"/>
          </a:solidFill>
          <a:ln w="8890">
            <a:solidFill>
              <a:srgbClr val="17344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92624" y="284378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Vitest</a:t>
            </a:r>
            <a:endParaRPr lang="zh-CN" sz="1700" dirty="0"/>
          </a:p>
        </p:txBody>
      </p:sp>
      <p:sp>
        <p:nvSpPr>
          <p:cNvPr id="24" name="Text 22"/>
          <p:cNvSpPr/>
          <p:nvPr/>
        </p:nvSpPr>
        <p:spPr>
          <a:xfrm>
            <a:off x="8266176" y="284378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zh-CN" sz="1900" dirty="0"/>
          </a:p>
        </p:txBody>
      </p:sp>
      <p:sp>
        <p:nvSpPr>
          <p:cNvPr id="25" name="Text 23"/>
          <p:cNvSpPr/>
          <p:nvPr/>
        </p:nvSpPr>
        <p:spPr>
          <a:xfrm>
            <a:off x="9290304" y="284378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26" name="Text 24"/>
          <p:cNvSpPr/>
          <p:nvPr/>
        </p:nvSpPr>
        <p:spPr>
          <a:xfrm>
            <a:off x="10314432" y="284378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27" name="Shape 25"/>
          <p:cNvSpPr/>
          <p:nvPr/>
        </p:nvSpPr>
        <p:spPr>
          <a:xfrm>
            <a:off x="4873752" y="3310128"/>
            <a:ext cx="6547104" cy="502920"/>
          </a:xfrm>
          <a:prstGeom prst="roundRect">
            <a:avLst>
              <a:gd name="adj" fmla="val 3636"/>
            </a:avLst>
          </a:prstGeom>
          <a:solidFill>
            <a:srgbClr val="193B50"/>
          </a:solidFill>
          <a:ln w="8890">
            <a:solidFill>
              <a:srgbClr val="193B50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92624" y="343814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</a:t>
            </a:r>
            <a:endParaRPr lang="zh-CN" sz="1700" dirty="0"/>
          </a:p>
        </p:txBody>
      </p:sp>
      <p:sp>
        <p:nvSpPr>
          <p:cNvPr id="29" name="Text 27"/>
          <p:cNvSpPr/>
          <p:nvPr/>
        </p:nvSpPr>
        <p:spPr>
          <a:xfrm>
            <a:off x="8266176" y="343814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zh-CN" sz="1900" dirty="0"/>
          </a:p>
        </p:txBody>
      </p:sp>
      <p:sp>
        <p:nvSpPr>
          <p:cNvPr id="30" name="Text 28"/>
          <p:cNvSpPr/>
          <p:nvPr/>
        </p:nvSpPr>
        <p:spPr>
          <a:xfrm>
            <a:off x="9290304" y="343814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31" name="Text 29"/>
          <p:cNvSpPr/>
          <p:nvPr/>
        </p:nvSpPr>
        <p:spPr>
          <a:xfrm>
            <a:off x="10314432" y="343814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32" name="Shape 30"/>
          <p:cNvSpPr/>
          <p:nvPr/>
        </p:nvSpPr>
        <p:spPr>
          <a:xfrm>
            <a:off x="4873752" y="3904488"/>
            <a:ext cx="6547104" cy="502920"/>
          </a:xfrm>
          <a:prstGeom prst="roundRect">
            <a:avLst>
              <a:gd name="adj" fmla="val 3636"/>
            </a:avLst>
          </a:prstGeom>
          <a:solidFill>
            <a:srgbClr val="173448"/>
          </a:solidFill>
          <a:ln w="8890">
            <a:solidFill>
              <a:srgbClr val="173448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92624" y="403250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产品单元测试</a:t>
            </a:r>
            <a:endParaRPr lang="zh-CN" sz="1700" dirty="0"/>
          </a:p>
        </p:txBody>
      </p:sp>
      <p:sp>
        <p:nvSpPr>
          <p:cNvPr id="34" name="Text 32"/>
          <p:cNvSpPr/>
          <p:nvPr/>
        </p:nvSpPr>
        <p:spPr>
          <a:xfrm>
            <a:off x="8266176" y="403250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zh-CN" sz="1900" dirty="0"/>
          </a:p>
        </p:txBody>
      </p:sp>
      <p:sp>
        <p:nvSpPr>
          <p:cNvPr id="35" name="Text 33"/>
          <p:cNvSpPr/>
          <p:nvPr/>
        </p:nvSpPr>
        <p:spPr>
          <a:xfrm>
            <a:off x="9290304" y="403250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36" name="Text 34"/>
          <p:cNvSpPr/>
          <p:nvPr/>
        </p:nvSpPr>
        <p:spPr>
          <a:xfrm>
            <a:off x="10314432" y="403250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37" name="Shape 35"/>
          <p:cNvSpPr/>
          <p:nvPr/>
        </p:nvSpPr>
        <p:spPr>
          <a:xfrm>
            <a:off x="4873752" y="4498848"/>
            <a:ext cx="6547104" cy="502920"/>
          </a:xfrm>
          <a:prstGeom prst="roundRect">
            <a:avLst>
              <a:gd name="adj" fmla="val 3636"/>
            </a:avLst>
          </a:prstGeom>
          <a:solidFill>
            <a:srgbClr val="193B50"/>
          </a:solidFill>
          <a:ln w="8890">
            <a:solidFill>
              <a:srgbClr val="193B50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92624" y="4626864"/>
            <a:ext cx="30449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产品浏览器测试</a:t>
            </a:r>
            <a:endParaRPr lang="zh-CN" sz="1700" dirty="0"/>
          </a:p>
        </p:txBody>
      </p:sp>
      <p:sp>
        <p:nvSpPr>
          <p:cNvPr id="39" name="Text 37"/>
          <p:cNvSpPr/>
          <p:nvPr/>
        </p:nvSpPr>
        <p:spPr>
          <a:xfrm>
            <a:off x="8266176" y="462686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zh-CN" sz="1900" dirty="0"/>
          </a:p>
        </p:txBody>
      </p:sp>
      <p:sp>
        <p:nvSpPr>
          <p:cNvPr id="40" name="Text 38"/>
          <p:cNvSpPr/>
          <p:nvPr/>
        </p:nvSpPr>
        <p:spPr>
          <a:xfrm>
            <a:off x="9290304" y="4626864"/>
            <a:ext cx="7955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900" dirty="0"/>
          </a:p>
        </p:txBody>
      </p:sp>
      <p:sp>
        <p:nvSpPr>
          <p:cNvPr id="41" name="Text 39"/>
          <p:cNvSpPr/>
          <p:nvPr/>
        </p:nvSpPr>
        <p:spPr>
          <a:xfrm>
            <a:off x="10314432" y="4626864"/>
            <a:ext cx="90525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900" b="1" dirty="0">
                <a:solidFill>
                  <a:srgbClr val="F4C7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zh-CN" sz="1900" dirty="0"/>
          </a:p>
        </p:txBody>
      </p:sp>
      <p:sp>
        <p:nvSpPr>
          <p:cNvPr id="42" name="Shape 40"/>
          <p:cNvSpPr/>
          <p:nvPr/>
        </p:nvSpPr>
        <p:spPr>
          <a:xfrm>
            <a:off x="667512" y="5440680"/>
            <a:ext cx="10789920" cy="640080"/>
          </a:xfrm>
          <a:prstGeom prst="roundRect">
            <a:avLst>
              <a:gd name="adj" fmla="val 10000"/>
            </a:avLst>
          </a:prstGeom>
          <a:solidFill>
            <a:srgbClr val="244251"/>
          </a:solidFill>
          <a:ln w="8890">
            <a:solidFill>
              <a:srgbClr val="244251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6112" y="5614416"/>
            <a:ext cx="2441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b="1" dirty="0">
                <a:solidFill>
                  <a:srgbClr val="F5D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保留的 1 条跳过项</a:t>
            </a:r>
            <a:endParaRPr lang="zh-CN" sz="1750" dirty="0"/>
          </a:p>
        </p:txBody>
      </p:sp>
      <p:sp>
        <p:nvSpPr>
          <p:cNvPr id="44" name="Text 42"/>
          <p:cNvSpPr/>
          <p:nvPr/>
        </p:nvSpPr>
        <p:spPr>
          <a:xfrm>
            <a:off x="3300984" y="5623560"/>
            <a:ext cx="7872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70" dirty="0">
                <a:solidFill>
                  <a:srgbClr val="D3E1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来自产品浏览器测试：真实音频捕获需要用户手势，按原配置跳过。</a:t>
            </a:r>
            <a:endParaRPr lang="zh-CN" sz="15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项有效缺陷，按独立根因统计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四项均由自动化测试发现；严重程度中 3 项、低 1 项，均已修复并回归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2011680"/>
            <a:ext cx="10954512" cy="557784"/>
          </a:xfrm>
          <a:prstGeom prst="roundRect">
            <a:avLst>
              <a:gd name="adj" fmla="val 6557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167128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缺陷编号</a:t>
            </a:r>
            <a:endParaRPr lang="zh-CN" sz="1600" dirty="0"/>
          </a:p>
        </p:txBody>
      </p:sp>
      <p:sp>
        <p:nvSpPr>
          <p:cNvPr id="12" name="Text 10"/>
          <p:cNvSpPr/>
          <p:nvPr/>
        </p:nvSpPr>
        <p:spPr>
          <a:xfrm>
            <a:off x="2441448" y="2167128"/>
            <a:ext cx="34381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直接表现</a:t>
            </a:r>
            <a:endParaRPr lang="zh-CN" sz="1600" dirty="0"/>
          </a:p>
        </p:txBody>
      </p:sp>
      <p:sp>
        <p:nvSpPr>
          <p:cNvPr id="13" name="Text 11"/>
          <p:cNvSpPr/>
          <p:nvPr/>
        </p:nvSpPr>
        <p:spPr>
          <a:xfrm>
            <a:off x="6208776" y="2167128"/>
            <a:ext cx="10515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严重程度</a:t>
            </a:r>
            <a:endParaRPr lang="zh-CN" sz="1600" dirty="0"/>
          </a:p>
        </p:txBody>
      </p:sp>
      <p:sp>
        <p:nvSpPr>
          <p:cNvPr id="14" name="Text 12"/>
          <p:cNvSpPr/>
          <p:nvPr/>
        </p:nvSpPr>
        <p:spPr>
          <a:xfrm>
            <a:off x="7589520" y="21671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</a:t>
            </a:r>
            <a:endParaRPr lang="zh-CN" sz="1600" dirty="0"/>
          </a:p>
        </p:txBody>
      </p:sp>
      <p:sp>
        <p:nvSpPr>
          <p:cNvPr id="15" name="Text 13"/>
          <p:cNvSpPr/>
          <p:nvPr/>
        </p:nvSpPr>
        <p:spPr>
          <a:xfrm>
            <a:off x="8878824" y="2167128"/>
            <a:ext cx="2532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关联用例</a:t>
            </a:r>
            <a:endParaRPr lang="zh-CN" sz="1600" dirty="0"/>
          </a:p>
        </p:txBody>
      </p:sp>
      <p:sp>
        <p:nvSpPr>
          <p:cNvPr id="16" name="Shape 14"/>
          <p:cNvSpPr/>
          <p:nvPr/>
        </p:nvSpPr>
        <p:spPr>
          <a:xfrm>
            <a:off x="621792" y="2688336"/>
            <a:ext cx="10954512" cy="5943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28437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6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BUG-M1-001</a:t>
            </a:r>
            <a:endParaRPr lang="zh-CN" sz="1560" dirty="0"/>
          </a:p>
        </p:txBody>
      </p:sp>
      <p:sp>
        <p:nvSpPr>
          <p:cNvPr id="18" name="Text 16"/>
          <p:cNvSpPr/>
          <p:nvPr/>
        </p:nvSpPr>
        <p:spPr>
          <a:xfrm>
            <a:off x="2441448" y="28437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最终字幕被后到临时结果重复显示</a:t>
            </a:r>
            <a:endParaRPr lang="zh-CN" sz="1700" dirty="0"/>
          </a:p>
        </p:txBody>
      </p:sp>
      <p:sp>
        <p:nvSpPr>
          <p:cNvPr id="19" name="Text 17"/>
          <p:cNvSpPr/>
          <p:nvPr/>
        </p:nvSpPr>
        <p:spPr>
          <a:xfrm>
            <a:off x="6208776" y="2843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zh-CN" sz="1760" dirty="0"/>
          </a:p>
        </p:txBody>
      </p:sp>
      <p:sp>
        <p:nvSpPr>
          <p:cNvPr id="20" name="Text 18"/>
          <p:cNvSpPr/>
          <p:nvPr/>
        </p:nvSpPr>
        <p:spPr>
          <a:xfrm>
            <a:off x="7589520" y="28437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zh-CN" sz="1760" dirty="0"/>
          </a:p>
        </p:txBody>
      </p:sp>
      <p:sp>
        <p:nvSpPr>
          <p:cNvPr id="21" name="Text 19"/>
          <p:cNvSpPr/>
          <p:nvPr/>
        </p:nvSpPr>
        <p:spPr>
          <a:xfrm>
            <a:off x="8878824" y="284378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M1-025 / 037</a:t>
            </a:r>
            <a:endParaRPr lang="zh-CN" sz="1760" dirty="0"/>
          </a:p>
        </p:txBody>
      </p:sp>
      <p:sp>
        <p:nvSpPr>
          <p:cNvPr id="22" name="Shape 20"/>
          <p:cNvSpPr/>
          <p:nvPr/>
        </p:nvSpPr>
        <p:spPr>
          <a:xfrm>
            <a:off x="621792" y="3374136"/>
            <a:ext cx="10954512" cy="594360"/>
          </a:xfrm>
          <a:prstGeom prst="roundRect">
            <a:avLst>
              <a:gd name="adj" fmla="val 3077"/>
            </a:avLst>
          </a:prstGeom>
          <a:solidFill>
            <a:srgbClr val="EBF0F5"/>
          </a:solidFill>
          <a:ln w="8890">
            <a:solidFill>
              <a:srgbClr val="EBF0F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6384" y="35295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6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BUG-M1-002</a:t>
            </a:r>
            <a:endParaRPr lang="zh-CN" sz="1560" dirty="0"/>
          </a:p>
        </p:txBody>
      </p:sp>
      <p:sp>
        <p:nvSpPr>
          <p:cNvPr id="24" name="Text 22"/>
          <p:cNvSpPr/>
          <p:nvPr/>
        </p:nvSpPr>
        <p:spPr>
          <a:xfrm>
            <a:off x="2441448" y="35295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两秒缓存多保留一帧（40 ms）</a:t>
            </a:r>
            <a:endParaRPr lang="zh-CN" sz="1700" dirty="0"/>
          </a:p>
        </p:txBody>
      </p:sp>
      <p:sp>
        <p:nvSpPr>
          <p:cNvPr id="25" name="Text 23"/>
          <p:cNvSpPr/>
          <p:nvPr/>
        </p:nvSpPr>
        <p:spPr>
          <a:xfrm>
            <a:off x="6208776" y="35295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</a:t>
            </a:r>
            <a:endParaRPr lang="zh-CN" sz="1760" dirty="0"/>
          </a:p>
        </p:txBody>
      </p:sp>
      <p:sp>
        <p:nvSpPr>
          <p:cNvPr id="26" name="Text 24"/>
          <p:cNvSpPr/>
          <p:nvPr/>
        </p:nvSpPr>
        <p:spPr>
          <a:xfrm>
            <a:off x="7589520" y="35295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zh-CN" sz="1760" dirty="0"/>
          </a:p>
        </p:txBody>
      </p:sp>
      <p:sp>
        <p:nvSpPr>
          <p:cNvPr id="27" name="Text 25"/>
          <p:cNvSpPr/>
          <p:nvPr/>
        </p:nvSpPr>
        <p:spPr>
          <a:xfrm>
            <a:off x="8878824" y="352958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M1-027</a:t>
            </a:r>
            <a:endParaRPr lang="zh-CN" sz="1760" dirty="0"/>
          </a:p>
        </p:txBody>
      </p:sp>
      <p:sp>
        <p:nvSpPr>
          <p:cNvPr id="28" name="Shape 26"/>
          <p:cNvSpPr/>
          <p:nvPr/>
        </p:nvSpPr>
        <p:spPr>
          <a:xfrm>
            <a:off x="621792" y="4059936"/>
            <a:ext cx="10954512" cy="5943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6384" y="42153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6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BUG-M1-003</a:t>
            </a:r>
            <a:endParaRPr lang="zh-CN" sz="1560" dirty="0"/>
          </a:p>
        </p:txBody>
      </p:sp>
      <p:sp>
        <p:nvSpPr>
          <p:cNvPr id="30" name="Text 28"/>
          <p:cNvSpPr/>
          <p:nvPr/>
        </p:nvSpPr>
        <p:spPr>
          <a:xfrm>
            <a:off x="2441448" y="42153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浏览器调用非法关闭码</a:t>
            </a:r>
            <a:endParaRPr lang="zh-CN" sz="1700" dirty="0"/>
          </a:p>
        </p:txBody>
      </p:sp>
      <p:sp>
        <p:nvSpPr>
          <p:cNvPr id="31" name="Text 29"/>
          <p:cNvSpPr/>
          <p:nvPr/>
        </p:nvSpPr>
        <p:spPr>
          <a:xfrm>
            <a:off x="6208776" y="42153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zh-CN" sz="1760" dirty="0"/>
          </a:p>
        </p:txBody>
      </p:sp>
      <p:sp>
        <p:nvSpPr>
          <p:cNvPr id="32" name="Text 30"/>
          <p:cNvSpPr/>
          <p:nvPr/>
        </p:nvSpPr>
        <p:spPr>
          <a:xfrm>
            <a:off x="7589520" y="42153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</a:t>
            </a:r>
            <a:endParaRPr lang="zh-CN" sz="1760" dirty="0"/>
          </a:p>
        </p:txBody>
      </p:sp>
      <p:sp>
        <p:nvSpPr>
          <p:cNvPr id="33" name="Text 31"/>
          <p:cNvSpPr/>
          <p:nvPr/>
        </p:nvSpPr>
        <p:spPr>
          <a:xfrm>
            <a:off x="8878824" y="421538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M1-059 / 060</a:t>
            </a:r>
            <a:endParaRPr lang="zh-CN" sz="1760" dirty="0"/>
          </a:p>
        </p:txBody>
      </p:sp>
      <p:sp>
        <p:nvSpPr>
          <p:cNvPr id="34" name="Shape 32"/>
          <p:cNvSpPr/>
          <p:nvPr/>
        </p:nvSpPr>
        <p:spPr>
          <a:xfrm>
            <a:off x="621792" y="4745736"/>
            <a:ext cx="10954512" cy="594360"/>
          </a:xfrm>
          <a:prstGeom prst="roundRect">
            <a:avLst>
              <a:gd name="adj" fmla="val 3077"/>
            </a:avLst>
          </a:prstGeom>
          <a:solidFill>
            <a:srgbClr val="EBF0F5"/>
          </a:solidFill>
          <a:ln w="8890">
            <a:solidFill>
              <a:srgbClr val="EBF0F5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6384" y="490118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6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BUG-M1-004</a:t>
            </a:r>
            <a:endParaRPr lang="zh-CN" sz="1560" dirty="0"/>
          </a:p>
        </p:txBody>
      </p:sp>
      <p:sp>
        <p:nvSpPr>
          <p:cNvPr id="36" name="Text 34"/>
          <p:cNvSpPr/>
          <p:nvPr/>
        </p:nvSpPr>
        <p:spPr>
          <a:xfrm>
            <a:off x="2441448" y="4901184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0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致命协议错误后继续发送 PCM</a:t>
            </a:r>
            <a:endParaRPr lang="zh-CN" sz="1700" dirty="0"/>
          </a:p>
        </p:txBody>
      </p:sp>
      <p:sp>
        <p:nvSpPr>
          <p:cNvPr id="37" name="Text 35"/>
          <p:cNvSpPr/>
          <p:nvPr/>
        </p:nvSpPr>
        <p:spPr>
          <a:xfrm>
            <a:off x="6208776" y="49011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</a:t>
            </a:r>
            <a:endParaRPr lang="zh-CN" sz="1760" dirty="0"/>
          </a:p>
        </p:txBody>
      </p:sp>
      <p:sp>
        <p:nvSpPr>
          <p:cNvPr id="38" name="Text 36"/>
          <p:cNvSpPr/>
          <p:nvPr/>
        </p:nvSpPr>
        <p:spPr>
          <a:xfrm>
            <a:off x="7589520" y="490118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76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</a:t>
            </a:r>
            <a:endParaRPr lang="zh-CN" sz="1760" dirty="0"/>
          </a:p>
        </p:txBody>
      </p:sp>
      <p:sp>
        <p:nvSpPr>
          <p:cNvPr id="39" name="Text 37"/>
          <p:cNvSpPr/>
          <p:nvPr/>
        </p:nvSpPr>
        <p:spPr>
          <a:xfrm>
            <a:off x="8878824" y="4901184"/>
            <a:ext cx="2532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M1-049 / 061</a:t>
            </a:r>
            <a:endParaRPr lang="zh-CN" sz="1760" dirty="0"/>
          </a:p>
        </p:txBody>
      </p:sp>
      <p:sp>
        <p:nvSpPr>
          <p:cNvPr id="40" name="Shape 38"/>
          <p:cNvSpPr/>
          <p:nvPr/>
        </p:nvSpPr>
        <p:spPr>
          <a:xfrm>
            <a:off x="621792" y="5650992"/>
            <a:ext cx="10954512" cy="475488"/>
          </a:xfrm>
          <a:prstGeom prst="roundRect">
            <a:avLst>
              <a:gd name="adj" fmla="val 13462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6968" y="5751576"/>
            <a:ext cx="36576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缺陷数 ≠ 失败用例数</a:t>
            </a:r>
            <a:endParaRPr lang="zh-CN" sz="2000" dirty="0"/>
          </a:p>
        </p:txBody>
      </p:sp>
      <p:sp>
        <p:nvSpPr>
          <p:cNvPr id="42" name="Text 40"/>
          <p:cNvSpPr/>
          <p:nvPr/>
        </p:nvSpPr>
        <p:spPr>
          <a:xfrm>
            <a:off x="4645152" y="5760720"/>
            <a:ext cx="670255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多个失败断言可能对应同一根因，需结合分阶段修复验证。</a:t>
            </a:r>
            <a:endParaRPr lang="zh-CN" sz="1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 · BUG-M1-001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最终字幕应保持终态，而不是被后到事件回退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 session、generation=0、segmentId=s1：先 final rev2，再 interim rev3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10954512" cy="530352"/>
          </a:xfrm>
          <a:prstGeom prst="roundRect">
            <a:avLst>
              <a:gd name="adj" fmla="val 12069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2121408"/>
            <a:ext cx="3813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6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final=true, revision=2</a:t>
            </a:r>
            <a:endParaRPr lang="zh-CN" sz="1860" dirty="0"/>
          </a:p>
        </p:txBody>
      </p:sp>
      <p:sp>
        <p:nvSpPr>
          <p:cNvPr id="12" name="Shape 10"/>
          <p:cNvSpPr/>
          <p:nvPr/>
        </p:nvSpPr>
        <p:spPr>
          <a:xfrm>
            <a:off x="4617720" y="2249424"/>
            <a:ext cx="722376" cy="0"/>
          </a:xfrm>
          <a:prstGeom prst="line">
            <a:avLst/>
          </a:prstGeom>
          <a:noFill/>
          <a:ln w="21590">
            <a:solidFill>
              <a:srgbClr val="6CA3AF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5532120" y="212140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60" dirty="0">
                <a:solidFill>
                  <a:srgbClr val="BEEAD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final=false, revision=3</a:t>
            </a:r>
            <a:endParaRPr lang="zh-CN" sz="1860" dirty="0"/>
          </a:p>
        </p:txBody>
      </p:sp>
      <p:sp>
        <p:nvSpPr>
          <p:cNvPr id="14" name="Shape 12"/>
          <p:cNvSpPr/>
          <p:nvPr/>
        </p:nvSpPr>
        <p:spPr>
          <a:xfrm>
            <a:off x="621792" y="2743200"/>
            <a:ext cx="5358384" cy="2734056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2743200"/>
            <a:ext cx="5358384" cy="2734056"/>
          </a:xfrm>
          <a:prstGeom prst="roundRect">
            <a:avLst>
              <a:gd name="adj" fmla="val 334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68680" y="2953512"/>
            <a:ext cx="941832" cy="283464"/>
          </a:xfrm>
          <a:prstGeom prst="roundRect">
            <a:avLst>
              <a:gd name="adj" fmla="val 19355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2953512"/>
            <a:ext cx="8138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修复前</a:t>
            </a:r>
            <a:endParaRPr lang="zh-CN" sz="1210" dirty="0"/>
          </a:p>
        </p:txBody>
      </p:sp>
      <p:sp>
        <p:nvSpPr>
          <p:cNvPr id="18" name="Text 16"/>
          <p:cNvSpPr/>
          <p:nvPr/>
        </p:nvSpPr>
        <p:spPr>
          <a:xfrm>
            <a:off x="1947672" y="2971800"/>
            <a:ext cx="35753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3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原始截图局部</a:t>
            </a:r>
            <a:endParaRPr lang="zh-CN" sz="1330" dirty="0"/>
          </a:p>
        </p:txBody>
      </p:sp>
      <p:pic>
        <p:nvPicPr>
          <p:cNvPr id="19" name="Image 0" descr="原始缺陷截图局部：同一字幕片段显示hello 2/你好2与hello 3/你好3两份文本。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3602736"/>
            <a:ext cx="4846320" cy="962863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905256" y="4937760"/>
            <a:ext cx="4745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同一片段出现两份文本</a:t>
            </a:r>
            <a:endParaRPr lang="zh-CN" sz="2100" dirty="0"/>
          </a:p>
        </p:txBody>
      </p:sp>
      <p:sp>
        <p:nvSpPr>
          <p:cNvPr id="21" name="Shape 18"/>
          <p:cNvSpPr/>
          <p:nvPr/>
        </p:nvSpPr>
        <p:spPr>
          <a:xfrm>
            <a:off x="6464808" y="2953512"/>
            <a:ext cx="941832" cy="283464"/>
          </a:xfrm>
          <a:prstGeom prst="roundRect">
            <a:avLst>
              <a:gd name="adj" fmla="val 19355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28816" y="2953512"/>
            <a:ext cx="81381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1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修复后</a:t>
            </a:r>
            <a:endParaRPr lang="zh-CN" sz="1210" dirty="0"/>
          </a:p>
        </p:txBody>
      </p:sp>
      <p:sp>
        <p:nvSpPr>
          <p:cNvPr id="23" name="Text 20"/>
          <p:cNvSpPr/>
          <p:nvPr/>
        </p:nvSpPr>
        <p:spPr>
          <a:xfrm>
            <a:off x="7525512" y="2971800"/>
            <a:ext cx="37947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根据回归预期绘制的示意</a:t>
            </a:r>
            <a:endParaRPr lang="zh-CN" sz="1220" dirty="0"/>
          </a:p>
        </p:txBody>
      </p:sp>
      <p:sp>
        <p:nvSpPr>
          <p:cNvPr id="24" name="Shape 21"/>
          <p:cNvSpPr/>
          <p:nvPr/>
        </p:nvSpPr>
        <p:spPr>
          <a:xfrm>
            <a:off x="6492240" y="3630168"/>
            <a:ext cx="4754880" cy="850392"/>
          </a:xfrm>
          <a:prstGeom prst="roundRect">
            <a:avLst>
              <a:gd name="adj" fmla="val 8602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638544" y="3749040"/>
            <a:ext cx="4462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hello 2</a:t>
            </a:r>
            <a:endParaRPr lang="zh-CN" sz="2100" dirty="0"/>
          </a:p>
        </p:txBody>
      </p:sp>
      <p:sp>
        <p:nvSpPr>
          <p:cNvPr id="26" name="Text 23"/>
          <p:cNvSpPr/>
          <p:nvPr/>
        </p:nvSpPr>
        <p:spPr>
          <a:xfrm>
            <a:off x="6638544" y="4096512"/>
            <a:ext cx="4462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600" dirty="0">
                <a:solidFill>
                  <a:srgbClr val="9BE4D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你好 2</a:t>
            </a:r>
            <a:endParaRPr lang="zh-CN" sz="1600" dirty="0"/>
          </a:p>
        </p:txBody>
      </p:sp>
      <p:sp>
        <p:nvSpPr>
          <p:cNvPr id="27" name="Text 24"/>
          <p:cNvSpPr/>
          <p:nvPr/>
        </p:nvSpPr>
        <p:spPr>
          <a:xfrm>
            <a:off x="6501384" y="4937760"/>
            <a:ext cx="47274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忽略后到 interim，只保留最终片段</a:t>
            </a:r>
            <a:endParaRPr lang="zh-CN" sz="1900" dirty="0"/>
          </a:p>
        </p:txBody>
      </p:sp>
      <p:sp>
        <p:nvSpPr>
          <p:cNvPr id="28" name="Text 25"/>
          <p:cNvSpPr/>
          <p:nvPr/>
        </p:nvSpPr>
        <p:spPr>
          <a:xfrm>
            <a:off x="795528" y="5687568"/>
            <a:ext cx="10671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2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规则：同代次、同片段已有 final 时，拒绝后到 interim；新代次仍可重置。</a:t>
            </a:r>
            <a:endParaRPr lang="zh-CN" sz="1720" dirty="0"/>
          </a:p>
        </p:txBody>
      </p:sp>
      <p:sp>
        <p:nvSpPr>
          <p:cNvPr id="29" name="Shape 26"/>
          <p:cNvSpPr/>
          <p:nvPr/>
        </p:nvSpPr>
        <p:spPr>
          <a:xfrm>
            <a:off x="804672" y="6099048"/>
            <a:ext cx="5724144" cy="219456"/>
          </a:xfrm>
          <a:prstGeom prst="roundRect">
            <a:avLst>
              <a:gd name="adj" fmla="val 2500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" y="6099048"/>
            <a:ext cx="5596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08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 M1-025 / 037 通过；正向对照 M1-024</a:t>
            </a:r>
            <a:endParaRPr lang="zh-CN" sz="10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 · BUG-M1-002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边界值找到的 40 ms：缓存多保留了一帧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51 个连续 PCM 音频帧，每帧 40 ms；缓存上限应为最近 2000 ms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20</a:t>
            </a:r>
            <a:endParaRPr lang="zh-CN" sz="1030" dirty="0"/>
          </a:p>
        </p:txBody>
      </p:sp>
      <p:sp>
        <p:nvSpPr>
          <p:cNvPr id="10" name="Text 8"/>
          <p:cNvSpPr/>
          <p:nvPr/>
        </p:nvSpPr>
        <p:spPr>
          <a:xfrm>
            <a:off x="667512" y="1947672"/>
            <a:ext cx="769010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40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51 × 40 ms = 2040 ms</a:t>
            </a:r>
            <a:endParaRPr lang="zh-CN" sz="3400" dirty="0"/>
          </a:p>
        </p:txBody>
      </p:sp>
      <p:sp>
        <p:nvSpPr>
          <p:cNvPr id="11" name="Shape 9"/>
          <p:cNvSpPr/>
          <p:nvPr/>
        </p:nvSpPr>
        <p:spPr>
          <a:xfrm>
            <a:off x="9317736" y="2075688"/>
            <a:ext cx="2020824" cy="320040"/>
          </a:xfrm>
          <a:prstGeom prst="roundRect">
            <a:avLst>
              <a:gd name="adj" fmla="val 17143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81744" y="2075688"/>
            <a:ext cx="189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0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超过两秒上限</a:t>
            </a:r>
            <a:endParaRPr lang="zh-CN" sz="1400" dirty="0"/>
          </a:p>
        </p:txBody>
      </p:sp>
      <p:sp>
        <p:nvSpPr>
          <p:cNvPr id="13" name="Text 11"/>
          <p:cNvSpPr/>
          <p:nvPr/>
        </p:nvSpPr>
        <p:spPr>
          <a:xfrm>
            <a:off x="758952" y="2734056"/>
            <a:ext cx="191109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3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输入帧序号</a:t>
            </a:r>
            <a:endParaRPr lang="zh-CN" sz="1230" dirty="0"/>
          </a:p>
        </p:txBody>
      </p:sp>
      <p:sp>
        <p:nvSpPr>
          <p:cNvPr id="14" name="Shape 12"/>
          <p:cNvSpPr/>
          <p:nvPr/>
        </p:nvSpPr>
        <p:spPr>
          <a:xfrm>
            <a:off x="7680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BA5156"/>
          </a:solidFill>
          <a:ln w="8890">
            <a:solidFill>
              <a:srgbClr val="BA5156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609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BA515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zh-CN" sz="1110" dirty="0"/>
          </a:p>
        </p:txBody>
      </p:sp>
      <p:sp>
        <p:nvSpPr>
          <p:cNvPr id="16" name="Shape 14"/>
          <p:cNvSpPr/>
          <p:nvPr/>
        </p:nvSpPr>
        <p:spPr>
          <a:xfrm>
            <a:off x="9738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zh-CN" sz="1110" dirty="0"/>
          </a:p>
        </p:txBody>
      </p:sp>
      <p:sp>
        <p:nvSpPr>
          <p:cNvPr id="18" name="Shape 16"/>
          <p:cNvSpPr/>
          <p:nvPr/>
        </p:nvSpPr>
        <p:spPr>
          <a:xfrm>
            <a:off x="11795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757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zh-CN" sz="1110" dirty="0"/>
          </a:p>
        </p:txBody>
      </p:sp>
      <p:sp>
        <p:nvSpPr>
          <p:cNvPr id="20" name="Shape 18"/>
          <p:cNvSpPr/>
          <p:nvPr/>
        </p:nvSpPr>
        <p:spPr>
          <a:xfrm>
            <a:off x="13853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5331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zh-CN" sz="1110" dirty="0"/>
          </a:p>
        </p:txBody>
      </p:sp>
      <p:sp>
        <p:nvSpPr>
          <p:cNvPr id="22" name="Shape 20"/>
          <p:cNvSpPr/>
          <p:nvPr/>
        </p:nvSpPr>
        <p:spPr>
          <a:xfrm>
            <a:off x="15910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967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25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082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140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197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254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12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69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484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541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599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656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714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6771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828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886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943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001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058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9115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1173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3230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5288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7345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9402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460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3517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575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7632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689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1747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3804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5862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7919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976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034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091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96149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8206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00263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023213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43787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64361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1061161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48</a:t>
            </a:r>
            <a:endParaRPr lang="zh-CN" sz="1110" dirty="0"/>
          </a:p>
        </p:txBody>
      </p:sp>
      <p:sp>
        <p:nvSpPr>
          <p:cNvPr id="68" name="Shape 66"/>
          <p:cNvSpPr/>
          <p:nvPr/>
        </p:nvSpPr>
        <p:spPr>
          <a:xfrm>
            <a:off x="1084935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81735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49</a:t>
            </a:r>
            <a:endParaRPr lang="zh-CN" sz="1110" dirty="0"/>
          </a:p>
        </p:txBody>
      </p:sp>
      <p:sp>
        <p:nvSpPr>
          <p:cNvPr id="70" name="Shape 68"/>
          <p:cNvSpPr/>
          <p:nvPr/>
        </p:nvSpPr>
        <p:spPr>
          <a:xfrm>
            <a:off x="11055096" y="3337560"/>
            <a:ext cx="190195" cy="393192"/>
          </a:xfrm>
          <a:prstGeom prst="roundRect">
            <a:avLst>
              <a:gd name="adj" fmla="val 8654"/>
            </a:avLst>
          </a:prstGeom>
          <a:solidFill>
            <a:srgbClr val="3FAF9E"/>
          </a:solidFill>
          <a:ln w="8890">
            <a:solidFill>
              <a:srgbClr val="3FAF9E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1023092" y="3044952"/>
            <a:ext cx="254203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1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</a:t>
            </a:r>
            <a:endParaRPr lang="zh-CN" sz="1110" dirty="0"/>
          </a:p>
        </p:txBody>
      </p:sp>
      <p:sp>
        <p:nvSpPr>
          <p:cNvPr id="72" name="Text 70"/>
          <p:cNvSpPr/>
          <p:nvPr/>
        </p:nvSpPr>
        <p:spPr>
          <a:xfrm>
            <a:off x="5650992" y="3054096"/>
            <a:ext cx="320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…</a:t>
            </a:r>
            <a:endParaRPr lang="zh-CN" sz="1200" dirty="0"/>
          </a:p>
        </p:txBody>
      </p:sp>
      <p:sp>
        <p:nvSpPr>
          <p:cNvPr id="73" name="Text 71"/>
          <p:cNvSpPr/>
          <p:nvPr/>
        </p:nvSpPr>
        <p:spPr>
          <a:xfrm>
            <a:off x="758952" y="3867912"/>
            <a:ext cx="1600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3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淘汰最旧帧</a:t>
            </a:r>
            <a:endParaRPr lang="zh-CN" sz="1330" dirty="0"/>
          </a:p>
        </p:txBody>
      </p:sp>
      <p:sp>
        <p:nvSpPr>
          <p:cNvPr id="74" name="Shape 72"/>
          <p:cNvSpPr/>
          <p:nvPr/>
        </p:nvSpPr>
        <p:spPr>
          <a:xfrm>
            <a:off x="2560320" y="3950208"/>
            <a:ext cx="8677656" cy="0"/>
          </a:xfrm>
          <a:prstGeom prst="line">
            <a:avLst/>
          </a:prstGeom>
          <a:noFill/>
          <a:ln w="15240">
            <a:solidFill>
              <a:srgbClr val="008F83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712464" y="3813048"/>
            <a:ext cx="6931152" cy="30175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5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修复后：只保留序号 1–50，共 50 帧</a:t>
            </a:r>
            <a:endParaRPr lang="zh-CN" sz="1550" dirty="0"/>
          </a:p>
        </p:txBody>
      </p:sp>
      <p:sp>
        <p:nvSpPr>
          <p:cNvPr id="76" name="Shape 74"/>
          <p:cNvSpPr/>
          <p:nvPr/>
        </p:nvSpPr>
        <p:spPr>
          <a:xfrm>
            <a:off x="621792" y="4453128"/>
            <a:ext cx="5358384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17920" y="4453128"/>
            <a:ext cx="5358384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4608576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错误计算 · 漏计首帧时长</a:t>
            </a:r>
            <a:endParaRPr lang="zh-CN" sz="1320" dirty="0"/>
          </a:p>
        </p:txBody>
      </p:sp>
      <p:sp>
        <p:nvSpPr>
          <p:cNvPr id="79" name="Text 77"/>
          <p:cNvSpPr/>
          <p:nvPr/>
        </p:nvSpPr>
        <p:spPr>
          <a:xfrm>
            <a:off x="868680" y="5001768"/>
            <a:ext cx="48554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40" b="1" dirty="0">
                <a:solidFill>
                  <a:srgbClr val="182E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2040 − 40 = 2000 ms</a:t>
            </a:r>
            <a:endParaRPr lang="zh-CN" sz="2940" dirty="0"/>
          </a:p>
        </p:txBody>
      </p:sp>
      <p:sp>
        <p:nvSpPr>
          <p:cNvPr id="80" name="Text 78"/>
          <p:cNvSpPr/>
          <p:nvPr/>
        </p:nvSpPr>
        <p:spPr>
          <a:xfrm>
            <a:off x="6455664" y="4608576"/>
            <a:ext cx="48828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补计帧长 · 触发旧帧淘汰</a:t>
            </a:r>
            <a:endParaRPr lang="zh-CN" sz="1320" dirty="0"/>
          </a:p>
        </p:txBody>
      </p:sp>
      <p:sp>
        <p:nvSpPr>
          <p:cNvPr id="81" name="Text 79"/>
          <p:cNvSpPr/>
          <p:nvPr/>
        </p:nvSpPr>
        <p:spPr>
          <a:xfrm>
            <a:off x="6464808" y="5001768"/>
            <a:ext cx="486460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51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2040 − 40 + 40 = 2040 ms</a:t>
            </a:r>
            <a:endParaRPr lang="zh-CN" sz="2510" dirty="0"/>
          </a:p>
        </p:txBody>
      </p:sp>
      <p:sp>
        <p:nvSpPr>
          <p:cNvPr id="82" name="Text 80"/>
          <p:cNvSpPr/>
          <p:nvPr/>
        </p:nvSpPr>
        <p:spPr>
          <a:xfrm>
            <a:off x="795528" y="5934456"/>
            <a:ext cx="1068933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M1-026：50 帧合法且不提示缺失    |    M1-027：保留最新 50 帧，并报告 audio_gap</a:t>
            </a:r>
            <a:endParaRPr lang="zh-CN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 · BUG-M1-003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原生浏览器约束：关闭码不能只靠模拟验证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保留真实 WebSocket.close，分别验证发送背压与不可重试错误两条路径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2020824"/>
            <a:ext cx="10954512" cy="1344168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185416"/>
            <a:ext cx="1133856" cy="265176"/>
          </a:xfrm>
          <a:prstGeom prst="roundRect">
            <a:avLst>
              <a:gd name="adj" fmla="val 20690"/>
            </a:avLst>
          </a:prstGeom>
          <a:solidFill>
            <a:srgbClr val="EAF1F8"/>
          </a:solidFill>
          <a:ln w="8890">
            <a:solidFill>
              <a:srgbClr val="EAF1F8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05256" y="2185416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4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M1-059</a:t>
            </a:r>
            <a:endParaRPr lang="zh-CN" sz="1140" dirty="0"/>
          </a:p>
        </p:txBody>
      </p:sp>
      <p:sp>
        <p:nvSpPr>
          <p:cNvPr id="13" name="Text 11"/>
          <p:cNvSpPr/>
          <p:nvPr/>
        </p:nvSpPr>
        <p:spPr>
          <a:xfrm>
            <a:off x="859536" y="2642616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6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背压恢复</a:t>
            </a:r>
            <a:endParaRPr lang="zh-CN" sz="2160" dirty="0"/>
          </a:p>
        </p:txBody>
      </p:sp>
      <p:sp>
        <p:nvSpPr>
          <p:cNvPr id="14" name="Text 12"/>
          <p:cNvSpPr/>
          <p:nvPr/>
        </p:nvSpPr>
        <p:spPr>
          <a:xfrm>
            <a:off x="859536" y="3072384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7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262145 &gt; 262144 字节</a:t>
            </a:r>
            <a:endParaRPr lang="zh-CN" sz="1170" dirty="0"/>
          </a:p>
        </p:txBody>
      </p:sp>
      <p:sp>
        <p:nvSpPr>
          <p:cNvPr id="15" name="Text 13"/>
          <p:cNvSpPr/>
          <p:nvPr/>
        </p:nvSpPr>
        <p:spPr>
          <a:xfrm>
            <a:off x="3749040" y="2606040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190" b="1" dirty="0">
                <a:solidFill>
                  <a:srgbClr val="BA51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close(1013)</a:t>
            </a:r>
            <a:endParaRPr lang="zh-CN" sz="2190" dirty="0"/>
          </a:p>
        </p:txBody>
      </p:sp>
      <p:sp>
        <p:nvSpPr>
          <p:cNvPr id="16" name="Shape 14"/>
          <p:cNvSpPr/>
          <p:nvPr/>
        </p:nvSpPr>
        <p:spPr>
          <a:xfrm>
            <a:off x="6190488" y="2779776"/>
            <a:ext cx="557784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922008" y="2606040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19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close(4013)</a:t>
            </a:r>
            <a:endParaRPr lang="zh-CN" sz="2190" dirty="0"/>
          </a:p>
        </p:txBody>
      </p:sp>
      <p:sp>
        <p:nvSpPr>
          <p:cNvPr id="18" name="Shape 16"/>
          <p:cNvSpPr/>
          <p:nvPr/>
        </p:nvSpPr>
        <p:spPr>
          <a:xfrm>
            <a:off x="9500616" y="2313432"/>
            <a:ext cx="0" cy="804672"/>
          </a:xfrm>
          <a:prstGeom prst="line">
            <a:avLst/>
          </a:prstGeom>
          <a:noFill/>
          <a:ln w="1143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47504" y="2487168"/>
            <a:ext cx="159105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不再抛出</a:t>
            </a:r>
            <a:endParaRPr lang="zh-CN" sz="1450" dirty="0"/>
          </a:p>
          <a:p>
            <a:pPr marL="0" indent="0" algn="l">
              <a:buNone/>
            </a:pPr>
            <a:r>
              <a:rPr lang="zh-CN" altLang="en-US" sz="14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InvalidAccessError</a:t>
            </a:r>
            <a:endParaRPr lang="zh-CN" sz="1450" dirty="0"/>
          </a:p>
        </p:txBody>
      </p:sp>
      <p:sp>
        <p:nvSpPr>
          <p:cNvPr id="20" name="Shape 18"/>
          <p:cNvSpPr/>
          <p:nvPr/>
        </p:nvSpPr>
        <p:spPr>
          <a:xfrm>
            <a:off x="621792" y="3611880"/>
            <a:ext cx="10954512" cy="1344168"/>
          </a:xfrm>
          <a:prstGeom prst="roundRect">
            <a:avLst>
              <a:gd name="adj" fmla="val 6803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1248" y="3776472"/>
            <a:ext cx="1133856" cy="265176"/>
          </a:xfrm>
          <a:prstGeom prst="roundRect">
            <a:avLst>
              <a:gd name="adj" fmla="val 20690"/>
            </a:avLst>
          </a:prstGeom>
          <a:solidFill>
            <a:srgbClr val="EAF1F8"/>
          </a:solidFill>
          <a:ln w="8890">
            <a:solidFill>
              <a:srgbClr val="EAF1F8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776472"/>
            <a:ext cx="1005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40" b="1" dirty="0">
                <a:solidFill>
                  <a:srgbClr val="3374A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M1-060</a:t>
            </a:r>
            <a:endParaRPr lang="zh-CN" sz="1140" dirty="0"/>
          </a:p>
        </p:txBody>
      </p:sp>
      <p:sp>
        <p:nvSpPr>
          <p:cNvPr id="23" name="Text 21"/>
          <p:cNvSpPr/>
          <p:nvPr/>
        </p:nvSpPr>
        <p:spPr>
          <a:xfrm>
            <a:off x="859536" y="4233672"/>
            <a:ext cx="24505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6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致命错误关闭</a:t>
            </a:r>
            <a:endParaRPr lang="zh-CN" sz="2160" dirty="0"/>
          </a:p>
        </p:txBody>
      </p:sp>
      <p:sp>
        <p:nvSpPr>
          <p:cNvPr id="24" name="Text 22"/>
          <p:cNvSpPr/>
          <p:nvPr/>
        </p:nvSpPr>
        <p:spPr>
          <a:xfrm>
            <a:off x="859536" y="4663440"/>
            <a:ext cx="3291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7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unauthorized，retryable=false</a:t>
            </a:r>
            <a:endParaRPr lang="zh-CN" sz="1170" dirty="0"/>
          </a:p>
        </p:txBody>
      </p:sp>
      <p:sp>
        <p:nvSpPr>
          <p:cNvPr id="25" name="Text 23"/>
          <p:cNvSpPr/>
          <p:nvPr/>
        </p:nvSpPr>
        <p:spPr>
          <a:xfrm>
            <a:off x="3749040" y="4197096"/>
            <a:ext cx="2322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190" b="1" dirty="0">
                <a:solidFill>
                  <a:srgbClr val="BA515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close(1008)</a:t>
            </a:r>
            <a:endParaRPr lang="zh-CN" sz="2190" dirty="0"/>
          </a:p>
        </p:txBody>
      </p:sp>
      <p:sp>
        <p:nvSpPr>
          <p:cNvPr id="26" name="Shape 24"/>
          <p:cNvSpPr/>
          <p:nvPr/>
        </p:nvSpPr>
        <p:spPr>
          <a:xfrm>
            <a:off x="6190488" y="4370832"/>
            <a:ext cx="557784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6922008" y="4197096"/>
            <a:ext cx="23500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219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close(4008)</a:t>
            </a:r>
            <a:endParaRPr lang="zh-CN" sz="2190" dirty="0"/>
          </a:p>
        </p:txBody>
      </p:sp>
      <p:sp>
        <p:nvSpPr>
          <p:cNvPr id="28" name="Shape 26"/>
          <p:cNvSpPr/>
          <p:nvPr/>
        </p:nvSpPr>
        <p:spPr>
          <a:xfrm>
            <a:off x="9500616" y="3904488"/>
            <a:ext cx="0" cy="804672"/>
          </a:xfrm>
          <a:prstGeom prst="line">
            <a:avLst/>
          </a:prstGeom>
          <a:noFill/>
          <a:ln w="11430">
            <a:solidFill>
              <a:srgbClr val="DC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47504" y="4078224"/>
            <a:ext cx="1591056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保留原始错误</a:t>
            </a:r>
            <a:endParaRPr lang="zh-CN" sz="1450" dirty="0"/>
          </a:p>
          <a:p>
            <a:pPr marL="0" indent="0" algn="l">
              <a:buNone/>
            </a:pPr>
            <a:r>
              <a:rPr lang="zh-CN" altLang="en-US" sz="14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unauthorized</a:t>
            </a:r>
            <a:endParaRPr lang="zh-CN" sz="1450" dirty="0"/>
          </a:p>
        </p:txBody>
      </p:sp>
      <p:sp>
        <p:nvSpPr>
          <p:cNvPr id="30" name="Shape 28"/>
          <p:cNvSpPr/>
          <p:nvPr/>
        </p:nvSpPr>
        <p:spPr>
          <a:xfrm>
            <a:off x="621792" y="5212080"/>
            <a:ext cx="10954512" cy="886968"/>
          </a:xfrm>
          <a:prstGeom prst="roundRect">
            <a:avLst>
              <a:gd name="adj" fmla="val 8247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5358384"/>
            <a:ext cx="10451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约束对象：浏览器脚本调用 close() 的参数，而不是服务端的协议关闭帧。</a:t>
            </a:r>
            <a:endParaRPr lang="zh-CN" sz="1800" dirty="0"/>
          </a:p>
        </p:txBody>
      </p:sp>
      <p:sp>
        <p:nvSpPr>
          <p:cNvPr id="32" name="Text 30"/>
          <p:cNvSpPr/>
          <p:nvPr/>
        </p:nvSpPr>
        <p:spPr>
          <a:xfrm>
            <a:off x="868680" y="5769864"/>
            <a:ext cx="1043330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7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浏览器允许 1000 或 3000–4999；本次分别改为应用关闭码 4013 和 4008。</a:t>
            </a:r>
            <a:endParaRPr lang="zh-CN" sz="157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 · BUG-M1-004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错误已上报，不等于会话真正停止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本地致命协议错误必须终止本次会话：停止 PCM、关闭连接，并取消自动重连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93392"/>
            <a:ext cx="2953512" cy="3108960"/>
          </a:xfrm>
          <a:prstGeom prst="roundRect">
            <a:avLst>
              <a:gd name="adj" fmla="val 3096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77824" y="2258568"/>
            <a:ext cx="1088136" cy="283464"/>
          </a:xfrm>
          <a:prstGeom prst="roundRect">
            <a:avLst>
              <a:gd name="adj" fmla="val 19355"/>
            </a:avLst>
          </a:prstGeom>
          <a:solidFill>
            <a:srgbClr val="294F5E"/>
          </a:solidFill>
          <a:ln w="8890">
            <a:solidFill>
              <a:srgbClr val="294F5E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41832" y="2258568"/>
            <a:ext cx="960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00" b="1" dirty="0">
                <a:solidFill>
                  <a:srgbClr val="BEEC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输入触发</a:t>
            </a:r>
            <a:endParaRPr lang="zh-CN" sz="1200" dirty="0"/>
          </a:p>
        </p:txBody>
      </p:sp>
      <p:sp>
        <p:nvSpPr>
          <p:cNvPr id="13" name="Text 11"/>
          <p:cNvSpPr/>
          <p:nvPr/>
        </p:nvSpPr>
        <p:spPr>
          <a:xfrm>
            <a:off x="877824" y="2852928"/>
            <a:ext cx="245973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非法 JSON</a:t>
            </a:r>
            <a:endParaRPr lang="zh-CN" sz="2300" dirty="0"/>
          </a:p>
          <a:p>
            <a:pPr marL="0" indent="0" algn="l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或会话标识不匹配</a:t>
            </a:r>
            <a:endParaRPr lang="zh-CN" sz="2300" dirty="0"/>
          </a:p>
        </p:txBody>
      </p:sp>
      <p:sp>
        <p:nvSpPr>
          <p:cNvPr id="14" name="Text 12"/>
          <p:cNvSpPr/>
          <p:nvPr/>
        </p:nvSpPr>
        <p:spPr>
          <a:xfrm>
            <a:off x="896112" y="4114800"/>
            <a:ext cx="243230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80" dirty="0">
                <a:solidFill>
                  <a:srgbClr val="A9DC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已报告</a:t>
            </a:r>
            <a:endParaRPr lang="zh-CN" sz="1680" dirty="0"/>
          </a:p>
          <a:p>
            <a:pPr marL="0" indent="0" algn="l">
              <a:buNone/>
            </a:pPr>
            <a:r>
              <a:rPr lang="zh-CN" altLang="en-US" sz="1680" dirty="0">
                <a:solidFill>
                  <a:srgbClr val="A9DCD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retryable=false</a:t>
            </a:r>
            <a:endParaRPr lang="zh-CN" sz="1680" dirty="0"/>
          </a:p>
        </p:txBody>
      </p:sp>
      <p:sp>
        <p:nvSpPr>
          <p:cNvPr id="15" name="Shape 13"/>
          <p:cNvSpPr/>
          <p:nvPr/>
        </p:nvSpPr>
        <p:spPr>
          <a:xfrm>
            <a:off x="3685032" y="2715768"/>
            <a:ext cx="292608" cy="0"/>
          </a:xfrm>
          <a:prstGeom prst="line">
            <a:avLst/>
          </a:prstGeom>
          <a:noFill/>
          <a:ln w="21590">
            <a:solidFill>
              <a:srgbClr val="BA5156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685032" y="4270248"/>
            <a:ext cx="292608" cy="0"/>
          </a:xfrm>
          <a:prstGeom prst="line">
            <a:avLst/>
          </a:prstGeom>
          <a:noFill/>
          <a:ln w="21590">
            <a:solidFill>
              <a:srgbClr val="008F83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33088" y="1993392"/>
            <a:ext cx="7443216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70832" y="2194560"/>
            <a:ext cx="960120" cy="265176"/>
          </a:xfrm>
          <a:prstGeom prst="roundRect">
            <a:avLst>
              <a:gd name="adj" fmla="val 20690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34840" y="2194560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8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修复前</a:t>
            </a:r>
            <a:endParaRPr lang="zh-CN" sz="1180" dirty="0"/>
          </a:p>
        </p:txBody>
      </p:sp>
      <p:sp>
        <p:nvSpPr>
          <p:cNvPr id="20" name="Text 18"/>
          <p:cNvSpPr/>
          <p:nvPr/>
        </p:nvSpPr>
        <p:spPr>
          <a:xfrm>
            <a:off x="4398264" y="274320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82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只通知回调</a:t>
            </a:r>
            <a:endParaRPr lang="zh-CN" sz="1820" dirty="0"/>
          </a:p>
        </p:txBody>
      </p:sp>
      <p:sp>
        <p:nvSpPr>
          <p:cNvPr id="21" name="Shape 19"/>
          <p:cNvSpPr/>
          <p:nvPr/>
        </p:nvSpPr>
        <p:spPr>
          <a:xfrm>
            <a:off x="6464808" y="2898648"/>
            <a:ext cx="201168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757416" y="274320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82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ready 仍有效</a:t>
            </a:r>
            <a:endParaRPr lang="zh-CN" sz="1820" dirty="0"/>
          </a:p>
        </p:txBody>
      </p:sp>
      <p:sp>
        <p:nvSpPr>
          <p:cNvPr id="23" name="Shape 21"/>
          <p:cNvSpPr/>
          <p:nvPr/>
        </p:nvSpPr>
        <p:spPr>
          <a:xfrm>
            <a:off x="8823960" y="2898648"/>
            <a:ext cx="201168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116568" y="2743200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8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继续发送 PCM</a:t>
            </a:r>
            <a:endParaRPr lang="zh-CN" sz="1820" dirty="0"/>
          </a:p>
        </p:txBody>
      </p:sp>
      <p:sp>
        <p:nvSpPr>
          <p:cNvPr id="25" name="Shape 23"/>
          <p:cNvSpPr/>
          <p:nvPr/>
        </p:nvSpPr>
        <p:spPr>
          <a:xfrm>
            <a:off x="4133088" y="3547872"/>
            <a:ext cx="7443216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3730752"/>
            <a:ext cx="960120" cy="265176"/>
          </a:xfrm>
          <a:prstGeom prst="roundRect">
            <a:avLst>
              <a:gd name="adj" fmla="val 2069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3730752"/>
            <a:ext cx="83210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8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修复后</a:t>
            </a:r>
            <a:endParaRPr lang="zh-CN" sz="1180" dirty="0"/>
          </a:p>
        </p:txBody>
      </p:sp>
      <p:sp>
        <p:nvSpPr>
          <p:cNvPr id="28" name="Text 26"/>
          <p:cNvSpPr/>
          <p:nvPr/>
        </p:nvSpPr>
        <p:spPr>
          <a:xfrm>
            <a:off x="5513832" y="3749040"/>
            <a:ext cx="5779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00" b="1" dirty="0">
                <a:solidFill>
                  <a:srgbClr val="008F8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stopAfterFatalError</a:t>
            </a:r>
            <a:endParaRPr lang="zh-CN" sz="1800" dirty="0"/>
          </a:p>
        </p:txBody>
      </p:sp>
      <p:sp>
        <p:nvSpPr>
          <p:cNvPr id="29" name="Shape 27"/>
          <p:cNvSpPr/>
          <p:nvPr/>
        </p:nvSpPr>
        <p:spPr>
          <a:xfrm>
            <a:off x="4389120" y="4261104"/>
            <a:ext cx="1600200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53128" y="4261104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清理 ready</a:t>
            </a:r>
            <a:endParaRPr lang="zh-CN" sz="1150" dirty="0"/>
          </a:p>
        </p:txBody>
      </p:sp>
      <p:sp>
        <p:nvSpPr>
          <p:cNvPr id="31" name="Shape 29"/>
          <p:cNvSpPr/>
          <p:nvPr/>
        </p:nvSpPr>
        <p:spPr>
          <a:xfrm>
            <a:off x="6163056" y="4261104"/>
            <a:ext cx="1600200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27064" y="4261104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清空待发缓存</a:t>
            </a:r>
            <a:endParaRPr lang="zh-CN" sz="1150" dirty="0"/>
          </a:p>
        </p:txBody>
      </p:sp>
      <p:sp>
        <p:nvSpPr>
          <p:cNvPr id="33" name="Shape 31"/>
          <p:cNvSpPr/>
          <p:nvPr/>
        </p:nvSpPr>
        <p:spPr>
          <a:xfrm>
            <a:off x="7936992" y="4261104"/>
            <a:ext cx="1600200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4261104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取消重连计时器</a:t>
            </a:r>
            <a:endParaRPr lang="zh-CN" sz="1150" dirty="0"/>
          </a:p>
        </p:txBody>
      </p:sp>
      <p:sp>
        <p:nvSpPr>
          <p:cNvPr id="35" name="Shape 33"/>
          <p:cNvSpPr/>
          <p:nvPr/>
        </p:nvSpPr>
        <p:spPr>
          <a:xfrm>
            <a:off x="9710928" y="4261104"/>
            <a:ext cx="1600200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74936" y="4261104"/>
            <a:ext cx="1472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关闭连接</a:t>
            </a:r>
            <a:endParaRPr lang="zh-CN" sz="1150" dirty="0"/>
          </a:p>
        </p:txBody>
      </p:sp>
      <p:sp>
        <p:nvSpPr>
          <p:cNvPr id="37" name="Text 35"/>
          <p:cNvSpPr/>
          <p:nvPr/>
        </p:nvSpPr>
        <p:spPr>
          <a:xfrm>
            <a:off x="4425696" y="4791456"/>
            <a:ext cx="6903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停止后忽略 push 和消息，不再自动重连。</a:t>
            </a:r>
            <a:endParaRPr lang="zh-CN" sz="1510" dirty="0"/>
          </a:p>
        </p:txBody>
      </p:sp>
      <p:sp>
        <p:nvSpPr>
          <p:cNvPr id="38" name="Shape 36"/>
          <p:cNvSpPr/>
          <p:nvPr/>
        </p:nvSpPr>
        <p:spPr>
          <a:xfrm>
            <a:off x="621792" y="5422392"/>
            <a:ext cx="10954512" cy="694944"/>
          </a:xfrm>
          <a:prstGeom prst="roundRect">
            <a:avLst>
              <a:gd name="adj" fmla="val 10526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8680" y="5596128"/>
            <a:ext cx="1975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5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M1-049 / 061</a:t>
            </a:r>
            <a:endParaRPr lang="zh-CN" sz="1850" dirty="0"/>
          </a:p>
        </p:txBody>
      </p:sp>
      <p:sp>
        <p:nvSpPr>
          <p:cNvPr id="40" name="Text 38"/>
          <p:cNvSpPr/>
          <p:nvPr/>
        </p:nvSpPr>
        <p:spPr>
          <a:xfrm>
            <a:off x="2788920" y="5596128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2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验证停止发送</a:t>
            </a:r>
            <a:endParaRPr lang="zh-CN" sz="1820" dirty="0"/>
          </a:p>
        </p:txBody>
      </p:sp>
      <p:sp>
        <p:nvSpPr>
          <p:cNvPr id="41" name="Shape 39"/>
          <p:cNvSpPr/>
          <p:nvPr/>
        </p:nvSpPr>
        <p:spPr>
          <a:xfrm>
            <a:off x="5815584" y="5568696"/>
            <a:ext cx="0" cy="356616"/>
          </a:xfrm>
          <a:prstGeom prst="line">
            <a:avLst/>
          </a:prstGeom>
          <a:noFill/>
          <a:ln w="12700">
            <a:solidFill>
              <a:srgbClr val="ABCAC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126480" y="5596128"/>
            <a:ext cx="1380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5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M1-062</a:t>
            </a:r>
            <a:endParaRPr lang="zh-CN" sz="1850" dirty="0"/>
          </a:p>
        </p:txBody>
      </p:sp>
      <p:sp>
        <p:nvSpPr>
          <p:cNvPr id="43" name="Text 41"/>
          <p:cNvSpPr/>
          <p:nvPr/>
        </p:nvSpPr>
        <p:spPr>
          <a:xfrm>
            <a:off x="7571232" y="5596128"/>
            <a:ext cx="36667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验证可重试错误仍可恢复</a:t>
            </a:r>
            <a:endParaRPr lang="zh-CN" sz="1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先修关闭码，再修状态：确认两个独立根因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M1-049 / 059 / 060 / 061 使用相同输入与预期，观察分阶段修复的影响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65960"/>
            <a:ext cx="3493008" cy="795528"/>
          </a:xfrm>
          <a:prstGeom prst="roundRect">
            <a:avLst>
              <a:gd name="adj" fmla="val 9195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084832"/>
            <a:ext cx="305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协议初测</a:t>
            </a:r>
            <a:endParaRPr lang="zh-CN" sz="1340" dirty="0"/>
          </a:p>
        </p:txBody>
      </p:sp>
      <p:sp>
        <p:nvSpPr>
          <p:cNvPr id="12" name="Text 10"/>
          <p:cNvSpPr/>
          <p:nvPr/>
        </p:nvSpPr>
        <p:spPr>
          <a:xfrm>
            <a:off x="822960" y="2423160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7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条失败</a:t>
            </a:r>
            <a:endParaRPr lang="zh-CN" sz="1870" dirty="0"/>
          </a:p>
        </p:txBody>
      </p:sp>
      <p:sp>
        <p:nvSpPr>
          <p:cNvPr id="13" name="Shape 11"/>
          <p:cNvSpPr/>
          <p:nvPr/>
        </p:nvSpPr>
        <p:spPr>
          <a:xfrm>
            <a:off x="4151376" y="2350008"/>
            <a:ext cx="128016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352544" y="1965960"/>
            <a:ext cx="3493008" cy="795528"/>
          </a:xfrm>
          <a:prstGeom prst="roundRect">
            <a:avLst>
              <a:gd name="adj" fmla="val 9195"/>
            </a:avLst>
          </a:prstGeom>
          <a:solidFill>
            <a:srgbClr val="FFF3DC"/>
          </a:solidFill>
          <a:ln w="8890">
            <a:solidFill>
              <a:srgbClr val="FFF3DC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53712" y="2084832"/>
            <a:ext cx="305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b="1" dirty="0">
                <a:solidFill>
                  <a:srgbClr val="B77B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仅修改关闭码</a:t>
            </a:r>
            <a:endParaRPr lang="zh-CN" sz="1340" dirty="0"/>
          </a:p>
        </p:txBody>
      </p:sp>
      <p:sp>
        <p:nvSpPr>
          <p:cNvPr id="16" name="Text 14"/>
          <p:cNvSpPr/>
          <p:nvPr/>
        </p:nvSpPr>
        <p:spPr>
          <a:xfrm>
            <a:off x="4553712" y="2423160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7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条通过 · 2 条失败</a:t>
            </a:r>
            <a:endParaRPr lang="zh-CN" sz="1870" dirty="0"/>
          </a:p>
        </p:txBody>
      </p:sp>
      <p:sp>
        <p:nvSpPr>
          <p:cNvPr id="17" name="Shape 15"/>
          <p:cNvSpPr/>
          <p:nvPr/>
        </p:nvSpPr>
        <p:spPr>
          <a:xfrm>
            <a:off x="7882128" y="2350008"/>
            <a:ext cx="128016" cy="0"/>
          </a:xfrm>
          <a:prstGeom prst="line">
            <a:avLst/>
          </a:prstGeom>
          <a:noFill/>
          <a:ln w="2159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083296" y="1965960"/>
            <a:ext cx="3493008" cy="795528"/>
          </a:xfrm>
          <a:prstGeom prst="roundRect">
            <a:avLst>
              <a:gd name="adj" fmla="val 9195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84464" y="2084832"/>
            <a:ext cx="30540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4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完成状态修复</a:t>
            </a:r>
            <a:endParaRPr lang="zh-CN" sz="1340" dirty="0"/>
          </a:p>
        </p:txBody>
      </p:sp>
      <p:sp>
        <p:nvSpPr>
          <p:cNvPr id="20" name="Text 18"/>
          <p:cNvSpPr/>
          <p:nvPr/>
        </p:nvSpPr>
        <p:spPr>
          <a:xfrm>
            <a:off x="8284464" y="2423160"/>
            <a:ext cx="305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7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条全部通过</a:t>
            </a:r>
            <a:endParaRPr lang="zh-CN" sz="1870" dirty="0"/>
          </a:p>
        </p:txBody>
      </p:sp>
      <p:sp>
        <p:nvSpPr>
          <p:cNvPr id="21" name="Shape 19"/>
          <p:cNvSpPr/>
          <p:nvPr/>
        </p:nvSpPr>
        <p:spPr>
          <a:xfrm>
            <a:off x="621792" y="3026664"/>
            <a:ext cx="10954512" cy="475488"/>
          </a:xfrm>
          <a:prstGeom prst="roundRect">
            <a:avLst>
              <a:gd name="adj" fmla="val 6731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3145536"/>
            <a:ext cx="3785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目标用例</a:t>
            </a:r>
            <a:endParaRPr lang="zh-CN" sz="1440" dirty="0"/>
          </a:p>
        </p:txBody>
      </p:sp>
      <p:sp>
        <p:nvSpPr>
          <p:cNvPr id="23" name="Text 21"/>
          <p:cNvSpPr/>
          <p:nvPr/>
        </p:nvSpPr>
        <p:spPr>
          <a:xfrm>
            <a:off x="4818888" y="314553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初测</a:t>
            </a:r>
            <a:endParaRPr lang="zh-CN" sz="1440" dirty="0"/>
          </a:p>
        </p:txBody>
      </p:sp>
      <p:sp>
        <p:nvSpPr>
          <p:cNvPr id="24" name="Text 22"/>
          <p:cNvSpPr/>
          <p:nvPr/>
        </p:nvSpPr>
        <p:spPr>
          <a:xfrm>
            <a:off x="7114032" y="3145536"/>
            <a:ext cx="2020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关闭码修复后</a:t>
            </a:r>
            <a:endParaRPr lang="zh-CN" sz="1440" dirty="0"/>
          </a:p>
        </p:txBody>
      </p:sp>
      <p:sp>
        <p:nvSpPr>
          <p:cNvPr id="25" name="Text 23"/>
          <p:cNvSpPr/>
          <p:nvPr/>
        </p:nvSpPr>
        <p:spPr>
          <a:xfrm>
            <a:off x="9409176" y="3145536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44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完整修复后</a:t>
            </a:r>
            <a:endParaRPr lang="zh-CN" sz="1440" dirty="0"/>
          </a:p>
        </p:txBody>
      </p:sp>
      <p:sp>
        <p:nvSpPr>
          <p:cNvPr id="26" name="Shape 24"/>
          <p:cNvSpPr/>
          <p:nvPr/>
        </p:nvSpPr>
        <p:spPr>
          <a:xfrm>
            <a:off x="621792" y="3611880"/>
            <a:ext cx="10954512" cy="39319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2960" y="3703320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7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M1-059  背压关闭</a:t>
            </a:r>
            <a:endParaRPr lang="zh-CN" sz="1670" dirty="0"/>
          </a:p>
        </p:txBody>
      </p:sp>
      <p:sp>
        <p:nvSpPr>
          <p:cNvPr id="28" name="Shape 26"/>
          <p:cNvSpPr/>
          <p:nvPr/>
        </p:nvSpPr>
        <p:spPr>
          <a:xfrm>
            <a:off x="5294376" y="3680460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58384" y="3680460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30" name="Shape 28"/>
          <p:cNvSpPr/>
          <p:nvPr/>
        </p:nvSpPr>
        <p:spPr>
          <a:xfrm>
            <a:off x="7589520" y="3680460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53528" y="3680460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32" name="Shape 30"/>
          <p:cNvSpPr/>
          <p:nvPr/>
        </p:nvSpPr>
        <p:spPr>
          <a:xfrm>
            <a:off x="9884664" y="3680460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948672" y="3680460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34" name="Shape 32"/>
          <p:cNvSpPr/>
          <p:nvPr/>
        </p:nvSpPr>
        <p:spPr>
          <a:xfrm>
            <a:off x="621792" y="4059936"/>
            <a:ext cx="10954512" cy="393192"/>
          </a:xfrm>
          <a:prstGeom prst="roundRect">
            <a:avLst>
              <a:gd name="adj" fmla="val 3488"/>
            </a:avLst>
          </a:prstGeom>
          <a:solidFill>
            <a:srgbClr val="EDF2F6"/>
          </a:solidFill>
          <a:ln w="8890">
            <a:solidFill>
              <a:srgbClr val="EDF2F6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4151376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7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M1-060  致命关闭</a:t>
            </a:r>
            <a:endParaRPr lang="zh-CN" sz="1670" dirty="0"/>
          </a:p>
        </p:txBody>
      </p:sp>
      <p:sp>
        <p:nvSpPr>
          <p:cNvPr id="36" name="Shape 34"/>
          <p:cNvSpPr/>
          <p:nvPr/>
        </p:nvSpPr>
        <p:spPr>
          <a:xfrm>
            <a:off x="5294376" y="4128516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58384" y="41285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38" name="Shape 36"/>
          <p:cNvSpPr/>
          <p:nvPr/>
        </p:nvSpPr>
        <p:spPr>
          <a:xfrm>
            <a:off x="7589520" y="4128516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653528" y="41285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40" name="Shape 38"/>
          <p:cNvSpPr/>
          <p:nvPr/>
        </p:nvSpPr>
        <p:spPr>
          <a:xfrm>
            <a:off x="9884664" y="4128516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948672" y="4128516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42" name="Shape 40"/>
          <p:cNvSpPr/>
          <p:nvPr/>
        </p:nvSpPr>
        <p:spPr>
          <a:xfrm>
            <a:off x="621792" y="4507992"/>
            <a:ext cx="10954512" cy="393192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889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22960" y="4599432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7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M1-049  无效 JSON</a:t>
            </a:r>
            <a:endParaRPr lang="zh-CN" sz="1670" dirty="0"/>
          </a:p>
        </p:txBody>
      </p:sp>
      <p:sp>
        <p:nvSpPr>
          <p:cNvPr id="44" name="Shape 42"/>
          <p:cNvSpPr/>
          <p:nvPr/>
        </p:nvSpPr>
        <p:spPr>
          <a:xfrm>
            <a:off x="5294376" y="4576572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58384" y="4576572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46" name="Shape 44"/>
          <p:cNvSpPr/>
          <p:nvPr/>
        </p:nvSpPr>
        <p:spPr>
          <a:xfrm>
            <a:off x="7589520" y="4576572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53528" y="4576572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48" name="Shape 46"/>
          <p:cNvSpPr/>
          <p:nvPr/>
        </p:nvSpPr>
        <p:spPr>
          <a:xfrm>
            <a:off x="9884664" y="4576572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948672" y="4576572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50" name="Shape 48"/>
          <p:cNvSpPr/>
          <p:nvPr/>
        </p:nvSpPr>
        <p:spPr>
          <a:xfrm>
            <a:off x="621792" y="4956048"/>
            <a:ext cx="10954512" cy="393192"/>
          </a:xfrm>
          <a:prstGeom prst="roundRect">
            <a:avLst>
              <a:gd name="adj" fmla="val 3488"/>
            </a:avLst>
          </a:prstGeom>
          <a:solidFill>
            <a:srgbClr val="EDF2F6"/>
          </a:solidFill>
          <a:ln w="8890">
            <a:solidFill>
              <a:srgbClr val="EDF2F6">
                <a:alpha val="0"/>
              </a:srgbClr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22960" y="5047488"/>
            <a:ext cx="36393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7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M1-061  会话不匹配</a:t>
            </a:r>
            <a:endParaRPr lang="zh-CN" sz="1670" dirty="0"/>
          </a:p>
        </p:txBody>
      </p:sp>
      <p:sp>
        <p:nvSpPr>
          <p:cNvPr id="52" name="Shape 50"/>
          <p:cNvSpPr/>
          <p:nvPr/>
        </p:nvSpPr>
        <p:spPr>
          <a:xfrm>
            <a:off x="5294376" y="5024628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58384" y="502462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54" name="Shape 52"/>
          <p:cNvSpPr/>
          <p:nvPr/>
        </p:nvSpPr>
        <p:spPr>
          <a:xfrm>
            <a:off x="7589520" y="5024628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FCEEEF"/>
          </a:solidFill>
          <a:ln w="8890">
            <a:solidFill>
              <a:srgbClr val="FCEEEF">
                <a:alpha val="0"/>
              </a:srgbClr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53528" y="502462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</a:t>
            </a:r>
            <a:endParaRPr lang="zh-CN" sz="1220" dirty="0"/>
          </a:p>
        </p:txBody>
      </p:sp>
      <p:sp>
        <p:nvSpPr>
          <p:cNvPr id="56" name="Shape 54"/>
          <p:cNvSpPr/>
          <p:nvPr/>
        </p:nvSpPr>
        <p:spPr>
          <a:xfrm>
            <a:off x="9884664" y="5024628"/>
            <a:ext cx="1069848" cy="256032"/>
          </a:xfrm>
          <a:prstGeom prst="roundRect">
            <a:avLst>
              <a:gd name="adj" fmla="val 21429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948672" y="5024628"/>
            <a:ext cx="9418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</a:t>
            </a:r>
            <a:endParaRPr lang="zh-CN" sz="1220" dirty="0"/>
          </a:p>
        </p:txBody>
      </p:sp>
      <p:sp>
        <p:nvSpPr>
          <p:cNvPr id="58" name="Shape 56"/>
          <p:cNvSpPr/>
          <p:nvPr/>
        </p:nvSpPr>
        <p:spPr>
          <a:xfrm>
            <a:off x="621792" y="5715000"/>
            <a:ext cx="10954512" cy="438912"/>
          </a:xfrm>
          <a:prstGeom prst="roundRect">
            <a:avLst>
              <a:gd name="adj" fmla="val 1458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68680" y="5815584"/>
            <a:ext cx="10424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关闭码修复未消除生命周期失败，说明 BUG-M1-003 与 BUG-M1-004 根因独立。</a:t>
            </a:r>
            <a:endParaRPr lang="zh-CN" sz="1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缺陷分析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让失败可信，也让回归可信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区分产品缺陷与测试隔离问题；保留修复前现象，并验证正常路径没有被破坏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65960"/>
            <a:ext cx="3493008" cy="4178808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52544" y="1965960"/>
            <a:ext cx="3493008" cy="4178808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83296" y="1965960"/>
            <a:ext cx="3493008" cy="4178808"/>
          </a:xfrm>
          <a:prstGeom prst="roundRect">
            <a:avLst>
              <a:gd name="adj" fmla="val 2618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176272"/>
            <a:ext cx="576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zh-CN" sz="2600" dirty="0"/>
          </a:p>
        </p:txBody>
      </p:sp>
      <p:sp>
        <p:nvSpPr>
          <p:cNvPr id="14" name="Text 12"/>
          <p:cNvSpPr/>
          <p:nvPr/>
        </p:nvSpPr>
        <p:spPr>
          <a:xfrm>
            <a:off x="1554480" y="2231136"/>
            <a:ext cx="2340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隔离测试状态</a:t>
            </a:r>
            <a:endParaRPr lang="zh-CN" sz="2000" dirty="0"/>
          </a:p>
        </p:txBody>
      </p:sp>
      <p:sp>
        <p:nvSpPr>
          <p:cNvPr id="15" name="Shape 13"/>
          <p:cNvSpPr/>
          <p:nvPr/>
        </p:nvSpPr>
        <p:spPr>
          <a:xfrm>
            <a:off x="850392" y="2752344"/>
            <a:ext cx="3035808" cy="0"/>
          </a:xfrm>
          <a:prstGeom prst="line">
            <a:avLst/>
          </a:prstGeom>
          <a:noFill/>
          <a:ln w="8890">
            <a:solidFill>
              <a:srgbClr val="DC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81144" y="2176272"/>
            <a:ext cx="576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zh-CN" sz="2600" dirty="0"/>
          </a:p>
        </p:txBody>
      </p:sp>
      <p:sp>
        <p:nvSpPr>
          <p:cNvPr id="17" name="Text 15"/>
          <p:cNvSpPr/>
          <p:nvPr/>
        </p:nvSpPr>
        <p:spPr>
          <a:xfrm>
            <a:off x="5285232" y="2231136"/>
            <a:ext cx="2340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保留缺陷快照</a:t>
            </a:r>
            <a:endParaRPr lang="zh-CN" sz="2000" dirty="0"/>
          </a:p>
        </p:txBody>
      </p:sp>
      <p:sp>
        <p:nvSpPr>
          <p:cNvPr id="18" name="Shape 16"/>
          <p:cNvSpPr/>
          <p:nvPr/>
        </p:nvSpPr>
        <p:spPr>
          <a:xfrm>
            <a:off x="4581144" y="2752344"/>
            <a:ext cx="3035808" cy="0"/>
          </a:xfrm>
          <a:prstGeom prst="line">
            <a:avLst/>
          </a:prstGeom>
          <a:noFill/>
          <a:ln w="8890">
            <a:solidFill>
              <a:srgbClr val="DC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11896" y="2176272"/>
            <a:ext cx="576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6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zh-CN" sz="2600" dirty="0"/>
          </a:p>
        </p:txBody>
      </p:sp>
      <p:sp>
        <p:nvSpPr>
          <p:cNvPr id="20" name="Text 18"/>
          <p:cNvSpPr/>
          <p:nvPr/>
        </p:nvSpPr>
        <p:spPr>
          <a:xfrm>
            <a:off x="9015984" y="2231136"/>
            <a:ext cx="23408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0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补充正向对照</a:t>
            </a:r>
            <a:endParaRPr lang="zh-CN" sz="2000" dirty="0"/>
          </a:p>
        </p:txBody>
      </p:sp>
      <p:sp>
        <p:nvSpPr>
          <p:cNvPr id="21" name="Shape 19"/>
          <p:cNvSpPr/>
          <p:nvPr/>
        </p:nvSpPr>
        <p:spPr>
          <a:xfrm>
            <a:off x="8311896" y="2752344"/>
            <a:ext cx="3035808" cy="0"/>
          </a:xfrm>
          <a:prstGeom prst="line">
            <a:avLst/>
          </a:prstGeom>
          <a:noFill/>
          <a:ln w="8890">
            <a:solidFill>
              <a:srgbClr val="DC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3072384"/>
            <a:ext cx="3008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40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只清 storage.local</a:t>
            </a:r>
            <a:endParaRPr lang="zh-CN" sz="1840" dirty="0"/>
          </a:p>
          <a:p>
            <a:pPr marL="0" indent="0" algn="l">
              <a:buNone/>
            </a:pPr>
            <a:r>
              <a:rPr lang="zh-CN" altLang="en-US" sz="1840" dirty="0">
                <a:solidFill>
                  <a:srgbClr val="BA515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后台内存仍有旧配置</a:t>
            </a:r>
            <a:endParaRPr lang="zh-CN" sz="1840" dirty="0"/>
          </a:p>
        </p:txBody>
      </p:sp>
      <p:sp>
        <p:nvSpPr>
          <p:cNvPr id="23" name="Shape 21"/>
          <p:cNvSpPr/>
          <p:nvPr/>
        </p:nvSpPr>
        <p:spPr>
          <a:xfrm>
            <a:off x="2359152" y="3886200"/>
            <a:ext cx="0" cy="356616"/>
          </a:xfrm>
          <a:prstGeom prst="line">
            <a:avLst/>
          </a:prstGeom>
          <a:noFill/>
          <a:ln w="1778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868680" y="4489704"/>
            <a:ext cx="300837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settings:set</a:t>
            </a:r>
            <a:endParaRPr lang="zh-CN" sz="1820" dirty="0"/>
          </a:p>
          <a:p>
            <a:pPr marL="0" indent="0" algn="l">
              <a:buNone/>
            </a:pPr>
            <a:r>
              <a:rPr lang="zh-CN" altLang="en-US" sz="182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重置内存与持久化设置</a:t>
            </a:r>
            <a:endParaRPr lang="zh-CN" sz="1820" dirty="0"/>
          </a:p>
        </p:txBody>
      </p:sp>
      <p:sp>
        <p:nvSpPr>
          <p:cNvPr id="25" name="Shape 23"/>
          <p:cNvSpPr/>
          <p:nvPr/>
        </p:nvSpPr>
        <p:spPr>
          <a:xfrm>
            <a:off x="877824" y="5532120"/>
            <a:ext cx="2980944" cy="320040"/>
          </a:xfrm>
          <a:prstGeom prst="roundRect">
            <a:avLst>
              <a:gd name="adj" fmla="val 17143"/>
            </a:avLst>
          </a:prstGeom>
          <a:solidFill>
            <a:srgbClr val="FFF3DC"/>
          </a:solidFill>
          <a:ln w="8890">
            <a:solidFill>
              <a:srgbClr val="FFF3DC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1832" y="553212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90" b="1" dirty="0">
                <a:solidFill>
                  <a:srgbClr val="B77B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未计入产品缺陷</a:t>
            </a:r>
            <a:endParaRPr lang="zh-CN" sz="1290" dirty="0"/>
          </a:p>
        </p:txBody>
      </p:sp>
      <p:sp>
        <p:nvSpPr>
          <p:cNvPr id="27" name="Text 25"/>
          <p:cNvSpPr/>
          <p:nvPr/>
        </p:nvSpPr>
        <p:spPr>
          <a:xfrm>
            <a:off x="4599432" y="3090672"/>
            <a:ext cx="30083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90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修复前源码快照</a:t>
            </a:r>
            <a:endParaRPr lang="zh-CN" sz="1900" dirty="0"/>
          </a:p>
        </p:txBody>
      </p:sp>
      <p:sp>
        <p:nvSpPr>
          <p:cNvPr id="28" name="Text 26"/>
          <p:cNvSpPr/>
          <p:nvPr/>
        </p:nvSpPr>
        <p:spPr>
          <a:xfrm>
            <a:off x="4599432" y="3593592"/>
            <a:ext cx="30083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30" dirty="0">
                <a:solidFill>
                  <a:srgbClr val="6274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original-sources.json</a:t>
            </a:r>
            <a:endParaRPr lang="zh-CN" sz="1430" dirty="0"/>
          </a:p>
        </p:txBody>
      </p:sp>
      <p:sp>
        <p:nvSpPr>
          <p:cNvPr id="29" name="Shape 27"/>
          <p:cNvSpPr/>
          <p:nvPr/>
        </p:nvSpPr>
        <p:spPr>
          <a:xfrm>
            <a:off x="6099048" y="3995928"/>
            <a:ext cx="0" cy="292608"/>
          </a:xfrm>
          <a:prstGeom prst="line">
            <a:avLst/>
          </a:prstGeom>
          <a:noFill/>
          <a:ln w="17780">
            <a:solidFill>
              <a:srgbClr val="8697A7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4599432" y="4507992"/>
            <a:ext cx="30083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临时工程重放</a:t>
            </a:r>
            <a:endParaRPr lang="zh-CN" sz="1760" dirty="0"/>
          </a:p>
          <a:p>
            <a:pPr marL="0" indent="0" algn="l">
              <a:buNone/>
            </a:pPr>
            <a:r>
              <a:rPr lang="zh-CN" altLang="en-US" sz="17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保留失败断言与非零退出</a:t>
            </a:r>
            <a:endParaRPr lang="zh-CN" sz="1760" dirty="0"/>
          </a:p>
        </p:txBody>
      </p:sp>
      <p:sp>
        <p:nvSpPr>
          <p:cNvPr id="31" name="Shape 29"/>
          <p:cNvSpPr/>
          <p:nvPr/>
        </p:nvSpPr>
        <p:spPr>
          <a:xfrm>
            <a:off x="4608576" y="5532120"/>
            <a:ext cx="2980944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72584" y="553212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9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复现失败属于预期结果</a:t>
            </a:r>
            <a:endParaRPr lang="zh-CN" sz="1290" dirty="0"/>
          </a:p>
        </p:txBody>
      </p:sp>
      <p:sp>
        <p:nvSpPr>
          <p:cNvPr id="33" name="Shape 31"/>
          <p:cNvSpPr/>
          <p:nvPr/>
        </p:nvSpPr>
        <p:spPr>
          <a:xfrm>
            <a:off x="8311896" y="3044952"/>
            <a:ext cx="1060704" cy="265176"/>
          </a:xfrm>
          <a:prstGeom prst="roundRect">
            <a:avLst>
              <a:gd name="adj" fmla="val 2069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3044952"/>
            <a:ext cx="932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M1-024</a:t>
            </a:r>
            <a:endParaRPr lang="zh-CN" sz="1150" dirty="0"/>
          </a:p>
        </p:txBody>
      </p:sp>
      <p:sp>
        <p:nvSpPr>
          <p:cNvPr id="35" name="Text 33"/>
          <p:cNvSpPr/>
          <p:nvPr/>
        </p:nvSpPr>
        <p:spPr>
          <a:xfrm>
            <a:off x="8321040" y="3410712"/>
            <a:ext cx="2990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新代次可接收 rev0</a:t>
            </a:r>
            <a:endParaRPr lang="zh-CN" sz="1650" dirty="0"/>
          </a:p>
        </p:txBody>
      </p:sp>
      <p:sp>
        <p:nvSpPr>
          <p:cNvPr id="36" name="Shape 34"/>
          <p:cNvSpPr/>
          <p:nvPr/>
        </p:nvSpPr>
        <p:spPr>
          <a:xfrm>
            <a:off x="8311896" y="3803904"/>
            <a:ext cx="1060704" cy="265176"/>
          </a:xfrm>
          <a:prstGeom prst="roundRect">
            <a:avLst>
              <a:gd name="adj" fmla="val 2069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75904" y="3803904"/>
            <a:ext cx="932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M1-026</a:t>
            </a:r>
            <a:endParaRPr lang="zh-CN" sz="1150" dirty="0"/>
          </a:p>
        </p:txBody>
      </p:sp>
      <p:sp>
        <p:nvSpPr>
          <p:cNvPr id="38" name="Text 36"/>
          <p:cNvSpPr/>
          <p:nvPr/>
        </p:nvSpPr>
        <p:spPr>
          <a:xfrm>
            <a:off x="8321040" y="4169664"/>
            <a:ext cx="2990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 帧合法缓存</a:t>
            </a:r>
            <a:endParaRPr lang="zh-CN" sz="1650" dirty="0"/>
          </a:p>
        </p:txBody>
      </p:sp>
      <p:sp>
        <p:nvSpPr>
          <p:cNvPr id="39" name="Shape 37"/>
          <p:cNvSpPr/>
          <p:nvPr/>
        </p:nvSpPr>
        <p:spPr>
          <a:xfrm>
            <a:off x="8311896" y="4562856"/>
            <a:ext cx="1060704" cy="265176"/>
          </a:xfrm>
          <a:prstGeom prst="roundRect">
            <a:avLst>
              <a:gd name="adj" fmla="val 20690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75904" y="4562856"/>
            <a:ext cx="932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5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M1-062</a:t>
            </a:r>
            <a:endParaRPr lang="zh-CN" sz="1150" dirty="0"/>
          </a:p>
        </p:txBody>
      </p:sp>
      <p:sp>
        <p:nvSpPr>
          <p:cNvPr id="41" name="Text 39"/>
          <p:cNvSpPr/>
          <p:nvPr/>
        </p:nvSpPr>
        <p:spPr>
          <a:xfrm>
            <a:off x="8321040" y="4928616"/>
            <a:ext cx="29900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可重试错误正常恢复</a:t>
            </a:r>
            <a:endParaRPr lang="zh-CN" sz="1650" dirty="0"/>
          </a:p>
        </p:txBody>
      </p:sp>
      <p:sp>
        <p:nvSpPr>
          <p:cNvPr id="42" name="Shape 40"/>
          <p:cNvSpPr/>
          <p:nvPr/>
        </p:nvSpPr>
        <p:spPr>
          <a:xfrm>
            <a:off x="8339328" y="5532120"/>
            <a:ext cx="2980944" cy="320040"/>
          </a:xfrm>
          <a:prstGeom prst="roundRect">
            <a:avLst>
              <a:gd name="adj" fmla="val 17143"/>
            </a:avLst>
          </a:prstGeom>
          <a:solidFill>
            <a:srgbClr val="E6F5F1"/>
          </a:solidFill>
          <a:ln w="8890">
            <a:solidFill>
              <a:srgbClr val="E6F5F1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03336" y="5532120"/>
            <a:ext cx="2852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290" b="1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不破坏原有正常路径</a:t>
            </a:r>
            <a:endParaRPr lang="zh-CN" sz="129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2A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41D7C0"/>
          </a:solidFill>
          <a:ln w="8890">
            <a:solidFill>
              <a:srgbClr val="41D7C0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总结与展望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97B2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已测范围内，质量结论有据可查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B9CB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以可复现用例定位问题，以修复前后对照验证结果，并保留清晰的验收边界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34506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B4C7D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 / 20</a:t>
            </a:r>
            <a:endParaRPr lang="zh-CN" sz="1030" dirty="0"/>
          </a:p>
        </p:txBody>
      </p:sp>
      <p:sp>
        <p:nvSpPr>
          <p:cNvPr id="10" name="Text 8"/>
          <p:cNvSpPr/>
          <p:nvPr/>
        </p:nvSpPr>
        <p:spPr>
          <a:xfrm>
            <a:off x="685800" y="2112264"/>
            <a:ext cx="5166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62 / 62</a:t>
            </a:r>
            <a:endParaRPr lang="zh-CN" sz="78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5202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课程用例全部通过</a:t>
            </a:r>
            <a:endParaRPr lang="zh-CN" sz="2900" dirty="0"/>
          </a:p>
        </p:txBody>
      </p:sp>
      <p:sp>
        <p:nvSpPr>
          <p:cNvPr id="12" name="Text 10"/>
          <p:cNvSpPr/>
          <p:nvPr/>
        </p:nvSpPr>
        <p:spPr>
          <a:xfrm>
            <a:off x="740664" y="4059936"/>
            <a:ext cx="51389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5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项有效缺陷完成修复与回归</a:t>
            </a:r>
            <a:endParaRPr lang="zh-CN" sz="2250" dirty="0"/>
          </a:p>
        </p:txBody>
      </p:sp>
      <p:sp>
        <p:nvSpPr>
          <p:cNvPr id="13" name="Text 11"/>
          <p:cNvSpPr/>
          <p:nvPr/>
        </p:nvSpPr>
        <p:spPr>
          <a:xfrm>
            <a:off x="749808" y="4800600"/>
            <a:ext cx="50474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20" dirty="0">
                <a:solidFill>
                  <a:srgbClr val="BBCC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在固定数据和本地服务条件下，</a:t>
            </a:r>
            <a:endParaRPr lang="zh-CN" sz="1820" dirty="0"/>
          </a:p>
          <a:p>
            <a:pPr marL="0" indent="0" algn="l">
              <a:buNone/>
            </a:pPr>
            <a:r>
              <a:rPr lang="zh-CN" altLang="en-US" sz="1820" dirty="0">
                <a:solidFill>
                  <a:srgbClr val="BBCC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已执行用例未出现回归失败。</a:t>
            </a:r>
            <a:endParaRPr lang="zh-CN" sz="1820" dirty="0"/>
          </a:p>
        </p:txBody>
      </p:sp>
      <p:sp>
        <p:nvSpPr>
          <p:cNvPr id="14" name="Shape 12"/>
          <p:cNvSpPr/>
          <p:nvPr/>
        </p:nvSpPr>
        <p:spPr>
          <a:xfrm>
            <a:off x="6519672" y="1975104"/>
            <a:ext cx="5056632" cy="3547872"/>
          </a:xfrm>
          <a:prstGeom prst="roundRect">
            <a:avLst>
              <a:gd name="adj" fmla="val 2577"/>
            </a:avLst>
          </a:prstGeom>
          <a:solidFill>
            <a:srgbClr val="19394D"/>
          </a:solidFill>
          <a:ln w="8890">
            <a:solidFill>
              <a:srgbClr val="36556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03136" y="2258568"/>
            <a:ext cx="45079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下一步验收</a:t>
            </a:r>
            <a:endParaRPr lang="zh-CN" sz="2400" dirty="0"/>
          </a:p>
        </p:txBody>
      </p:sp>
      <p:sp>
        <p:nvSpPr>
          <p:cNvPr id="16" name="Text 14"/>
          <p:cNvSpPr/>
          <p:nvPr/>
        </p:nvSpPr>
        <p:spPr>
          <a:xfrm>
            <a:off x="6821424" y="2971800"/>
            <a:ext cx="603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41D7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zh-CN" sz="2200" dirty="0"/>
          </a:p>
        </p:txBody>
      </p:sp>
      <p:sp>
        <p:nvSpPr>
          <p:cNvPr id="17" name="Text 15"/>
          <p:cNvSpPr/>
          <p:nvPr/>
        </p:nvSpPr>
        <p:spPr>
          <a:xfrm>
            <a:off x="7616952" y="2990088"/>
            <a:ext cx="3621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真实音频捕获</a:t>
            </a:r>
            <a:endParaRPr lang="zh-CN" sz="1750" dirty="0"/>
          </a:p>
        </p:txBody>
      </p:sp>
      <p:sp>
        <p:nvSpPr>
          <p:cNvPr id="18" name="Shape 16"/>
          <p:cNvSpPr/>
          <p:nvPr/>
        </p:nvSpPr>
        <p:spPr>
          <a:xfrm>
            <a:off x="6821424" y="3520440"/>
            <a:ext cx="4407408" cy="0"/>
          </a:xfrm>
          <a:prstGeom prst="line">
            <a:avLst/>
          </a:prstGeom>
          <a:noFill/>
          <a:ln w="7620">
            <a:solidFill>
              <a:srgbClr val="3150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21424" y="3685032"/>
            <a:ext cx="603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41D7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zh-CN" sz="2200" dirty="0"/>
          </a:p>
        </p:txBody>
      </p:sp>
      <p:sp>
        <p:nvSpPr>
          <p:cNvPr id="20" name="Text 18"/>
          <p:cNvSpPr/>
          <p:nvPr/>
        </p:nvSpPr>
        <p:spPr>
          <a:xfrm>
            <a:off x="7616952" y="3703320"/>
            <a:ext cx="3621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云端识别效果与端到端延迟</a:t>
            </a:r>
            <a:endParaRPr lang="zh-CN" sz="1750" dirty="0"/>
          </a:p>
        </p:txBody>
      </p:sp>
      <p:sp>
        <p:nvSpPr>
          <p:cNvPr id="21" name="Shape 19"/>
          <p:cNvSpPr/>
          <p:nvPr/>
        </p:nvSpPr>
        <p:spPr>
          <a:xfrm>
            <a:off x="6821424" y="4233672"/>
            <a:ext cx="4407408" cy="0"/>
          </a:xfrm>
          <a:prstGeom prst="line">
            <a:avLst/>
          </a:prstGeom>
          <a:noFill/>
          <a:ln w="7620">
            <a:solidFill>
              <a:srgbClr val="3150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21424" y="4398264"/>
            <a:ext cx="603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200" b="1" dirty="0">
                <a:solidFill>
                  <a:srgbClr val="41D7C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zh-CN" sz="2200" dirty="0"/>
          </a:p>
        </p:txBody>
      </p:sp>
      <p:sp>
        <p:nvSpPr>
          <p:cNvPr id="23" name="Text 21"/>
          <p:cNvSpPr/>
          <p:nvPr/>
        </p:nvSpPr>
        <p:spPr>
          <a:xfrm>
            <a:off x="7616952" y="4416552"/>
            <a:ext cx="3621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7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Safari 原生宿主及签名</a:t>
            </a:r>
            <a:endParaRPr lang="zh-CN" sz="1750" dirty="0"/>
          </a:p>
        </p:txBody>
      </p:sp>
      <p:sp>
        <p:nvSpPr>
          <p:cNvPr id="24" name="Shape 22"/>
          <p:cNvSpPr/>
          <p:nvPr/>
        </p:nvSpPr>
        <p:spPr>
          <a:xfrm>
            <a:off x="731520" y="5843016"/>
            <a:ext cx="10698480" cy="0"/>
          </a:xfrm>
          <a:prstGeom prst="line">
            <a:avLst/>
          </a:prstGeom>
          <a:noFill/>
          <a:ln w="8890">
            <a:solidFill>
              <a:srgbClr val="3451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6053328"/>
            <a:ext cx="6053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70" dirty="0">
                <a:solidFill>
                  <a:srgbClr val="B5CAD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白宇 · 李承远  |  贡献比例各 50%</a:t>
            </a:r>
            <a:endParaRPr lang="zh-CN" sz="1570" dirty="0"/>
          </a:p>
        </p:txBody>
      </p:sp>
      <p:sp>
        <p:nvSpPr>
          <p:cNvPr id="26" name="Text 24"/>
          <p:cNvSpPr/>
          <p:nvPr/>
        </p:nvSpPr>
        <p:spPr>
          <a:xfrm>
            <a:off x="7415784" y="6007608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谢谢聆听，欢迎交流</a:t>
            </a:r>
            <a:endParaRPr lang="zh-CN" sz="2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/ 运行备查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运行环境与常用命令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在源码工程根目录执行；首次运行需要安装依赖和 Chromium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75104"/>
            <a:ext cx="3127248" cy="4133088"/>
          </a:xfrm>
          <a:prstGeom prst="roundRect">
            <a:avLst>
              <a:gd name="adj" fmla="val 2924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2231136"/>
            <a:ext cx="2633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2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归档回归环境</a:t>
            </a:r>
            <a:endParaRPr lang="zh-CN" sz="2120" dirty="0"/>
          </a:p>
        </p:txBody>
      </p:sp>
      <p:sp>
        <p:nvSpPr>
          <p:cNvPr id="12" name="Text 10"/>
          <p:cNvSpPr/>
          <p:nvPr/>
        </p:nvSpPr>
        <p:spPr>
          <a:xfrm>
            <a:off x="868680" y="286207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硬件</a:t>
            </a:r>
            <a:endParaRPr lang="zh-CN" sz="1050" dirty="0"/>
          </a:p>
        </p:txBody>
      </p:sp>
      <p:sp>
        <p:nvSpPr>
          <p:cNvPr id="13" name="Text 11"/>
          <p:cNvSpPr/>
          <p:nvPr/>
        </p:nvSpPr>
        <p:spPr>
          <a:xfrm>
            <a:off x="868680" y="306324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5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Apple M5 · 16 GiB · arm64</a:t>
            </a:r>
            <a:endParaRPr lang="zh-CN" sz="1350" dirty="0"/>
          </a:p>
        </p:txBody>
      </p:sp>
      <p:sp>
        <p:nvSpPr>
          <p:cNvPr id="14" name="Text 12"/>
          <p:cNvSpPr/>
          <p:nvPr/>
        </p:nvSpPr>
        <p:spPr>
          <a:xfrm>
            <a:off x="868680" y="3328416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zh-CN" sz="1050" dirty="0"/>
          </a:p>
        </p:txBody>
      </p:sp>
      <p:sp>
        <p:nvSpPr>
          <p:cNvPr id="15" name="Text 13"/>
          <p:cNvSpPr/>
          <p:nvPr/>
        </p:nvSpPr>
        <p:spPr>
          <a:xfrm>
            <a:off x="868680" y="3529584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8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Darwin 25.4.0</a:t>
            </a:r>
            <a:endParaRPr lang="zh-CN" sz="1580" dirty="0"/>
          </a:p>
        </p:txBody>
      </p:sp>
      <p:sp>
        <p:nvSpPr>
          <p:cNvPr id="16" name="Text 14"/>
          <p:cNvSpPr/>
          <p:nvPr/>
        </p:nvSpPr>
        <p:spPr>
          <a:xfrm>
            <a:off x="868680" y="379476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Node.js</a:t>
            </a:r>
            <a:endParaRPr lang="zh-CN" sz="1050" dirty="0"/>
          </a:p>
        </p:txBody>
      </p:sp>
      <p:sp>
        <p:nvSpPr>
          <p:cNvPr id="17" name="Text 15"/>
          <p:cNvSpPr/>
          <p:nvPr/>
        </p:nvSpPr>
        <p:spPr>
          <a:xfrm>
            <a:off x="868680" y="3995928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24.19.0</a:t>
            </a:r>
            <a:endParaRPr lang="zh-CN" sz="1580" dirty="0"/>
          </a:p>
        </p:txBody>
      </p:sp>
      <p:sp>
        <p:nvSpPr>
          <p:cNvPr id="18" name="Text 16"/>
          <p:cNvSpPr/>
          <p:nvPr/>
        </p:nvSpPr>
        <p:spPr>
          <a:xfrm>
            <a:off x="868680" y="426110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npm</a:t>
            </a:r>
            <a:endParaRPr lang="zh-CN" sz="1050" dirty="0"/>
          </a:p>
        </p:txBody>
      </p:sp>
      <p:sp>
        <p:nvSpPr>
          <p:cNvPr id="19" name="Text 17"/>
          <p:cNvSpPr/>
          <p:nvPr/>
        </p:nvSpPr>
        <p:spPr>
          <a:xfrm>
            <a:off x="868680" y="4462272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11.16.0</a:t>
            </a:r>
            <a:endParaRPr lang="zh-CN" sz="1580" dirty="0"/>
          </a:p>
        </p:txBody>
      </p:sp>
      <p:sp>
        <p:nvSpPr>
          <p:cNvPr id="20" name="Text 18"/>
          <p:cNvSpPr/>
          <p:nvPr/>
        </p:nvSpPr>
        <p:spPr>
          <a:xfrm>
            <a:off x="868680" y="472744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Vitest</a:t>
            </a:r>
            <a:endParaRPr lang="zh-CN" sz="1050" dirty="0"/>
          </a:p>
        </p:txBody>
      </p:sp>
      <p:sp>
        <p:nvSpPr>
          <p:cNvPr id="21" name="Text 19"/>
          <p:cNvSpPr/>
          <p:nvPr/>
        </p:nvSpPr>
        <p:spPr>
          <a:xfrm>
            <a:off x="868680" y="4928616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3.2.7</a:t>
            </a:r>
            <a:endParaRPr lang="zh-CN" sz="1580" dirty="0"/>
          </a:p>
        </p:txBody>
      </p:sp>
      <p:sp>
        <p:nvSpPr>
          <p:cNvPr id="22" name="Text 20"/>
          <p:cNvSpPr/>
          <p:nvPr/>
        </p:nvSpPr>
        <p:spPr>
          <a:xfrm>
            <a:off x="868680" y="519379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Playwright</a:t>
            </a:r>
            <a:endParaRPr lang="zh-CN" sz="1050" dirty="0"/>
          </a:p>
        </p:txBody>
      </p:sp>
      <p:sp>
        <p:nvSpPr>
          <p:cNvPr id="23" name="Text 21"/>
          <p:cNvSpPr/>
          <p:nvPr/>
        </p:nvSpPr>
        <p:spPr>
          <a:xfrm>
            <a:off x="868680" y="53949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1.62.1 + 配套 Chromium</a:t>
            </a:r>
            <a:endParaRPr lang="zh-CN" sz="1580" dirty="0"/>
          </a:p>
        </p:txBody>
      </p:sp>
      <p:sp>
        <p:nvSpPr>
          <p:cNvPr id="24" name="Text 22"/>
          <p:cNvSpPr/>
          <p:nvPr/>
        </p:nvSpPr>
        <p:spPr>
          <a:xfrm>
            <a:off x="868680" y="58704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96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准备要求：Node.js 24+、npm 11+</a:t>
            </a:r>
            <a:endParaRPr lang="zh-CN" sz="960" dirty="0"/>
          </a:p>
        </p:txBody>
      </p:sp>
      <p:sp>
        <p:nvSpPr>
          <p:cNvPr id="25" name="Shape 23"/>
          <p:cNvSpPr/>
          <p:nvPr/>
        </p:nvSpPr>
        <p:spPr>
          <a:xfrm>
            <a:off x="3995928" y="1975104"/>
            <a:ext cx="7580376" cy="1005840"/>
          </a:xfrm>
          <a:prstGeom prst="roundRect">
            <a:avLst>
              <a:gd name="adj" fmla="val 7273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15384" y="2093976"/>
            <a:ext cx="712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2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首次准备</a:t>
            </a:r>
            <a:endParaRPr lang="zh-CN" sz="1120" dirty="0"/>
          </a:p>
        </p:txBody>
      </p:sp>
      <p:sp>
        <p:nvSpPr>
          <p:cNvPr id="27" name="Text 25"/>
          <p:cNvSpPr/>
          <p:nvPr/>
        </p:nvSpPr>
        <p:spPr>
          <a:xfrm>
            <a:off x="4215384" y="2340864"/>
            <a:ext cx="712317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ci</a:t>
            </a:r>
            <a:endParaRPr lang="zh-CN" sz="1600" dirty="0"/>
          </a:p>
          <a:p>
            <a:pPr marL="0" indent="0" algn="l">
              <a:buNone/>
            </a:pPr>
            <a:r>
              <a:rPr lang="zh-CN" alt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npx playwright install chromium</a:t>
            </a:r>
            <a:endParaRPr lang="zh-CN" sz="1600" dirty="0"/>
          </a:p>
        </p:txBody>
      </p:sp>
      <p:sp>
        <p:nvSpPr>
          <p:cNvPr id="28" name="Shape 26"/>
          <p:cNvSpPr/>
          <p:nvPr/>
        </p:nvSpPr>
        <p:spPr>
          <a:xfrm>
            <a:off x="3995928" y="3108960"/>
            <a:ext cx="7580376" cy="704088"/>
          </a:xfrm>
          <a:prstGeom prst="roundRect">
            <a:avLst>
              <a:gd name="adj" fmla="val 10390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15384" y="3227832"/>
            <a:ext cx="712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2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 62 条用例</a:t>
            </a:r>
            <a:endParaRPr lang="zh-CN" sz="1120" dirty="0"/>
          </a:p>
        </p:txBody>
      </p:sp>
      <p:sp>
        <p:nvSpPr>
          <p:cNvPr id="30" name="Text 28"/>
          <p:cNvSpPr/>
          <p:nvPr/>
        </p:nvSpPr>
        <p:spPr>
          <a:xfrm>
            <a:off x="4215384" y="3474720"/>
            <a:ext cx="7123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test:module1:all</a:t>
            </a:r>
            <a:endParaRPr lang="zh-CN" sz="1500" dirty="0"/>
          </a:p>
        </p:txBody>
      </p:sp>
      <p:sp>
        <p:nvSpPr>
          <p:cNvPr id="31" name="Shape 29"/>
          <p:cNvSpPr/>
          <p:nvPr/>
        </p:nvSpPr>
        <p:spPr>
          <a:xfrm>
            <a:off x="3995928" y="3941064"/>
            <a:ext cx="7580376" cy="704088"/>
          </a:xfrm>
          <a:prstGeom prst="roundRect">
            <a:avLst>
              <a:gd name="adj" fmla="val 10390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15384" y="4059936"/>
            <a:ext cx="712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2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完整回归（含类型检查与构建）</a:t>
            </a:r>
            <a:endParaRPr lang="zh-CN" sz="1120" dirty="0"/>
          </a:p>
        </p:txBody>
      </p:sp>
      <p:sp>
        <p:nvSpPr>
          <p:cNvPr id="33" name="Text 31"/>
          <p:cNvSpPr/>
          <p:nvPr/>
        </p:nvSpPr>
        <p:spPr>
          <a:xfrm>
            <a:off x="4215384" y="4306824"/>
            <a:ext cx="7123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test:regression:lcy</a:t>
            </a:r>
            <a:endParaRPr lang="zh-CN" sz="1500" dirty="0"/>
          </a:p>
        </p:txBody>
      </p:sp>
      <p:sp>
        <p:nvSpPr>
          <p:cNvPr id="34" name="Shape 32"/>
          <p:cNvSpPr/>
          <p:nvPr/>
        </p:nvSpPr>
        <p:spPr>
          <a:xfrm>
            <a:off x="3995928" y="4773168"/>
            <a:ext cx="7580376" cy="1335024"/>
          </a:xfrm>
          <a:prstGeom prst="roundRect">
            <a:avLst>
              <a:gd name="adj" fmla="val 5479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15384" y="4892040"/>
            <a:ext cx="7123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2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修复前定向复现（预期失败并返回非零）</a:t>
            </a:r>
            <a:endParaRPr lang="zh-CN" sz="1120" dirty="0"/>
          </a:p>
        </p:txBody>
      </p:sp>
      <p:sp>
        <p:nvSpPr>
          <p:cNvPr id="36" name="Text 34"/>
          <p:cNvSpPr/>
          <p:nvPr/>
        </p:nvSpPr>
        <p:spPr>
          <a:xfrm>
            <a:off x="4215384" y="5138928"/>
            <a:ext cx="7123176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test:module1:reproduce -- BUG-M1-001</a:t>
            </a:r>
            <a:endParaRPr lang="zh-CN" sz="1600" dirty="0"/>
          </a:p>
          <a:p>
            <a:pPr marL="0" indent="0" algn="l">
              <a:buNone/>
            </a:pPr>
            <a:r>
              <a:rPr lang="zh-CN" alt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test:module1:reproduce -- BUG-M1-002</a:t>
            </a:r>
            <a:endParaRPr lang="zh-CN" sz="1600" dirty="0"/>
          </a:p>
          <a:p>
            <a:pPr marL="0" indent="0" algn="l">
              <a:buNone/>
            </a:pPr>
            <a:r>
              <a:rPr lang="zh-CN" alt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test:module1:lcy:reproduce</a:t>
            </a:r>
            <a:endParaRPr lang="zh-CN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393192"/>
            <a:ext cx="91440" cy="173736"/>
          </a:xfrm>
          <a:prstGeom prst="rect">
            <a:avLst/>
          </a:prstGeom>
          <a:solidFill>
            <a:srgbClr val="008F83"/>
          </a:solidFill>
          <a:ln w="8890">
            <a:solidFill>
              <a:srgbClr val="008F83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3474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50" b="1" kern="0" spc="70" dirty="0">
                <a:solidFill>
                  <a:srgbClr val="008F8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/ 现场演示</a:t>
            </a:r>
            <a:endParaRPr lang="zh-CN" sz="1150" dirty="0"/>
          </a:p>
        </p:txBody>
      </p:sp>
      <p:sp>
        <p:nvSpPr>
          <p:cNvPr id="4" name="Text 2"/>
          <p:cNvSpPr/>
          <p:nvPr/>
        </p:nvSpPr>
        <p:spPr>
          <a:xfrm>
            <a:off x="8229600" y="347472"/>
            <a:ext cx="334670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50" dirty="0">
                <a:solidFill>
                  <a:srgbClr val="8697A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软件测试与质量保证实践</a:t>
            </a:r>
            <a:endParaRPr lang="zh-CN" sz="1050" dirty="0"/>
          </a:p>
        </p:txBody>
      </p:sp>
      <p:sp>
        <p:nvSpPr>
          <p:cNvPr id="5" name="Text 3"/>
          <p:cNvSpPr/>
          <p:nvPr/>
        </p:nvSpPr>
        <p:spPr>
          <a:xfrm>
            <a:off x="603504" y="832104"/>
            <a:ext cx="10972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305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本地演示：配置链路，再验证启动与停止</a:t>
            </a:r>
            <a:endParaRPr lang="zh-CN" sz="3050" dirty="0"/>
          </a:p>
        </p:txBody>
      </p:sp>
      <p:sp>
        <p:nvSpPr>
          <p:cNvPr id="6" name="Text 4"/>
          <p:cNvSpPr/>
          <p:nvPr/>
        </p:nvSpPr>
        <p:spPr>
          <a:xfrm>
            <a:off x="621792" y="1408176"/>
            <a:ext cx="10927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1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fake provider 输出预设字幕；演示链路与交互，不证明真实语音识别效果</a:t>
            </a:r>
            <a:endParaRPr lang="zh-CN" sz="1510" dirty="0"/>
          </a:p>
        </p:txBody>
      </p:sp>
      <p:sp>
        <p:nvSpPr>
          <p:cNvPr id="7" name="Shape 5"/>
          <p:cNvSpPr/>
          <p:nvPr/>
        </p:nvSpPr>
        <p:spPr>
          <a:xfrm>
            <a:off x="603504" y="6409944"/>
            <a:ext cx="10981944" cy="0"/>
          </a:xfrm>
          <a:prstGeom prst="line">
            <a:avLst/>
          </a:prstGeom>
          <a:noFill/>
          <a:ln w="8255">
            <a:solidFill>
              <a:srgbClr val="DC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61904" y="64968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zh-CN" altLang="en-US" sz="1030" dirty="0">
                <a:solidFill>
                  <a:srgbClr val="62748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/ 20</a:t>
            </a:r>
            <a:endParaRPr lang="zh-CN" sz="1030" dirty="0"/>
          </a:p>
        </p:txBody>
      </p:sp>
      <p:sp>
        <p:nvSpPr>
          <p:cNvPr id="10" name="Shape 8"/>
          <p:cNvSpPr/>
          <p:nvPr/>
        </p:nvSpPr>
        <p:spPr>
          <a:xfrm>
            <a:off x="621792" y="1965960"/>
            <a:ext cx="5340096" cy="4151376"/>
          </a:xfrm>
          <a:prstGeom prst="roundRect">
            <a:avLst>
              <a:gd name="adj" fmla="val 2203"/>
            </a:avLst>
          </a:prstGeom>
          <a:solidFill>
            <a:srgbClr val="FFFFFF"/>
          </a:solidFill>
          <a:ln w="8890">
            <a:solidFill>
              <a:srgbClr val="DCE4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212848"/>
            <a:ext cx="530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zh-CN" sz="2100" dirty="0"/>
          </a:p>
        </p:txBody>
      </p:sp>
      <p:sp>
        <p:nvSpPr>
          <p:cNvPr id="12" name="Text 10"/>
          <p:cNvSpPr/>
          <p:nvPr/>
        </p:nvSpPr>
        <p:spPr>
          <a:xfrm>
            <a:off x="1581912" y="2212848"/>
            <a:ext cx="4096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 Chrome 扩展</a:t>
            </a:r>
            <a:endParaRPr lang="zh-CN" sz="1880" dirty="0"/>
          </a:p>
        </p:txBody>
      </p:sp>
      <p:sp>
        <p:nvSpPr>
          <p:cNvPr id="13" name="Text 11"/>
          <p:cNvSpPr/>
          <p:nvPr/>
        </p:nvSpPr>
        <p:spPr>
          <a:xfrm>
            <a:off x="1591056" y="260604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550" dirty="0">
                <a:solidFill>
                  <a:srgbClr val="6274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build:chrome</a:t>
            </a:r>
            <a:endParaRPr lang="zh-CN" sz="1550" dirty="0"/>
          </a:p>
        </p:txBody>
      </p:sp>
      <p:sp>
        <p:nvSpPr>
          <p:cNvPr id="14" name="Text 12"/>
          <p:cNvSpPr/>
          <p:nvPr/>
        </p:nvSpPr>
        <p:spPr>
          <a:xfrm>
            <a:off x="859536" y="3150108"/>
            <a:ext cx="530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zh-CN" sz="2100" dirty="0"/>
          </a:p>
        </p:txBody>
      </p:sp>
      <p:sp>
        <p:nvSpPr>
          <p:cNvPr id="15" name="Text 13"/>
          <p:cNvSpPr/>
          <p:nvPr/>
        </p:nvSpPr>
        <p:spPr>
          <a:xfrm>
            <a:off x="1581912" y="3150108"/>
            <a:ext cx="4096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加载并配置扩展</a:t>
            </a:r>
            <a:endParaRPr lang="zh-CN" sz="1880" dirty="0"/>
          </a:p>
        </p:txBody>
      </p:sp>
      <p:sp>
        <p:nvSpPr>
          <p:cNvPr id="16" name="Text 14"/>
          <p:cNvSpPr/>
          <p:nvPr/>
        </p:nvSpPr>
        <p:spPr>
          <a:xfrm>
            <a:off x="1591056" y="354330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chrome://extensions → 开发者模式</a:t>
            </a:r>
            <a:endParaRPr lang="zh-CN" sz="1420" dirty="0"/>
          </a:p>
          <a:p>
            <a:pPr marL="0" indent="0" algn="l">
              <a:buNone/>
            </a:pPr>
            <a:r>
              <a:rPr lang="zh-CN" altLang="en-US" sz="14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 apps/extension/dist</a:t>
            </a:r>
            <a:endParaRPr lang="zh-CN" sz="1420" dirty="0"/>
          </a:p>
        </p:txBody>
      </p:sp>
      <p:sp>
        <p:nvSpPr>
          <p:cNvPr id="17" name="Text 15"/>
          <p:cNvSpPr/>
          <p:nvPr/>
        </p:nvSpPr>
        <p:spPr>
          <a:xfrm>
            <a:off x="859536" y="4087368"/>
            <a:ext cx="530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zh-CN" sz="2100" dirty="0"/>
          </a:p>
        </p:txBody>
      </p:sp>
      <p:sp>
        <p:nvSpPr>
          <p:cNvPr id="18" name="Text 16"/>
          <p:cNvSpPr/>
          <p:nvPr/>
        </p:nvSpPr>
        <p:spPr>
          <a:xfrm>
            <a:off x="1581912" y="4087368"/>
            <a:ext cx="4096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测试连接并保存</a:t>
            </a:r>
            <a:endParaRPr lang="zh-CN" sz="1880" dirty="0"/>
          </a:p>
        </p:txBody>
      </p:sp>
      <p:sp>
        <p:nvSpPr>
          <p:cNvPr id="19" name="Text 17"/>
          <p:cNvSpPr/>
          <p:nvPr/>
        </p:nvSpPr>
        <p:spPr>
          <a:xfrm>
            <a:off x="1591056" y="448056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4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ws://127.0.0.1:8787/v1/realtime</a:t>
            </a:r>
            <a:endParaRPr lang="zh-CN" sz="1420" dirty="0"/>
          </a:p>
          <a:p>
            <a:pPr marL="0" indent="0" algn="l">
              <a:buNone/>
            </a:pPr>
            <a:r>
              <a:rPr lang="zh-CN" altLang="en-US" sz="142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令牌：module1-secret</a:t>
            </a:r>
            <a:endParaRPr lang="zh-CN" sz="1420" dirty="0"/>
          </a:p>
        </p:txBody>
      </p:sp>
      <p:sp>
        <p:nvSpPr>
          <p:cNvPr id="20" name="Text 18"/>
          <p:cNvSpPr/>
          <p:nvPr/>
        </p:nvSpPr>
        <p:spPr>
          <a:xfrm>
            <a:off x="859536" y="5024628"/>
            <a:ext cx="530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100" b="1" dirty="0">
                <a:solidFill>
                  <a:srgbClr val="008F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zh-CN" sz="2100" dirty="0"/>
          </a:p>
        </p:txBody>
      </p:sp>
      <p:sp>
        <p:nvSpPr>
          <p:cNvPr id="21" name="Text 19"/>
          <p:cNvSpPr/>
          <p:nvPr/>
        </p:nvSpPr>
        <p:spPr>
          <a:xfrm>
            <a:off x="1581912" y="5024628"/>
            <a:ext cx="4096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880" b="1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展示字幕，再确认停止</a:t>
            </a:r>
            <a:endParaRPr lang="zh-CN" sz="1880" dirty="0"/>
          </a:p>
        </p:txBody>
      </p:sp>
      <p:sp>
        <p:nvSpPr>
          <p:cNvPr id="22" name="Text 20"/>
          <p:cNvSpPr/>
          <p:nvPr/>
        </p:nvSpPr>
        <p:spPr>
          <a:xfrm>
            <a:off x="1591056" y="5417820"/>
            <a:ext cx="4059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35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有声网页 → 亲自点击扩展启动并授权</a:t>
            </a:r>
            <a:endParaRPr lang="zh-CN" sz="1350" dirty="0"/>
          </a:p>
          <a:p>
            <a:pPr marL="0" indent="0" algn="l">
              <a:buNone/>
            </a:pPr>
            <a:r>
              <a:rPr lang="zh-CN" altLang="en-US" sz="1350" dirty="0">
                <a:solidFill>
                  <a:srgbClr val="62748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调整模式 / 字号 → 停止后确认浮层清空</a:t>
            </a:r>
            <a:endParaRPr lang="zh-CN" sz="1350" dirty="0"/>
          </a:p>
        </p:txBody>
      </p:sp>
      <p:sp>
        <p:nvSpPr>
          <p:cNvPr id="23" name="Shape 21"/>
          <p:cNvSpPr/>
          <p:nvPr/>
        </p:nvSpPr>
        <p:spPr>
          <a:xfrm>
            <a:off x="6217920" y="1965960"/>
            <a:ext cx="5358384" cy="1892808"/>
          </a:xfrm>
          <a:prstGeom prst="roundRect">
            <a:avLst>
              <a:gd name="adj" fmla="val 4348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2176272"/>
            <a:ext cx="2176272" cy="274320"/>
          </a:xfrm>
          <a:prstGeom prst="roundRect">
            <a:avLst>
              <a:gd name="adj" fmla="val 20000"/>
            </a:avLst>
          </a:prstGeom>
          <a:solidFill>
            <a:srgbClr val="294F5C"/>
          </a:solidFill>
          <a:ln w="8890">
            <a:solidFill>
              <a:srgbClr val="294F5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10528" y="2176272"/>
            <a:ext cx="2048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1140" b="1" dirty="0">
                <a:solidFill>
                  <a:srgbClr val="BAEB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PowerShell</a:t>
            </a:r>
            <a:endParaRPr lang="zh-CN" sz="1140" dirty="0"/>
          </a:p>
        </p:txBody>
      </p:sp>
      <p:sp>
        <p:nvSpPr>
          <p:cNvPr id="26" name="Text 24"/>
          <p:cNvSpPr/>
          <p:nvPr/>
        </p:nvSpPr>
        <p:spPr>
          <a:xfrm>
            <a:off x="6464808" y="2724912"/>
            <a:ext cx="484632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$env:SPEECH_PROVIDER="fake"</a:t>
            </a:r>
            <a:endParaRPr lang="zh-CN" sz="1400" dirty="0"/>
          </a:p>
          <a:p>
            <a:pPr marL="0" indent="0" algn="l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$env:GATEWAY_CLIENT_TOKEN="module1-secret"</a:t>
            </a:r>
            <a:endParaRPr lang="zh-CN" sz="1400" dirty="0"/>
          </a:p>
          <a:p>
            <a:pPr marL="0" indent="0" algn="l">
              <a:buNone/>
            </a:pPr>
            <a:r>
              <a:rPr lang="zh-CN" alt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dev:gateway</a:t>
            </a:r>
            <a:endParaRPr lang="zh-CN" sz="1400" dirty="0"/>
          </a:p>
        </p:txBody>
      </p:sp>
      <p:sp>
        <p:nvSpPr>
          <p:cNvPr id="27" name="Shape 25"/>
          <p:cNvSpPr/>
          <p:nvPr/>
        </p:nvSpPr>
        <p:spPr>
          <a:xfrm>
            <a:off x="6217920" y="4087368"/>
            <a:ext cx="5358384" cy="1399032"/>
          </a:xfrm>
          <a:prstGeom prst="roundRect">
            <a:avLst>
              <a:gd name="adj" fmla="val 5882"/>
            </a:avLst>
          </a:prstGeom>
          <a:solidFill>
            <a:srgbClr val="112A3B"/>
          </a:solidFill>
          <a:ln w="8890">
            <a:solidFill>
              <a:srgbClr val="112A3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55664" y="4261104"/>
            <a:ext cx="4800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130" b="1" dirty="0">
                <a:solidFill>
                  <a:srgbClr val="41D7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macOS / Linux</a:t>
            </a:r>
            <a:endParaRPr lang="zh-CN" sz="1130" dirty="0"/>
          </a:p>
        </p:txBody>
      </p:sp>
      <p:sp>
        <p:nvSpPr>
          <p:cNvPr id="29" name="Text 27"/>
          <p:cNvSpPr/>
          <p:nvPr/>
        </p:nvSpPr>
        <p:spPr>
          <a:xfrm>
            <a:off x="6464808" y="4572000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zh-CN" altLang="en-US" sz="131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SPEECH_PROVIDER=fake \</a:t>
            </a:r>
            <a:endParaRPr lang="zh-CN" sz="1310" dirty="0"/>
          </a:p>
          <a:p>
            <a:pPr marL="0" indent="0" algn="l">
              <a:buNone/>
            </a:pPr>
            <a:r>
              <a:rPr lang="zh-CN" altLang="en-US" sz="131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GATEWAY_CLIENT_TOKEN=module1-secret \</a:t>
            </a:r>
            <a:endParaRPr lang="zh-CN" sz="1310" dirty="0"/>
          </a:p>
          <a:p>
            <a:pPr marL="0" indent="0" algn="l">
              <a:buNone/>
            </a:pPr>
            <a:r>
              <a:rPr lang="zh-CN" altLang="en-US" sz="131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dev:gateway</a:t>
            </a:r>
            <a:endParaRPr lang="zh-CN" sz="1310" dirty="0"/>
          </a:p>
        </p:txBody>
      </p:sp>
      <p:sp>
        <p:nvSpPr>
          <p:cNvPr id="30" name="Shape 28"/>
          <p:cNvSpPr/>
          <p:nvPr/>
        </p:nvSpPr>
        <p:spPr>
          <a:xfrm>
            <a:off x="6217920" y="5632704"/>
            <a:ext cx="5358384" cy="484632"/>
          </a:xfrm>
          <a:prstGeom prst="roundRect">
            <a:avLst>
              <a:gd name="adj" fmla="val 13208"/>
            </a:avLst>
          </a:prstGeom>
          <a:solidFill>
            <a:srgbClr val="FFF3DC"/>
          </a:solidFill>
          <a:ln w="8890">
            <a:solidFill>
              <a:srgbClr val="FFF3DC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46520" y="5760720"/>
            <a:ext cx="11795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660" b="1" dirty="0">
                <a:solidFill>
                  <a:srgbClr val="B77B2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现场检查</a:t>
            </a:r>
            <a:endParaRPr lang="zh-CN" sz="1660" dirty="0"/>
          </a:p>
        </p:txBody>
      </p:sp>
      <p:sp>
        <p:nvSpPr>
          <p:cNvPr id="32" name="Text 30"/>
          <p:cNvSpPr/>
          <p:nvPr/>
        </p:nvSpPr>
        <p:spPr>
          <a:xfrm>
            <a:off x="7635240" y="5769864"/>
            <a:ext cx="3685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1260" dirty="0">
                <a:solidFill>
                  <a:srgbClr val="182E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 8787 端口；停止后用 Ctrl+C 关闭网关。</a:t>
            </a:r>
            <a:endParaRPr lang="zh-CN" sz="12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4518</Words>
  <Application>Microsoft Office PowerPoint</Application>
  <PresentationFormat>宽屏</PresentationFormat>
  <Paragraphs>533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5" baseType="lpstr">
      <vt:lpstr>Aptos</vt:lpstr>
      <vt:lpstr>等线</vt:lpstr>
      <vt:lpstr>Microsoft YaHei</vt:lpstr>
      <vt:lpstr>Arial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华中科技大学软件学院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实时双语字幕插件｜测试成果汇报</dc:title>
  <dc:subject>软件测试与质量保证实践 · 模块一</dc:subject>
  <dc:creator>白宇、李承远</dc:creator>
  <cp:lastModifiedBy>fish white</cp:lastModifiedBy>
  <cp:revision>5</cp:revision>
  <dcterms:created xsi:type="dcterms:W3CDTF">2026-09-14T18:02:03Z</dcterms:created>
  <dcterms:modified xsi:type="dcterms:W3CDTF">2026-09-15T05:55:28Z</dcterms:modified>
</cp:coreProperties>
</file>